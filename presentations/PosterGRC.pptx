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43891200" cy="43891200"/>
  <p:notesSz cx="7004050" cy="9290050"/>
  <p:defaultTextStyle>
    <a:defPPr>
      <a:defRPr lang="en-US"/>
    </a:defPPr>
    <a:lvl1pPr marL="0" algn="l" defTabSz="4389120" rtl="0" eaLnBrk="1" latinLnBrk="0" hangingPunct="1">
      <a:defRPr sz="8600" kern="1200">
        <a:solidFill>
          <a:schemeClr val="tx1"/>
        </a:solidFill>
        <a:latin typeface="+mn-lt"/>
        <a:ea typeface="+mn-ea"/>
        <a:cs typeface="+mn-cs"/>
      </a:defRPr>
    </a:lvl1pPr>
    <a:lvl2pPr marL="2194560" algn="l" defTabSz="4389120" rtl="0" eaLnBrk="1" latinLnBrk="0" hangingPunct="1">
      <a:defRPr sz="8600" kern="1200">
        <a:solidFill>
          <a:schemeClr val="tx1"/>
        </a:solidFill>
        <a:latin typeface="+mn-lt"/>
        <a:ea typeface="+mn-ea"/>
        <a:cs typeface="+mn-cs"/>
      </a:defRPr>
    </a:lvl2pPr>
    <a:lvl3pPr marL="4389120" algn="l" defTabSz="4389120" rtl="0" eaLnBrk="1" latinLnBrk="0" hangingPunct="1">
      <a:defRPr sz="8600" kern="1200">
        <a:solidFill>
          <a:schemeClr val="tx1"/>
        </a:solidFill>
        <a:latin typeface="+mn-lt"/>
        <a:ea typeface="+mn-ea"/>
        <a:cs typeface="+mn-cs"/>
      </a:defRPr>
    </a:lvl3pPr>
    <a:lvl4pPr marL="6583680" algn="l" defTabSz="4389120" rtl="0" eaLnBrk="1" latinLnBrk="0" hangingPunct="1">
      <a:defRPr sz="8600" kern="1200">
        <a:solidFill>
          <a:schemeClr val="tx1"/>
        </a:solidFill>
        <a:latin typeface="+mn-lt"/>
        <a:ea typeface="+mn-ea"/>
        <a:cs typeface="+mn-cs"/>
      </a:defRPr>
    </a:lvl4pPr>
    <a:lvl5pPr marL="8778240" algn="l" defTabSz="4389120" rtl="0" eaLnBrk="1" latinLnBrk="0" hangingPunct="1">
      <a:defRPr sz="8600" kern="1200">
        <a:solidFill>
          <a:schemeClr val="tx1"/>
        </a:solidFill>
        <a:latin typeface="+mn-lt"/>
        <a:ea typeface="+mn-ea"/>
        <a:cs typeface="+mn-cs"/>
      </a:defRPr>
    </a:lvl5pPr>
    <a:lvl6pPr marL="10972800" algn="l" defTabSz="4389120" rtl="0" eaLnBrk="1" latinLnBrk="0" hangingPunct="1">
      <a:defRPr sz="8600" kern="1200">
        <a:solidFill>
          <a:schemeClr val="tx1"/>
        </a:solidFill>
        <a:latin typeface="+mn-lt"/>
        <a:ea typeface="+mn-ea"/>
        <a:cs typeface="+mn-cs"/>
      </a:defRPr>
    </a:lvl6pPr>
    <a:lvl7pPr marL="13167360" algn="l" defTabSz="4389120" rtl="0" eaLnBrk="1" latinLnBrk="0" hangingPunct="1">
      <a:defRPr sz="8600" kern="1200">
        <a:solidFill>
          <a:schemeClr val="tx1"/>
        </a:solidFill>
        <a:latin typeface="+mn-lt"/>
        <a:ea typeface="+mn-ea"/>
        <a:cs typeface="+mn-cs"/>
      </a:defRPr>
    </a:lvl7pPr>
    <a:lvl8pPr marL="15361920" algn="l" defTabSz="4389120" rtl="0" eaLnBrk="1" latinLnBrk="0" hangingPunct="1">
      <a:defRPr sz="8600" kern="1200">
        <a:solidFill>
          <a:schemeClr val="tx1"/>
        </a:solidFill>
        <a:latin typeface="+mn-lt"/>
        <a:ea typeface="+mn-ea"/>
        <a:cs typeface="+mn-cs"/>
      </a:defRPr>
    </a:lvl8pPr>
    <a:lvl9pPr marL="17556480" algn="l" defTabSz="4389120" rtl="0" eaLnBrk="1" latinLnBrk="0" hangingPunct="1">
      <a:defRPr sz="86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824">
          <p15:clr>
            <a:srgbClr val="A4A3A4"/>
          </p15:clr>
        </p15:guide>
        <p15:guide id="2" pos="13824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F7F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5622" autoAdjust="0"/>
    <p:restoredTop sz="94676" autoAdjust="0"/>
  </p:normalViewPr>
  <p:slideViewPr>
    <p:cSldViewPr>
      <p:cViewPr>
        <p:scale>
          <a:sx n="30" d="100"/>
          <a:sy n="30" d="100"/>
        </p:scale>
        <p:origin x="464" y="-496"/>
      </p:cViewPr>
      <p:guideLst>
        <p:guide orient="horz" pos="13824"/>
        <p:guide pos="13824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 userDrawn="1"/>
        </p:nvSpPr>
        <p:spPr>
          <a:xfrm>
            <a:off x="42976800" y="0"/>
            <a:ext cx="914400" cy="438912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/>
          <p:cNvSpPr/>
          <p:nvPr userDrawn="1"/>
        </p:nvSpPr>
        <p:spPr>
          <a:xfrm>
            <a:off x="0" y="0"/>
            <a:ext cx="914400" cy="438912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/>
          <p:cNvSpPr/>
          <p:nvPr userDrawn="1"/>
        </p:nvSpPr>
        <p:spPr>
          <a:xfrm>
            <a:off x="0" y="0"/>
            <a:ext cx="43891200" cy="54864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/>
          <p:cNvSpPr/>
          <p:nvPr userDrawn="1"/>
        </p:nvSpPr>
        <p:spPr>
          <a:xfrm>
            <a:off x="0" y="38404800"/>
            <a:ext cx="43891200" cy="54864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Instructions"/>
          <p:cNvSpPr/>
          <p:nvPr userDrawn="1"/>
        </p:nvSpPr>
        <p:spPr>
          <a:xfrm>
            <a:off x="-13716000" y="0"/>
            <a:ext cx="12801600" cy="438912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28600" tIns="228600" rIns="228600" bIns="228600" rtlCol="0" anchor="t"/>
          <a:lstStyle>
            <a:defPPr>
              <a:defRPr lang="en-US"/>
            </a:defPPr>
            <a:lvl1pPr marL="0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1843430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3686861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5530291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7373722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9217152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11060582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12904013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14747443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spcBef>
                <a:spcPts val="0"/>
              </a:spcBef>
              <a:spcAft>
                <a:spcPts val="2400"/>
              </a:spcAft>
            </a:pPr>
            <a:r>
              <a:rPr lang="en-US" sz="96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Poster Print Size:</a:t>
            </a:r>
            <a:endParaRPr sz="9600" dirty="0">
              <a:solidFill>
                <a:srgbClr val="7F7F7F"/>
              </a:solidFill>
              <a:latin typeface="Calibri" pitchFamily="34" charset="0"/>
              <a:cs typeface="Calibri" panose="020F0502020204030204" pitchFamily="34" charset="0"/>
            </a:endParaRPr>
          </a:p>
          <a:p>
            <a:pPr lvl="0">
              <a:spcBef>
                <a:spcPts val="0"/>
              </a:spcBef>
              <a:spcAft>
                <a:spcPts val="2400"/>
              </a:spcAft>
            </a:pPr>
            <a:r>
              <a:rPr lang="en-US" sz="66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This poster template is 48” high by 48” wide. It can be used to print any poster with a 1:1 aspect ratio.</a:t>
            </a:r>
          </a:p>
          <a:p>
            <a:pPr lvl="0">
              <a:spcBef>
                <a:spcPts val="0"/>
              </a:spcBef>
              <a:spcAft>
                <a:spcPts val="2400"/>
              </a:spcAft>
            </a:pPr>
            <a:r>
              <a:rPr lang="en-US" sz="96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Placeholders</a:t>
            </a:r>
            <a:r>
              <a:rPr sz="96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:</a:t>
            </a:r>
          </a:p>
          <a:p>
            <a:pPr lvl="0">
              <a:spcBef>
                <a:spcPts val="0"/>
              </a:spcBef>
              <a:spcAft>
                <a:spcPts val="2400"/>
              </a:spcAft>
            </a:pPr>
            <a:r>
              <a:rPr sz="66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The </a:t>
            </a:r>
            <a:r>
              <a:rPr lang="en-US" sz="66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various elements included</a:t>
            </a:r>
            <a:r>
              <a:rPr sz="66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in this </a:t>
            </a:r>
            <a:r>
              <a:rPr lang="en-US" sz="66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poster are ones</a:t>
            </a:r>
            <a:r>
              <a:rPr lang="en-US" sz="6600" baseline="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we often see in medical, research, and scientific posters.</a:t>
            </a:r>
            <a:r>
              <a:rPr sz="66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</a:t>
            </a:r>
            <a:r>
              <a:rPr lang="en-US" sz="66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Feel</a:t>
            </a:r>
            <a:r>
              <a:rPr lang="en-US" sz="6600" baseline="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free to edit, move,  add, and delete items, or change the layout to suit your needs. Always check with your conference organizer for specific requirements.</a:t>
            </a:r>
          </a:p>
          <a:p>
            <a:pPr lvl="0">
              <a:spcBef>
                <a:spcPts val="0"/>
              </a:spcBef>
              <a:spcAft>
                <a:spcPts val="2400"/>
              </a:spcAft>
            </a:pPr>
            <a:r>
              <a:rPr lang="en-US" sz="96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Image</a:t>
            </a:r>
            <a:r>
              <a:rPr lang="en-US" sz="9600" baseline="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Quality</a:t>
            </a:r>
            <a:r>
              <a:rPr lang="en-US" sz="96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:</a:t>
            </a:r>
          </a:p>
          <a:p>
            <a:pPr lvl="0">
              <a:spcBef>
                <a:spcPts val="0"/>
              </a:spcBef>
              <a:spcAft>
                <a:spcPts val="2400"/>
              </a:spcAft>
            </a:pPr>
            <a:r>
              <a:rPr lang="en-US" sz="66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You can place digital photos or logo art in your poster file by selecting the </a:t>
            </a:r>
            <a:r>
              <a:rPr lang="en-US" sz="6600" b="1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Insert, Picture</a:t>
            </a:r>
            <a:r>
              <a:rPr lang="en-US" sz="66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command, or by using standard copy &amp; paste. For best results, all graphic elements should be at least </a:t>
            </a:r>
            <a:r>
              <a:rPr lang="en-US" sz="6600" b="1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150-200 pixels per inch in their final printed size</a:t>
            </a:r>
            <a:r>
              <a:rPr lang="en-US" sz="66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. For instance, a 1600 x 1200 pixel</a:t>
            </a:r>
            <a:r>
              <a:rPr lang="en-US" sz="6600" baseline="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photo will usually look fine up to </a:t>
            </a:r>
            <a:r>
              <a:rPr lang="en-US" sz="66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8“-10” wide on your printed poster.</a:t>
            </a:r>
          </a:p>
          <a:p>
            <a:pPr lvl="0">
              <a:spcBef>
                <a:spcPts val="0"/>
              </a:spcBef>
              <a:spcAft>
                <a:spcPts val="2400"/>
              </a:spcAft>
            </a:pPr>
            <a:r>
              <a:rPr lang="en-US" sz="66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To preview the print quality of images, select a magnification of 100% when previewing your poster. This will give you a good idea of what it will look like in print. If you are laying out a large poster and using half-scale dimensions, be sure to preview your graphics at 200% to see them at their final printed size.</a:t>
            </a:r>
          </a:p>
          <a:p>
            <a:pPr lvl="0">
              <a:spcBef>
                <a:spcPts val="0"/>
              </a:spcBef>
              <a:spcAft>
                <a:spcPts val="2400"/>
              </a:spcAft>
            </a:pPr>
            <a:r>
              <a:rPr lang="en-US" sz="66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Please note that graphics from websites (such as the logo on your hospital's or university's home page) will only be 72dpi and not suitable for printing.</a:t>
            </a:r>
          </a:p>
          <a:p>
            <a:pPr lvl="0" algn="ctr">
              <a:spcBef>
                <a:spcPts val="0"/>
              </a:spcBef>
              <a:spcAft>
                <a:spcPts val="2400"/>
              </a:spcAft>
            </a:pPr>
            <a:br>
              <a:rPr lang="en-US" sz="48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</a:br>
            <a:r>
              <a:rPr lang="en-US" sz="48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[This sidebar area does not print.]</a:t>
            </a:r>
          </a:p>
        </p:txBody>
      </p:sp>
      <p:grpSp>
        <p:nvGrpSpPr>
          <p:cNvPr id="20" name="Group 19"/>
          <p:cNvGrpSpPr/>
          <p:nvPr userDrawn="1"/>
        </p:nvGrpSpPr>
        <p:grpSpPr>
          <a:xfrm>
            <a:off x="44805600" y="0"/>
            <a:ext cx="12801600" cy="43891200"/>
            <a:chOff x="33832800" y="0"/>
            <a:chExt cx="12801600" cy="43891200"/>
          </a:xfrm>
        </p:grpSpPr>
        <p:sp>
          <p:nvSpPr>
            <p:cNvPr id="21" name="Instructions"/>
            <p:cNvSpPr/>
            <p:nvPr userDrawn="1"/>
          </p:nvSpPr>
          <p:spPr>
            <a:xfrm>
              <a:off x="33832800" y="0"/>
              <a:ext cx="12801600" cy="438912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28600" tIns="228600" rIns="228600" bIns="228600" rtlCol="0" anchor="t"/>
            <a:lstStyle>
              <a:defPPr>
                <a:defRPr lang="en-US"/>
              </a:defPPr>
              <a:lvl1pPr marL="0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1843430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3686861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5530291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7373722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9217152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11060582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12904013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14747443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>
                <a:spcBef>
                  <a:spcPts val="0"/>
                </a:spcBef>
                <a:spcAft>
                  <a:spcPts val="2400"/>
                </a:spcAft>
              </a:pPr>
              <a:r>
                <a:rPr lang="en-US" sz="960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Change</a:t>
              </a:r>
              <a:r>
                <a:rPr lang="en-US" sz="96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 Color Theme</a:t>
              </a:r>
              <a:r>
                <a:rPr lang="en-US" sz="960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:</a:t>
              </a:r>
              <a:endParaRPr sz="960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400"/>
                </a:spcAft>
              </a:pPr>
              <a:r>
                <a:rPr lang="en-US" sz="660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This template is designed to use the built-in color themes in</a:t>
              </a:r>
              <a:r>
                <a:rPr lang="en-US" sz="66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 the newer versions of PowerPoint.</a:t>
              </a:r>
            </a:p>
            <a:p>
              <a:pPr lvl="0">
                <a:spcBef>
                  <a:spcPts val="0"/>
                </a:spcBef>
                <a:spcAft>
                  <a:spcPts val="2400"/>
                </a:spcAft>
              </a:pPr>
              <a:r>
                <a:rPr lang="en-US" sz="66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To change the color theme, select the </a:t>
              </a:r>
              <a:r>
                <a:rPr lang="en-US" sz="6600" b="1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Design</a:t>
              </a:r>
              <a:r>
                <a:rPr lang="en-US" sz="66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 tab, then select the </a:t>
              </a:r>
              <a:r>
                <a:rPr lang="en-US" sz="6600" b="1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Colors</a:t>
              </a:r>
              <a:r>
                <a:rPr lang="en-US" sz="66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 drop-down list.</a:t>
              </a:r>
            </a:p>
            <a:p>
              <a:pPr lvl="0">
                <a:spcBef>
                  <a:spcPts val="0"/>
                </a:spcBef>
                <a:spcAft>
                  <a:spcPts val="2400"/>
                </a:spcAft>
              </a:pPr>
              <a:endParaRPr lang="en-US" sz="66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400"/>
                </a:spcAft>
              </a:pPr>
              <a:endParaRPr lang="en-US" sz="66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400"/>
                </a:spcAft>
              </a:pPr>
              <a:endParaRPr lang="en-US" sz="66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400"/>
                </a:spcAft>
              </a:pPr>
              <a:endParaRPr lang="en-US" sz="66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400"/>
                </a:spcAft>
              </a:pPr>
              <a:endParaRPr lang="en-US" sz="66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400"/>
                </a:spcAft>
              </a:pPr>
              <a:endParaRPr lang="en-US" sz="66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400"/>
                </a:spcAft>
              </a:pPr>
              <a:endParaRPr lang="en-US" sz="66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400"/>
                </a:spcAft>
              </a:pPr>
              <a:endParaRPr lang="en-US" sz="66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400"/>
                </a:spcAft>
              </a:pPr>
              <a:endParaRPr lang="en-US" sz="66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400"/>
                </a:spcAft>
              </a:pPr>
              <a:r>
                <a:rPr lang="en-US" sz="66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The default color theme for this template is “Office”, so you can always return to that after trying some of the alternatives.</a:t>
              </a:r>
            </a:p>
            <a:p>
              <a:pPr lvl="0">
                <a:spcBef>
                  <a:spcPts val="0"/>
                </a:spcBef>
                <a:spcAft>
                  <a:spcPts val="2400"/>
                </a:spcAft>
              </a:pPr>
              <a:r>
                <a:rPr lang="en-US" sz="960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Printing Your Poster:</a:t>
              </a:r>
            </a:p>
            <a:p>
              <a:pPr lvl="0">
                <a:spcBef>
                  <a:spcPts val="0"/>
                </a:spcBef>
                <a:spcAft>
                  <a:spcPts val="2400"/>
                </a:spcAft>
              </a:pPr>
              <a:r>
                <a:rPr lang="en-US" sz="660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Once your poster file is ready, visit</a:t>
              </a:r>
              <a:r>
                <a:rPr lang="en-US" sz="66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 </a:t>
              </a:r>
              <a:r>
                <a:rPr lang="en-US" sz="6600" b="1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www.genigraphics.com</a:t>
              </a:r>
              <a:r>
                <a:rPr lang="en-US" sz="66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 to order a high-quality, affordable poster print. Every order receives a free design review and we can deliver as fast as next business day within the US and Canada. </a:t>
              </a:r>
            </a:p>
            <a:p>
              <a:pPr lvl="0">
                <a:spcBef>
                  <a:spcPts val="0"/>
                </a:spcBef>
                <a:spcAft>
                  <a:spcPts val="2400"/>
                </a:spcAft>
              </a:pPr>
              <a:r>
                <a:rPr lang="en-US" sz="66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Genigraphics® has been producing output from PowerPoint® longer than anyone in the industry; dating back to when we helped Microsoft® design the PowerPoint® software. </a:t>
              </a:r>
            </a:p>
            <a:p>
              <a:pPr lvl="0">
                <a:spcBef>
                  <a:spcPts val="0"/>
                </a:spcBef>
                <a:spcAft>
                  <a:spcPts val="0"/>
                </a:spcAft>
              </a:pPr>
              <a:endParaRPr lang="en-US" sz="66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 algn="ctr">
                <a:spcBef>
                  <a:spcPts val="0"/>
                </a:spcBef>
                <a:spcAft>
                  <a:spcPts val="0"/>
                </a:spcAft>
              </a:pPr>
              <a:r>
                <a:rPr lang="en-US" sz="66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US and Canada:  1-800-790-4001</a:t>
              </a:r>
              <a:br>
                <a:rPr lang="en-US" sz="66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</a:br>
              <a:r>
                <a:rPr lang="en-US" sz="66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Email: info@genigraphics.com</a:t>
              </a:r>
            </a:p>
            <a:p>
              <a:pPr lvl="0" algn="ctr">
                <a:spcBef>
                  <a:spcPts val="0"/>
                </a:spcBef>
                <a:spcAft>
                  <a:spcPts val="0"/>
                </a:spcAft>
              </a:pPr>
              <a:br>
                <a:rPr lang="en-US" sz="480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</a:br>
              <a:r>
                <a:rPr lang="en-US" sz="480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[This sidebar area does not print.]</a:t>
              </a:r>
            </a:p>
          </p:txBody>
        </p:sp>
        <p:pic>
          <p:nvPicPr>
            <p:cNvPr id="22" name="Picture 21"/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4281342" y="9260274"/>
              <a:ext cx="11904515" cy="10246926"/>
            </a:xfrm>
            <a:prstGeom prst="rect">
              <a:avLst/>
            </a:prstGeom>
          </p:spPr>
        </p:pic>
      </p:grpSp>
      <p:pic>
        <p:nvPicPr>
          <p:cNvPr id="2" name="Picture 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04800" y="43586400"/>
            <a:ext cx="5297435" cy="185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29448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D6BDF-9D0E-4E2B-85B8-D8F4790360C9}" type="datetimeFigureOut">
              <a:rPr lang="en-US" smtClean="0"/>
              <a:t>6/3/26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16651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194560" y="1757683"/>
            <a:ext cx="39502080" cy="7315200"/>
          </a:xfrm>
          <a:prstGeom prst="rect">
            <a:avLst/>
          </a:prstGeom>
        </p:spPr>
        <p:txBody>
          <a:bodyPr vert="horz" lIns="438912" tIns="219456" rIns="438912" bIns="219456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94560" y="10241283"/>
            <a:ext cx="39502080" cy="28966163"/>
          </a:xfrm>
          <a:prstGeom prst="rect">
            <a:avLst/>
          </a:prstGeom>
        </p:spPr>
        <p:txBody>
          <a:bodyPr vert="horz" lIns="438912" tIns="219456" rIns="438912" bIns="219456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194560" y="40680643"/>
            <a:ext cx="10241280" cy="2336800"/>
          </a:xfrm>
          <a:prstGeom prst="rect">
            <a:avLst/>
          </a:prstGeom>
        </p:spPr>
        <p:txBody>
          <a:bodyPr vert="horz" lIns="438912" tIns="219456" rIns="438912" bIns="219456" rtlCol="0" anchor="ctr"/>
          <a:lstStyle>
            <a:lvl1pPr algn="l">
              <a:defRPr sz="5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5D6BDF-9D0E-4E2B-85B8-D8F4790360C9}" type="datetimeFigureOut">
              <a:rPr lang="en-US" smtClean="0"/>
              <a:t>6/2/26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996160" y="40680643"/>
            <a:ext cx="13898880" cy="2336800"/>
          </a:xfrm>
          <a:prstGeom prst="rect">
            <a:avLst/>
          </a:prstGeom>
        </p:spPr>
        <p:txBody>
          <a:bodyPr vert="horz" lIns="438912" tIns="219456" rIns="438912" bIns="219456" rtlCol="0" anchor="ctr"/>
          <a:lstStyle>
            <a:lvl1pPr algn="ctr">
              <a:defRPr sz="5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1455360" y="40680643"/>
            <a:ext cx="10241280" cy="2336800"/>
          </a:xfrm>
          <a:prstGeom prst="rect">
            <a:avLst/>
          </a:prstGeom>
        </p:spPr>
        <p:txBody>
          <a:bodyPr vert="horz" lIns="438912" tIns="219456" rIns="438912" bIns="219456" rtlCol="0" anchor="ctr"/>
          <a:lstStyle>
            <a:lvl1pPr algn="r">
              <a:defRPr sz="5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3221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ctr" defTabSz="4389120" rtl="0" eaLnBrk="1" latinLnBrk="0" hangingPunct="1">
        <a:spcBef>
          <a:spcPct val="0"/>
        </a:spcBef>
        <a:buNone/>
        <a:defRPr sz="8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4389120" rtl="0" eaLnBrk="1" latinLnBrk="0" hangingPunct="1">
        <a:spcBef>
          <a:spcPct val="20000"/>
        </a:spcBef>
        <a:buFont typeface="Arial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400" indent="-457200" algn="l" defTabSz="4389120" rtl="0" eaLnBrk="1" latinLnBrk="0" hangingPunct="1">
        <a:spcBef>
          <a:spcPct val="20000"/>
        </a:spcBef>
        <a:buFont typeface="Arial" pitchFamily="34" charset="0"/>
        <a:buChar char="–"/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indent="-457200" algn="l" defTabSz="4389120" rtl="0" eaLnBrk="1" latinLnBrk="0" hangingPunct="1">
        <a:spcBef>
          <a:spcPct val="20000"/>
        </a:spcBef>
        <a:buFont typeface="Arial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800" indent="-457200" algn="l" defTabSz="4389120" rtl="0" eaLnBrk="1" latinLnBrk="0" hangingPunct="1">
        <a:spcBef>
          <a:spcPct val="20000"/>
        </a:spcBef>
        <a:buFont typeface="Arial" pitchFamily="34" charset="0"/>
        <a:buChar char="–"/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2286000" indent="-457200" algn="l" defTabSz="4389120" rtl="0" eaLnBrk="1" latinLnBrk="0" hangingPunct="1">
        <a:spcBef>
          <a:spcPct val="20000"/>
        </a:spcBef>
        <a:buFont typeface="Arial" pitchFamily="34" charset="0"/>
        <a:buChar char="»"/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12070080" indent="-1097280" algn="l" defTabSz="4389120" rtl="0" eaLnBrk="1" latinLnBrk="0" hangingPunct="1">
        <a:spcBef>
          <a:spcPct val="20000"/>
        </a:spcBef>
        <a:buFont typeface="Arial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6pPr>
      <a:lvl7pPr marL="14264640" indent="-1097280" algn="l" defTabSz="4389120" rtl="0" eaLnBrk="1" latinLnBrk="0" hangingPunct="1">
        <a:spcBef>
          <a:spcPct val="20000"/>
        </a:spcBef>
        <a:buFont typeface="Arial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7pPr>
      <a:lvl8pPr marL="16459200" indent="-1097280" algn="l" defTabSz="4389120" rtl="0" eaLnBrk="1" latinLnBrk="0" hangingPunct="1">
        <a:spcBef>
          <a:spcPct val="20000"/>
        </a:spcBef>
        <a:buFont typeface="Arial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8pPr>
      <a:lvl9pPr marL="18653760" indent="-1097280" algn="l" defTabSz="4389120" rtl="0" eaLnBrk="1" latinLnBrk="0" hangingPunct="1">
        <a:spcBef>
          <a:spcPct val="20000"/>
        </a:spcBef>
        <a:buFont typeface="Arial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389120" rtl="0" eaLnBrk="1" latinLnBrk="0" hangingPunct="1">
        <a:defRPr sz="8600" kern="1200">
          <a:solidFill>
            <a:schemeClr val="tx1"/>
          </a:solidFill>
          <a:latin typeface="+mn-lt"/>
          <a:ea typeface="+mn-ea"/>
          <a:cs typeface="+mn-cs"/>
        </a:defRPr>
      </a:lvl1pPr>
      <a:lvl2pPr marL="2194560" algn="l" defTabSz="4389120" rtl="0" eaLnBrk="1" latinLnBrk="0" hangingPunct="1">
        <a:defRPr sz="8600" kern="1200">
          <a:solidFill>
            <a:schemeClr val="tx1"/>
          </a:solidFill>
          <a:latin typeface="+mn-lt"/>
          <a:ea typeface="+mn-ea"/>
          <a:cs typeface="+mn-cs"/>
        </a:defRPr>
      </a:lvl2pPr>
      <a:lvl3pPr marL="4389120" algn="l" defTabSz="4389120" rtl="0" eaLnBrk="1" latinLnBrk="0" hangingPunct="1">
        <a:defRPr sz="8600" kern="1200">
          <a:solidFill>
            <a:schemeClr val="tx1"/>
          </a:solidFill>
          <a:latin typeface="+mn-lt"/>
          <a:ea typeface="+mn-ea"/>
          <a:cs typeface="+mn-cs"/>
        </a:defRPr>
      </a:lvl3pPr>
      <a:lvl4pPr marL="6583680" algn="l" defTabSz="4389120" rtl="0" eaLnBrk="1" latinLnBrk="0" hangingPunct="1">
        <a:defRPr sz="8600" kern="1200">
          <a:solidFill>
            <a:schemeClr val="tx1"/>
          </a:solidFill>
          <a:latin typeface="+mn-lt"/>
          <a:ea typeface="+mn-ea"/>
          <a:cs typeface="+mn-cs"/>
        </a:defRPr>
      </a:lvl4pPr>
      <a:lvl5pPr marL="8778240" algn="l" defTabSz="4389120" rtl="0" eaLnBrk="1" latinLnBrk="0" hangingPunct="1">
        <a:defRPr sz="8600" kern="1200">
          <a:solidFill>
            <a:schemeClr val="tx1"/>
          </a:solidFill>
          <a:latin typeface="+mn-lt"/>
          <a:ea typeface="+mn-ea"/>
          <a:cs typeface="+mn-cs"/>
        </a:defRPr>
      </a:lvl5pPr>
      <a:lvl6pPr marL="10972800" algn="l" defTabSz="4389120" rtl="0" eaLnBrk="1" latinLnBrk="0" hangingPunct="1">
        <a:defRPr sz="8600" kern="1200">
          <a:solidFill>
            <a:schemeClr val="tx1"/>
          </a:solidFill>
          <a:latin typeface="+mn-lt"/>
          <a:ea typeface="+mn-ea"/>
          <a:cs typeface="+mn-cs"/>
        </a:defRPr>
      </a:lvl6pPr>
      <a:lvl7pPr marL="13167360" algn="l" defTabSz="4389120" rtl="0" eaLnBrk="1" latinLnBrk="0" hangingPunct="1">
        <a:defRPr sz="8600" kern="1200">
          <a:solidFill>
            <a:schemeClr val="tx1"/>
          </a:solidFill>
          <a:latin typeface="+mn-lt"/>
          <a:ea typeface="+mn-ea"/>
          <a:cs typeface="+mn-cs"/>
        </a:defRPr>
      </a:lvl7pPr>
      <a:lvl8pPr marL="15361920" algn="l" defTabSz="4389120" rtl="0" eaLnBrk="1" latinLnBrk="0" hangingPunct="1">
        <a:defRPr sz="8600" kern="1200">
          <a:solidFill>
            <a:schemeClr val="tx1"/>
          </a:solidFill>
          <a:latin typeface="+mn-lt"/>
          <a:ea typeface="+mn-ea"/>
          <a:cs typeface="+mn-cs"/>
        </a:defRPr>
      </a:lvl8pPr>
      <a:lvl9pPr marL="17556480" algn="l" defTabSz="4389120" rtl="0" eaLnBrk="1" latinLnBrk="0" hangingPunct="1">
        <a:defRPr sz="8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18" Type="http://schemas.openxmlformats.org/officeDocument/2006/relationships/image" Target="../media/image19.png"/><Relationship Id="rId3" Type="http://schemas.openxmlformats.org/officeDocument/2006/relationships/image" Target="../media/image4.png"/><Relationship Id="rId21" Type="http://schemas.openxmlformats.org/officeDocument/2006/relationships/image" Target="../media/image22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17" Type="http://schemas.openxmlformats.org/officeDocument/2006/relationships/image" Target="../media/image18.png"/><Relationship Id="rId2" Type="http://schemas.openxmlformats.org/officeDocument/2006/relationships/image" Target="../media/image3.png"/><Relationship Id="rId16" Type="http://schemas.openxmlformats.org/officeDocument/2006/relationships/image" Target="../media/image17.png"/><Relationship Id="rId20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5" Type="http://schemas.openxmlformats.org/officeDocument/2006/relationships/image" Target="../media/image16.png"/><Relationship Id="rId10" Type="http://schemas.openxmlformats.org/officeDocument/2006/relationships/image" Target="../media/image11.png"/><Relationship Id="rId19" Type="http://schemas.openxmlformats.org/officeDocument/2006/relationships/image" Target="../media/image20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image" Target="../media/image15.png"/><Relationship Id="rId22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Rounded Rectangle 182">
            <a:extLst>
              <a:ext uri="{FF2B5EF4-FFF2-40B4-BE49-F238E27FC236}">
                <a16:creationId xmlns:a16="http://schemas.microsoft.com/office/drawing/2014/main" id="{8E639EF6-5907-A8D2-9134-764185398932}"/>
              </a:ext>
            </a:extLst>
          </p:cNvPr>
          <p:cNvSpPr/>
          <p:nvPr/>
        </p:nvSpPr>
        <p:spPr>
          <a:xfrm>
            <a:off x="22555200" y="16515516"/>
            <a:ext cx="5723527" cy="3156257"/>
          </a:xfrm>
          <a:prstGeom prst="roundRect">
            <a:avLst/>
          </a:prstGeom>
          <a:solidFill>
            <a:srgbClr val="F5F8FC"/>
          </a:solidFill>
          <a:ln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sz="4800" b="1" dirty="0">
              <a:solidFill>
                <a:schemeClr val="tx1"/>
              </a:solidFill>
            </a:endParaRPr>
          </a:p>
          <a:p>
            <a:endParaRPr lang="en-US" sz="4800" b="1" i="1" dirty="0">
              <a:solidFill>
                <a:srgbClr val="002060"/>
              </a:solidFill>
            </a:endParaRPr>
          </a:p>
          <a:p>
            <a:endParaRPr lang="en-US" sz="4800" b="1" i="1" dirty="0">
              <a:solidFill>
                <a:srgbClr val="002060"/>
              </a:solidFill>
            </a:endParaRPr>
          </a:p>
          <a:p>
            <a:endParaRPr lang="en-US" sz="4800" b="1" i="1" dirty="0">
              <a:solidFill>
                <a:srgbClr val="002060"/>
              </a:solidFill>
            </a:endParaRPr>
          </a:p>
          <a:p>
            <a:endParaRPr lang="en-US" sz="4800" b="1" i="1" dirty="0">
              <a:solidFill>
                <a:srgbClr val="0070C0"/>
              </a:solidFill>
            </a:endParaRPr>
          </a:p>
        </p:txBody>
      </p:sp>
      <p:sp>
        <p:nvSpPr>
          <p:cNvPr id="4" name="Text Box 122"/>
          <p:cNvSpPr txBox="1">
            <a:spLocks noChangeArrowheads="1"/>
          </p:cNvSpPr>
          <p:nvPr/>
        </p:nvSpPr>
        <p:spPr bwMode="auto">
          <a:xfrm>
            <a:off x="7315200" y="0"/>
            <a:ext cx="29260800" cy="36317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82880" tIns="457200" rIns="182880" bIns="457200" anchor="ctr" anchorCtr="0">
            <a:spAutoFit/>
          </a:bodyPr>
          <a:lstStyle>
            <a:lvl1pPr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 eaLnBrk="1" hangingPunct="1"/>
            <a:r>
              <a:rPr lang="en-US" sz="8800" b="1" dirty="0">
                <a:solidFill>
                  <a:schemeClr val="accent3">
                    <a:lumMod val="20000"/>
                    <a:lumOff val="80000"/>
                  </a:schemeClr>
                </a:solidFill>
                <a:latin typeface="+mn-lt"/>
              </a:rPr>
              <a:t>How Friction Shapes Force Chains in Granular Piles: </a:t>
            </a:r>
          </a:p>
          <a:p>
            <a:pPr algn="ctr" eaLnBrk="1" hangingPunct="1"/>
            <a:r>
              <a:rPr lang="en-US" sz="8800" b="1" dirty="0">
                <a:solidFill>
                  <a:schemeClr val="accent3">
                    <a:lumMod val="20000"/>
                    <a:lumOff val="80000"/>
                  </a:schemeClr>
                </a:solidFill>
                <a:latin typeface="+mn-lt"/>
              </a:rPr>
              <a:t>A Network Approach</a:t>
            </a:r>
          </a:p>
        </p:txBody>
      </p:sp>
      <p:sp>
        <p:nvSpPr>
          <p:cNvPr id="5" name="Text Box 123"/>
          <p:cNvSpPr txBox="1">
            <a:spLocks noChangeArrowheads="1"/>
          </p:cNvSpPr>
          <p:nvPr/>
        </p:nvSpPr>
        <p:spPr bwMode="auto">
          <a:xfrm>
            <a:off x="7315200" y="2870536"/>
            <a:ext cx="29260800" cy="2286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82880" tIns="182880" rIns="182880" bIns="182880" anchor="ctr" anchorCtr="0"/>
          <a:lstStyle>
            <a:lvl1pPr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 eaLnBrk="1" hangingPunct="1"/>
            <a:r>
              <a:rPr lang="en-US" sz="4800" dirty="0">
                <a:solidFill>
                  <a:schemeClr val="accent3">
                    <a:lumMod val="20000"/>
                    <a:lumOff val="80000"/>
                  </a:schemeClr>
                </a:solidFill>
                <a:latin typeface="+mn-lt"/>
              </a:rPr>
              <a:t>Tatiana Flanagan &amp; Leonardo Silbert</a:t>
            </a:r>
            <a:endParaRPr lang="en-US" sz="4800" baseline="30000" dirty="0">
              <a:solidFill>
                <a:schemeClr val="accent3">
                  <a:lumMod val="20000"/>
                  <a:lumOff val="80000"/>
                </a:schemeClr>
              </a:solidFill>
              <a:latin typeface="+mn-lt"/>
            </a:endParaRPr>
          </a:p>
          <a:p>
            <a:pPr algn="ctr" eaLnBrk="1" hangingPunct="1"/>
            <a:r>
              <a:rPr lang="en-US" sz="4800" dirty="0">
                <a:solidFill>
                  <a:schemeClr val="accent3">
                    <a:lumMod val="20000"/>
                    <a:lumOff val="80000"/>
                  </a:schemeClr>
                </a:solidFill>
                <a:latin typeface="+mn-lt"/>
              </a:rPr>
              <a:t>Central New Mexico Community Collage    School of Math, Science, and Engineering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798" y="39852600"/>
            <a:ext cx="11060720" cy="30469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0070C0"/>
                </a:solidFill>
              </a:rPr>
              <a:t>Dan </a:t>
            </a:r>
            <a:r>
              <a:rPr lang="en-US" sz="2400" dirty="0" err="1">
                <a:solidFill>
                  <a:srgbClr val="0070C0"/>
                </a:solidFill>
              </a:rPr>
              <a:t>Bolintineanu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00B0F0"/>
                </a:solidFill>
              </a:rPr>
              <a:t>Joel Clemmer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0070C0"/>
                </a:solidFill>
              </a:rPr>
              <a:t>Gary </a:t>
            </a:r>
            <a:r>
              <a:rPr lang="en-US" sz="2400" dirty="0" err="1">
                <a:solidFill>
                  <a:srgbClr val="0070C0"/>
                </a:solidFill>
              </a:rPr>
              <a:t>Grest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00B0F0"/>
                </a:solidFill>
              </a:rPr>
              <a:t>Jeremy Lechman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0070C0"/>
                </a:solidFill>
              </a:rPr>
              <a:t>Joe </a:t>
            </a:r>
            <a:r>
              <a:rPr lang="en-US" sz="2400" dirty="0">
                <a:solidFill>
                  <a:srgbClr val="0070C0"/>
                </a:solidFill>
                <a:cs typeface="Calibri" panose="020F0502020204030204" pitchFamily="34" charset="0"/>
              </a:rPr>
              <a:t>Monti</a:t>
            </a:r>
            <a:r>
              <a:rPr lang="en-US" sz="2400" dirty="0">
                <a:cs typeface="Calibri" panose="020F0502020204030204" pitchFamily="34" charset="0"/>
              </a:rPr>
              <a:t>, </a:t>
            </a:r>
            <a:r>
              <a:rPr lang="en-US" sz="2400" dirty="0">
                <a:solidFill>
                  <a:srgbClr val="00B0F0"/>
                </a:solidFill>
                <a:cs typeface="Calibri" panose="020F0502020204030204" pitchFamily="34" charset="0"/>
              </a:rPr>
              <a:t>Scott Roberts</a:t>
            </a:r>
            <a:endParaRPr lang="en-US" sz="2400" baseline="30000" dirty="0">
              <a:solidFill>
                <a:srgbClr val="00B0F0"/>
              </a:solidFill>
              <a:cs typeface="Calibri" panose="020F0502020204030204" pitchFamily="34" charset="0"/>
            </a:endParaRPr>
          </a:p>
          <a:p>
            <a:r>
              <a:rPr lang="en-US" sz="2400" dirty="0">
                <a:cs typeface="Times"/>
              </a:rPr>
              <a:t>Sandia National Laboratories</a:t>
            </a:r>
          </a:p>
          <a:p>
            <a:r>
              <a:rPr lang="en-US" sz="2400" dirty="0">
                <a:solidFill>
                  <a:srgbClr val="2A5AFF"/>
                </a:solidFill>
                <a:cs typeface="Times"/>
              </a:rPr>
              <a:t>Andrew Santos</a:t>
            </a:r>
          </a:p>
          <a:p>
            <a:r>
              <a:rPr lang="en-US" sz="2400" dirty="0">
                <a:cs typeface="Times"/>
              </a:rPr>
              <a:t>NASA</a:t>
            </a:r>
          </a:p>
          <a:p>
            <a:r>
              <a:rPr lang="en-US" sz="2400" dirty="0">
                <a:solidFill>
                  <a:srgbClr val="2A5AFF"/>
                </a:solidFill>
              </a:rPr>
              <a:t>Ishan Srivastava </a:t>
            </a:r>
          </a:p>
          <a:p>
            <a:r>
              <a:rPr lang="en-US" sz="2400" dirty="0"/>
              <a:t>Lawrence Berkeley National Laboratory</a:t>
            </a:r>
            <a:endParaRPr lang="en-US" sz="2400" dirty="0">
              <a:cs typeface="Times"/>
            </a:endParaRPr>
          </a:p>
          <a:p>
            <a:r>
              <a:rPr lang="en-US" sz="2400" dirty="0">
                <a:solidFill>
                  <a:srgbClr val="2A5AFF"/>
                </a:solidFill>
                <a:cs typeface="Times"/>
              </a:rPr>
              <a:t>Mike Salerno</a:t>
            </a:r>
          </a:p>
          <a:p>
            <a:r>
              <a:rPr lang="en-US" sz="2400" dirty="0">
                <a:cs typeface="Times"/>
              </a:rPr>
              <a:t>Johns Hopkins APL</a:t>
            </a:r>
            <a:endParaRPr lang="en-US" sz="2400" dirty="0"/>
          </a:p>
        </p:txBody>
      </p:sp>
      <p:sp>
        <p:nvSpPr>
          <p:cNvPr id="25" name="TextBox 24"/>
          <p:cNvSpPr txBox="1"/>
          <p:nvPr/>
        </p:nvSpPr>
        <p:spPr>
          <a:xfrm>
            <a:off x="1828801" y="38862001"/>
            <a:ext cx="646920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b="1" dirty="0"/>
              <a:t>Acknowledgements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666721" y="39997708"/>
            <a:ext cx="25831800" cy="2926080"/>
          </a:xfrm>
          <a:prstGeom prst="rect">
            <a:avLst/>
          </a:prstGeom>
          <a:noFill/>
        </p:spPr>
        <p:txBody>
          <a:bodyPr wrap="square" tIns="91440" bIns="91440" numCol="1" spcCol="457200" rtlCol="0">
            <a:no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400" dirty="0"/>
              <a:t>Brandes, Ulrik. "A faster algorithm for betweenness centrality." Journal of mathematical sociology 25.2 (2001): 163-177.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Killick, Rebecca, et al. "Optimal detection of changepoints with a linear computational cost." Journal of the American Statistical Association 107.500 (2012): 1590-1598.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Peters, J. F., et al. "Characterization of force chains in granular material." Physical Review E—Statistical, Nonlinear, and Soft Matter Physics 72.4 (2005): 041307.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Santos, Andrew, et al. "Granular packings with sliding, rolling, and twisting friction." Physical Review E 102.3 (2020): 032903.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Tordesillas, Antoinette, et al. "Force cycles and force chains." Physical Review E—Statistical, Nonlinear, and Soft Matter Physics 81.1 (2010): 011302.</a:t>
            </a:r>
          </a:p>
          <a:p>
            <a:r>
              <a:rPr lang="en-US" sz="2400" dirty="0"/>
              <a:t>  </a:t>
            </a:r>
          </a:p>
          <a:p>
            <a:pPr marL="457200" indent="-45720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27" name="TextBox 26"/>
          <p:cNvSpPr txBox="1"/>
          <p:nvPr/>
        </p:nvSpPr>
        <p:spPr>
          <a:xfrm>
            <a:off x="15666720" y="38862001"/>
            <a:ext cx="368979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b="1" dirty="0"/>
              <a:t>References</a:t>
            </a:r>
          </a:p>
        </p:txBody>
      </p:sp>
      <p:sp>
        <p:nvSpPr>
          <p:cNvPr id="10" name="Text Box 189"/>
          <p:cNvSpPr txBox="1">
            <a:spLocks noChangeArrowheads="1"/>
          </p:cNvSpPr>
          <p:nvPr/>
        </p:nvSpPr>
        <p:spPr bwMode="auto">
          <a:xfrm>
            <a:off x="1828800" y="7315200"/>
            <a:ext cx="12801600" cy="6755888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>
                <a:lumMod val="75000"/>
              </a:schemeClr>
            </a:solidFill>
          </a:ln>
          <a:effectLst/>
        </p:spPr>
        <p:txBody>
          <a:bodyPr lIns="182880" tIns="182880" rIns="182880" bIns="182880">
            <a:spAutoFit/>
          </a:bodyPr>
          <a:lstStyle>
            <a:lvl1pPr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 marL="27726" marR="11091">
              <a:lnSpc>
                <a:spcPct val="111400"/>
              </a:lnSpc>
              <a:spcBef>
                <a:spcPts val="721"/>
              </a:spcBef>
            </a:pPr>
            <a:r>
              <a:rPr lang="en-US" sz="3600" dirty="0">
                <a:solidFill>
                  <a:srgbClr val="231F20"/>
                </a:solidFill>
                <a:latin typeface="+mn-lt"/>
                <a:cs typeface="Arial"/>
              </a:rPr>
              <a:t>Granular packings of grains represent a class of complex systems as the self-organization between the constituent particles develops to maintain pile stability. How the grains organize within the pile depends on many factors, such as particle shape, particle softness, and particle smoothness. </a:t>
            </a:r>
          </a:p>
          <a:p>
            <a:pPr marL="27726" marR="11091">
              <a:lnSpc>
                <a:spcPct val="111400"/>
              </a:lnSpc>
              <a:spcBef>
                <a:spcPts val="721"/>
              </a:spcBef>
            </a:pPr>
            <a:r>
              <a:rPr lang="en-US" sz="3600" dirty="0">
                <a:solidFill>
                  <a:srgbClr val="231F20"/>
                </a:solidFill>
                <a:latin typeface="+mn-lt"/>
                <a:cs typeface="Arial"/>
              </a:rPr>
              <a:t>Here, we focus on the role of particle friction for hard spherical beads poured under gravity using DEM computer simulations. </a:t>
            </a:r>
          </a:p>
          <a:p>
            <a:pPr marL="27726" marR="11091">
              <a:lnSpc>
                <a:spcPct val="111400"/>
              </a:lnSpc>
              <a:spcBef>
                <a:spcPts val="721"/>
              </a:spcBef>
            </a:pPr>
            <a:endParaRPr lang="en-US" sz="3600" dirty="0">
              <a:solidFill>
                <a:srgbClr val="231F20"/>
              </a:solidFill>
              <a:latin typeface="+mn-lt"/>
              <a:cs typeface="Arial"/>
            </a:endParaRPr>
          </a:p>
          <a:p>
            <a:pPr marL="27726" marR="11091">
              <a:lnSpc>
                <a:spcPct val="111400"/>
              </a:lnSpc>
              <a:spcBef>
                <a:spcPts val="721"/>
              </a:spcBef>
            </a:pPr>
            <a:r>
              <a:rPr lang="en-US" sz="3600" b="1" dirty="0">
                <a:solidFill>
                  <a:srgbClr val="231F20"/>
                </a:solidFill>
                <a:latin typeface="+mn-lt"/>
                <a:cs typeface="Arial"/>
              </a:rPr>
              <a:t>We analyze how static pile shape evolves with friction and how force-bearing structures -force chains- develop support.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28800" y="6400800"/>
            <a:ext cx="12801600" cy="914400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b="1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Background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828798" y="14099360"/>
            <a:ext cx="12801600" cy="914400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b="1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LAMMPS Simulation</a:t>
            </a:r>
          </a:p>
        </p:txBody>
      </p:sp>
      <p:sp>
        <p:nvSpPr>
          <p:cNvPr id="13" name="Text Box 192"/>
          <p:cNvSpPr txBox="1">
            <a:spLocks noChangeArrowheads="1"/>
          </p:cNvSpPr>
          <p:nvPr/>
        </p:nvSpPr>
        <p:spPr bwMode="auto">
          <a:xfrm>
            <a:off x="15621000" y="10820400"/>
            <a:ext cx="6858000" cy="2585323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>
                <a:lumMod val="75000"/>
              </a:schemeClr>
            </a:solidFill>
          </a:ln>
          <a:effectLst/>
        </p:spPr>
        <p:txBody>
          <a:bodyPr wrap="square" lIns="182880" tIns="182880" rIns="182880" bIns="182880">
            <a:spAutoFit/>
          </a:bodyPr>
          <a:lstStyle>
            <a:lvl1pPr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 marL="571500" indent="-571500" eaLnBrk="1" hangingPunct="1">
              <a:buFont typeface="Arial" panose="020B0604020202020204" pitchFamily="34" charset="0"/>
              <a:buChar char="•"/>
            </a:pPr>
            <a:r>
              <a:rPr lang="en-US" sz="3600" dirty="0">
                <a:latin typeface="Calibri" pitchFamily="34" charset="0"/>
              </a:rPr>
              <a:t>Granular contacts represented as an undirected graph G=(V,E).  </a:t>
            </a:r>
          </a:p>
          <a:p>
            <a:pPr marL="571500" indent="-571500" eaLnBrk="1" hangingPunct="1">
              <a:buFont typeface="Arial" panose="020B0604020202020204" pitchFamily="34" charset="0"/>
              <a:buChar char="•"/>
            </a:pPr>
            <a:endParaRPr lang="en-US" sz="3600" b="1" i="1" baseline="-25000" dirty="0">
              <a:latin typeface="Calibri" pitchFamily="34" charset="0"/>
            </a:endParaRPr>
          </a:p>
          <a:p>
            <a:pPr marL="571500" indent="-571500" eaLnBrk="1" hangingPunct="1">
              <a:buFont typeface="Arial" panose="020B0604020202020204" pitchFamily="34" charset="0"/>
              <a:buChar char="•"/>
            </a:pPr>
            <a:endParaRPr lang="en-US" sz="3600" b="1" i="1" baseline="-25000" dirty="0">
              <a:latin typeface="Calibri" pitchFamily="34" charset="0"/>
            </a:endParaRPr>
          </a:p>
          <a:p>
            <a:pPr marL="571500" indent="-571500" eaLnBrk="1" hangingPunct="1">
              <a:buFont typeface="Arial" panose="020B0604020202020204" pitchFamily="34" charset="0"/>
              <a:buChar char="•"/>
            </a:pPr>
            <a:endParaRPr lang="en-US" sz="3600" i="1" baseline="-25000" dirty="0">
              <a:latin typeface="Calibri" pitchFamily="34" charset="0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15544800" y="6400800"/>
            <a:ext cx="12801600" cy="914400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b="1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Methods </a:t>
            </a:r>
          </a:p>
        </p:txBody>
      </p:sp>
      <p:sp>
        <p:nvSpPr>
          <p:cNvPr id="12" name="Text Box 191"/>
          <p:cNvSpPr txBox="1">
            <a:spLocks noChangeArrowheads="1"/>
          </p:cNvSpPr>
          <p:nvPr/>
        </p:nvSpPr>
        <p:spPr bwMode="auto">
          <a:xfrm>
            <a:off x="29277045" y="7440230"/>
            <a:ext cx="12801600" cy="3693319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>
                <a:lumMod val="75000"/>
              </a:schemeClr>
            </a:solidFill>
          </a:ln>
          <a:effectLst/>
        </p:spPr>
        <p:txBody>
          <a:bodyPr lIns="182880" tIns="182880" rIns="182880" bIns="182880">
            <a:spAutoFit/>
          </a:bodyPr>
          <a:lstStyle>
            <a:lvl1pPr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 marL="571500" indent="-571500" eaLnBrk="1" hangingPunct="1"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prstClr val="black"/>
                </a:solidFill>
                <a:latin typeface="Calibri" pitchFamily="34" charset="0"/>
              </a:rPr>
              <a:t>Larger friction coefficients generate larger local bend angles in force chains, more tortuous chains.</a:t>
            </a:r>
          </a:p>
          <a:p>
            <a:pPr marL="457200" indent="-457200" eaLnBrk="1" hangingPunct="1"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prstClr val="black"/>
                </a:solidFill>
                <a:latin typeface="Calibri" pitchFamily="34" charset="0"/>
              </a:rPr>
              <a:t>Larger friction coefficients push force chains up and towards the edges of the pile at the bottom and middle (</a:t>
            </a:r>
            <a:r>
              <a:rPr lang="en-US" sz="3600" i="1" dirty="0" err="1">
                <a:solidFill>
                  <a:prstClr val="black"/>
                </a:solidFill>
                <a:latin typeface="Calibri" pitchFamily="34" charset="0"/>
              </a:rPr>
              <a:t>r</a:t>
            </a:r>
            <a:r>
              <a:rPr lang="en-US" sz="3600" i="1" baseline="-25000" dirty="0" err="1">
                <a:solidFill>
                  <a:prstClr val="black"/>
                </a:solidFill>
                <a:latin typeface="Calibri" pitchFamily="34" charset="0"/>
              </a:rPr>
              <a:t>anchor</a:t>
            </a:r>
            <a:r>
              <a:rPr lang="en-US" sz="3600" i="1" dirty="0">
                <a:solidFill>
                  <a:prstClr val="black"/>
                </a:solidFill>
                <a:latin typeface="Calibri" pitchFamily="34" charset="0"/>
              </a:rPr>
              <a:t>, </a:t>
            </a:r>
            <a:r>
              <a:rPr lang="en-US" sz="3600" i="1" dirty="0" err="1">
                <a:solidFill>
                  <a:prstClr val="black"/>
                </a:solidFill>
                <a:latin typeface="Calibri" pitchFamily="34" charset="0"/>
              </a:rPr>
              <a:t>r</a:t>
            </a:r>
            <a:r>
              <a:rPr lang="en-US" sz="3600" i="1" baseline="-25000" dirty="0" err="1">
                <a:solidFill>
                  <a:prstClr val="black"/>
                </a:solidFill>
                <a:latin typeface="Calibri" pitchFamily="34" charset="0"/>
              </a:rPr>
              <a:t>mid</a:t>
            </a:r>
            <a:r>
              <a:rPr lang="en-US" sz="3600" dirty="0">
                <a:solidFill>
                  <a:prstClr val="black"/>
                </a:solidFill>
                <a:latin typeface="Calibri" pitchFamily="34" charset="0"/>
              </a:rPr>
              <a:t>) of the chains. Chains remain anchored at the top (</a:t>
            </a:r>
            <a:r>
              <a:rPr lang="en-US" sz="3600" i="1" dirty="0" err="1">
                <a:solidFill>
                  <a:prstClr val="black"/>
                </a:solidFill>
                <a:latin typeface="Calibri" pitchFamily="34" charset="0"/>
              </a:rPr>
              <a:t>r</a:t>
            </a:r>
            <a:r>
              <a:rPr lang="en-US" sz="3600" i="1" baseline="-25000" dirty="0" err="1">
                <a:solidFill>
                  <a:prstClr val="black"/>
                </a:solidFill>
                <a:latin typeface="Calibri" pitchFamily="34" charset="0"/>
              </a:rPr>
              <a:t>tip</a:t>
            </a:r>
            <a:r>
              <a:rPr lang="en-US" sz="3600" dirty="0">
                <a:solidFill>
                  <a:prstClr val="black"/>
                </a:solidFill>
                <a:latin typeface="Calibri" pitchFamily="34" charset="0"/>
              </a:rPr>
              <a:t>).</a:t>
            </a:r>
          </a:p>
          <a:p>
            <a:pPr marL="457200" indent="-457200" eaLnBrk="1" hangingPunct="1"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prstClr val="black"/>
                </a:solidFill>
                <a:latin typeface="Calibri" pitchFamily="34" charset="0"/>
              </a:rPr>
              <a:t>Chain count decreases, suggesting more connectivity.</a:t>
            </a:r>
          </a:p>
        </p:txBody>
      </p:sp>
      <p:sp>
        <p:nvSpPr>
          <p:cNvPr id="14" name="Text Box 193"/>
          <p:cNvSpPr txBox="1">
            <a:spLocks noChangeArrowheads="1"/>
          </p:cNvSpPr>
          <p:nvPr/>
        </p:nvSpPr>
        <p:spPr bwMode="auto">
          <a:xfrm>
            <a:off x="29420421" y="29779813"/>
            <a:ext cx="12801600" cy="8402483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>
                <a:lumMod val="75000"/>
              </a:schemeClr>
            </a:solidFill>
          </a:ln>
          <a:effectLst/>
        </p:spPr>
        <p:txBody>
          <a:bodyPr lIns="182880" tIns="182880" rIns="182880" bIns="182880">
            <a:noAutofit/>
          </a:bodyPr>
          <a:lstStyle>
            <a:lvl1pPr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sz="3600" dirty="0">
                <a:latin typeface="+mn-lt"/>
              </a:rPr>
              <a:t>Mapping LAMMPS contact data onto an edge-betweenness graph network, we identify preferred transmission routes and transport-important contacts. We demonstrate that extended friction modes stabilize taller, steeper granular piles by reconfiguring the geometry of the stress transport backbone. </a:t>
            </a:r>
          </a:p>
          <a:p>
            <a:pPr eaLnBrk="1" hangingPunct="1"/>
            <a:r>
              <a:rPr lang="en-US" sz="3600" dirty="0">
                <a:latin typeface="+mn-lt"/>
              </a:rPr>
              <a:t>Increasing rolling and twisting friction changes the contact-network texture, producing force chains that are more tortuous, more angled, and spatially distributed, expanding radially outward at the pile base, while remaining anchored at the apex. The load-bearing pathways become less centrally concentrated, and geometrically more complex.</a:t>
            </a:r>
          </a:p>
          <a:p>
            <a:pPr eaLnBrk="1" hangingPunct="1"/>
            <a:r>
              <a:rPr lang="en-US" sz="3600" dirty="0">
                <a:latin typeface="+mn-lt"/>
              </a:rPr>
              <a:t>This behavior is consistent with experimental observations that granular force transmission depends strongly on contact-network texture and anisotropy, suggesting that friction promotes arching and redistributes load through a broader force-chain network.</a:t>
            </a:r>
          </a:p>
          <a:p>
            <a:pPr eaLnBrk="1" hangingPunct="1"/>
            <a:endParaRPr lang="en-US" sz="3600" dirty="0">
              <a:latin typeface="+mn-lt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29373020" y="28727400"/>
            <a:ext cx="12801600" cy="914400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b="1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Conclusions</a:t>
            </a:r>
          </a:p>
        </p:txBody>
      </p:sp>
      <p:sp>
        <p:nvSpPr>
          <p:cNvPr id="11" name="Text Box 190"/>
          <p:cNvSpPr txBox="1">
            <a:spLocks noChangeArrowheads="1"/>
          </p:cNvSpPr>
          <p:nvPr/>
        </p:nvSpPr>
        <p:spPr bwMode="auto">
          <a:xfrm>
            <a:off x="1812699" y="15036273"/>
            <a:ext cx="12801600" cy="6217062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>
                <a:lumMod val="75000"/>
              </a:schemeClr>
            </a:solidFill>
          </a:ln>
          <a:effectLst/>
        </p:spPr>
        <p:txBody>
          <a:bodyPr lIns="182880" tIns="182880" rIns="182880" bIns="182880">
            <a:noAutofit/>
          </a:bodyPr>
          <a:lstStyle>
            <a:lvl1pPr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 lvl="0" eaLnBrk="1" hangingPunct="1">
              <a:defRPr/>
            </a:pPr>
            <a:r>
              <a:rPr lang="en-US" sz="3600" b="1" dirty="0">
                <a:solidFill>
                  <a:prstClr val="black"/>
                </a:solidFill>
                <a:latin typeface="Calibri"/>
              </a:rPr>
              <a:t>Friction modes</a:t>
            </a:r>
            <a:r>
              <a:rPr lang="en-US" sz="3600" dirty="0">
                <a:solidFill>
                  <a:prstClr val="black"/>
                </a:solidFill>
                <a:latin typeface="Calibri"/>
              </a:rPr>
              <a:t>. We simulated granular packings with friction across a variation of coefficients that include LAMMPS extended friction modes: rolling and twisting..</a:t>
            </a:r>
          </a:p>
          <a:p>
            <a:pPr lvl="0" eaLnBrk="1" hangingPunct="1">
              <a:defRPr/>
            </a:pPr>
            <a:endParaRPr lang="en-US" sz="36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Text Box 192">
            <a:extLst>
              <a:ext uri="{FF2B5EF4-FFF2-40B4-BE49-F238E27FC236}">
                <a16:creationId xmlns:a16="http://schemas.microsoft.com/office/drawing/2014/main" id="{CD5E5724-3056-8D7D-5133-B248D31EFFA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683421" y="15925800"/>
            <a:ext cx="6804893" cy="5355312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>
                <a:lumMod val="75000"/>
              </a:schemeClr>
            </a:solidFill>
          </a:ln>
          <a:effectLst/>
        </p:spPr>
        <p:txBody>
          <a:bodyPr wrap="square" lIns="182880" tIns="182880" rIns="182880" bIns="182880">
            <a:spAutoFit/>
          </a:bodyPr>
          <a:lstStyle>
            <a:lvl1pPr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 marL="571500" indent="-571500" eaLnBrk="1" hangingPunct="1">
              <a:buFont typeface="Arial" panose="020B0604020202020204" pitchFamily="34" charset="0"/>
              <a:buChar char="•"/>
              <a:defRPr/>
            </a:pPr>
            <a:r>
              <a:rPr lang="en-US" sz="3600" b="1" dirty="0"/>
              <a:t>Isolating Maximum-Load Pathways via Inverse-Force Edge Betweenness:</a:t>
            </a:r>
          </a:p>
          <a:p>
            <a:pPr marL="571500" indent="-571500" eaLnBrk="1" hangingPunct="1">
              <a:buFont typeface="Arial" panose="020B0604020202020204" pitchFamily="34" charset="0"/>
              <a:buChar char="•"/>
              <a:defRPr/>
            </a:pPr>
            <a:endParaRPr lang="en-US" sz="3600" b="1" dirty="0">
              <a:latin typeface="Calibri" pitchFamily="34" charset="0"/>
            </a:endParaRPr>
          </a:p>
          <a:p>
            <a:pPr marL="571500" lvl="0" indent="-571500" eaLnBrk="1" hangingPunct="1">
              <a:buFont typeface="Arial" panose="020B0604020202020204" pitchFamily="34" charset="0"/>
              <a:buChar char="•"/>
              <a:defRPr/>
            </a:pPr>
            <a:r>
              <a:rPr lang="en-US" sz="3600" b="1" dirty="0">
                <a:latin typeface="Calibri" pitchFamily="34" charset="0"/>
              </a:rPr>
              <a:t>EBC </a:t>
            </a:r>
            <a:r>
              <a:rPr lang="en-US" sz="3600" b="1" dirty="0">
                <a:latin typeface="+mn-lt"/>
              </a:rPr>
              <a:t>(Brandes, 2001)</a:t>
            </a:r>
            <a:r>
              <a:rPr lang="en-US" sz="3600" dirty="0">
                <a:solidFill>
                  <a:prstClr val="black"/>
                </a:solidFill>
                <a:latin typeface="Calibri" pitchFamily="34" charset="0"/>
              </a:rPr>
              <a:t> measures how frequently an edge participates in shortest transport paths through the network.</a:t>
            </a:r>
          </a:p>
        </p:txBody>
      </p:sp>
      <p:sp>
        <p:nvSpPr>
          <p:cNvPr id="8" name="Text Box 192">
            <a:extLst>
              <a:ext uri="{FF2B5EF4-FFF2-40B4-BE49-F238E27FC236}">
                <a16:creationId xmlns:a16="http://schemas.microsoft.com/office/drawing/2014/main" id="{8AF2A314-4482-1AC5-F6C8-5A6353A575E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621000" y="22533888"/>
            <a:ext cx="6858000" cy="8125301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>
                <a:lumMod val="75000"/>
              </a:schemeClr>
            </a:solidFill>
          </a:ln>
          <a:effectLst/>
        </p:spPr>
        <p:txBody>
          <a:bodyPr wrap="square" lIns="182880" tIns="182880" rIns="182880" bIns="182880">
            <a:spAutoFit/>
          </a:bodyPr>
          <a:lstStyle>
            <a:lvl1pPr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 marL="571500" indent="-571500" eaLnBrk="1" hangingPunct="1">
              <a:buFont typeface="Arial" panose="020B0604020202020204" pitchFamily="34" charset="0"/>
              <a:buChar char="•"/>
            </a:pPr>
            <a:r>
              <a:rPr lang="en-US" sz="3600" b="1" dirty="0">
                <a:latin typeface="Calibri" pitchFamily="34" charset="0"/>
              </a:rPr>
              <a:t>PELT </a:t>
            </a:r>
            <a:r>
              <a:rPr lang="en-US" sz="3600" dirty="0">
                <a:latin typeface="Calibri" pitchFamily="34" charset="0"/>
              </a:rPr>
              <a:t>(</a:t>
            </a:r>
            <a:r>
              <a:rPr lang="en-US" sz="3600" dirty="0"/>
              <a:t>Killick et al., 2012)</a:t>
            </a:r>
            <a:r>
              <a:rPr lang="en-US" sz="3600" dirty="0">
                <a:solidFill>
                  <a:srgbClr val="000000"/>
                </a:solidFill>
                <a:latin typeface="-webkit-standard"/>
              </a:rPr>
              <a:t> identifies statistically significant changes in the ranked EBC distribution.</a:t>
            </a:r>
          </a:p>
          <a:p>
            <a:pPr marL="571500" indent="-571500" eaLnBrk="1" hangingPunct="1">
              <a:buFont typeface="Arial" panose="020B0604020202020204" pitchFamily="34" charset="0"/>
              <a:buChar char="•"/>
            </a:pPr>
            <a:endParaRPr lang="en-US" sz="3600" dirty="0">
              <a:solidFill>
                <a:srgbClr val="000000"/>
              </a:solidFill>
              <a:latin typeface="-webkit-standard"/>
            </a:endParaRPr>
          </a:p>
          <a:p>
            <a:pPr marL="571500" indent="-571500" eaLnBrk="1" hangingPunct="1">
              <a:buFont typeface="Arial" panose="020B0604020202020204" pitchFamily="34" charset="0"/>
              <a:buChar char="•"/>
            </a:pPr>
            <a:r>
              <a:rPr lang="en-US" sz="3600" b="1" i="0" u="none" strike="noStrike" dirty="0">
                <a:solidFill>
                  <a:srgbClr val="000000"/>
                </a:solidFill>
                <a:effectLst/>
                <a:latin typeface="+mn-lt"/>
              </a:rPr>
              <a:t>The first major change point separates highly important transport edges </a:t>
            </a:r>
            <a:r>
              <a:rPr lang="en-US" sz="3600" b="0" i="0" u="none" strike="noStrike" dirty="0">
                <a:solidFill>
                  <a:srgbClr val="000000"/>
                </a:solidFill>
                <a:effectLst/>
                <a:latin typeface="+mn-lt"/>
              </a:rPr>
              <a:t>from the background contact network.</a:t>
            </a:r>
          </a:p>
          <a:p>
            <a:pPr marL="571500" indent="-571500" eaLnBrk="1" hangingPunct="1">
              <a:buFont typeface="Arial" panose="020B0604020202020204" pitchFamily="34" charset="0"/>
              <a:buChar char="•"/>
            </a:pPr>
            <a:endParaRPr lang="en-US" sz="3600" dirty="0">
              <a:solidFill>
                <a:srgbClr val="000000"/>
              </a:solidFill>
              <a:latin typeface="+mn-lt"/>
            </a:endParaRPr>
          </a:p>
          <a:p>
            <a:pPr marL="571500" indent="-571500" eaLnBrk="1" hangingPunct="1">
              <a:buFont typeface="Arial" panose="020B0604020202020204" pitchFamily="34" charset="0"/>
              <a:buChar char="•"/>
            </a:pPr>
            <a:endParaRPr lang="en-US" sz="3600" b="0" i="0" u="none" strike="noStrike" dirty="0">
              <a:solidFill>
                <a:srgbClr val="000000"/>
              </a:solidFill>
              <a:effectLst/>
              <a:latin typeface="+mn-lt"/>
            </a:endParaRPr>
          </a:p>
          <a:p>
            <a:pPr marL="571500" indent="-571500" eaLnBrk="1" hangingPunct="1">
              <a:buFont typeface="Arial" panose="020B0604020202020204" pitchFamily="34" charset="0"/>
              <a:buChar char="•"/>
            </a:pPr>
            <a:endParaRPr lang="en-US" sz="3600" dirty="0">
              <a:solidFill>
                <a:srgbClr val="000000"/>
              </a:solidFill>
              <a:latin typeface="+mn-lt"/>
            </a:endParaRPr>
          </a:p>
          <a:p>
            <a:pPr marL="571500" indent="-571500" eaLnBrk="1" hangingPunct="1">
              <a:buFont typeface="Arial" panose="020B0604020202020204" pitchFamily="34" charset="0"/>
              <a:buChar char="•"/>
            </a:pPr>
            <a:endParaRPr lang="en-US" sz="3600" b="0" i="0" u="none" strike="noStrike" dirty="0">
              <a:solidFill>
                <a:srgbClr val="000000"/>
              </a:solidFill>
              <a:effectLst/>
              <a:latin typeface="+mn-lt"/>
            </a:endParaRPr>
          </a:p>
          <a:p>
            <a:pPr marL="571500" indent="-571500" eaLnBrk="1" hangingPunct="1">
              <a:buFont typeface="Arial" panose="020B0604020202020204" pitchFamily="34" charset="0"/>
              <a:buChar char="•"/>
            </a:pPr>
            <a:endParaRPr lang="en-US" sz="3600" b="0" i="0" u="none" strike="noStrike" dirty="0">
              <a:solidFill>
                <a:srgbClr val="000000"/>
              </a:solidFill>
              <a:effectLst/>
              <a:latin typeface="+mn-lt"/>
            </a:endParaRPr>
          </a:p>
        </p:txBody>
      </p:sp>
      <p:sp>
        <p:nvSpPr>
          <p:cNvPr id="9" name="Text Box 192">
            <a:extLst>
              <a:ext uri="{FF2B5EF4-FFF2-40B4-BE49-F238E27FC236}">
                <a16:creationId xmlns:a16="http://schemas.microsoft.com/office/drawing/2014/main" id="{D3F6E06F-D0FF-ED23-EBF7-2DE3D094EC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621000" y="29052084"/>
            <a:ext cx="6828698" cy="4247317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>
                <a:lumMod val="75000"/>
              </a:schemeClr>
            </a:solidFill>
          </a:ln>
          <a:effectLst/>
        </p:spPr>
        <p:txBody>
          <a:bodyPr wrap="square" lIns="182880" tIns="182880" rIns="182880" bIns="182880">
            <a:spAutoFit/>
          </a:bodyPr>
          <a:lstStyle>
            <a:lvl1pPr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 marL="571500" indent="-571500" eaLnBrk="1" hangingPunct="1">
              <a:buFont typeface="Arial" panose="020B0604020202020204" pitchFamily="34" charset="0"/>
              <a:buChar char="•"/>
            </a:pPr>
            <a:r>
              <a:rPr lang="en-US" sz="3600" dirty="0">
                <a:latin typeface="Calibri" pitchFamily="34" charset="0"/>
              </a:rPr>
              <a:t>Quasi-linear force chains extracted using local bend-angle criterion </a:t>
            </a:r>
            <a:r>
              <a:rPr lang="en-US" sz="2400" dirty="0">
                <a:latin typeface="Calibri" pitchFamily="34" charset="0"/>
              </a:rPr>
              <a:t>(consistent with force-chain alignment criteria in Peters et al., 2005; Tordesillas et al., 2010).</a:t>
            </a:r>
          </a:p>
          <a:p>
            <a:pPr marL="571500" indent="-571500" eaLnBrk="1" hangingPunct="1">
              <a:buFont typeface="Arial" panose="020B0604020202020204" pitchFamily="34" charset="0"/>
              <a:buChar char="•"/>
            </a:pPr>
            <a:endParaRPr lang="en-US" sz="2400" b="1" i="1" dirty="0">
              <a:highlight>
                <a:srgbClr val="FFFF00"/>
              </a:highlight>
              <a:latin typeface="Calibri" pitchFamily="34" charset="0"/>
            </a:endParaRPr>
          </a:p>
          <a:p>
            <a:pPr marL="571500" indent="-571500" eaLnBrk="1" hangingPunct="1">
              <a:buFont typeface="Arial" panose="020B0604020202020204" pitchFamily="34" charset="0"/>
              <a:buChar char="•"/>
            </a:pPr>
            <a:r>
              <a:rPr lang="en-US" sz="3600" b="1" i="1" dirty="0">
                <a:latin typeface="Calibri" pitchFamily="34" charset="0"/>
              </a:rPr>
              <a:t>Edges connected if </a:t>
            </a:r>
            <a:r>
              <a:rPr lang="en-US" sz="3600" b="1" dirty="0" err="1">
                <a:latin typeface="Calibri" pitchFamily="34" charset="0"/>
              </a:rPr>
              <a:t>θ</a:t>
            </a:r>
            <a:r>
              <a:rPr lang="en-US" sz="3600" b="1" dirty="0">
                <a:latin typeface="Calibri" pitchFamily="34" charset="0"/>
              </a:rPr>
              <a:t> ≤ 45°.     </a:t>
            </a:r>
            <a:r>
              <a:rPr lang="el-GR" sz="3600" b="1" dirty="0">
                <a:latin typeface="Calibri" pitchFamily="34" charset="0"/>
              </a:rPr>
              <a:t>Θ</a:t>
            </a:r>
            <a:r>
              <a:rPr lang="en-US" sz="3600" b="1" dirty="0">
                <a:latin typeface="Calibri" pitchFamily="34" charset="0"/>
              </a:rPr>
              <a:t>:</a:t>
            </a:r>
            <a:r>
              <a:rPr lang="en-US" sz="3600" dirty="0">
                <a:latin typeface="Calibri" pitchFamily="34" charset="0"/>
              </a:rPr>
              <a:t> deviation from straight path. </a:t>
            </a:r>
            <a:endParaRPr lang="en-US" sz="3600" b="1" dirty="0">
              <a:latin typeface="Calibri" pitchFamily="34" charset="0"/>
            </a:endParaRPr>
          </a:p>
        </p:txBody>
      </p:sp>
      <p:sp>
        <p:nvSpPr>
          <p:cNvPr id="16" name="Text Box 192">
            <a:extLst>
              <a:ext uri="{FF2B5EF4-FFF2-40B4-BE49-F238E27FC236}">
                <a16:creationId xmlns:a16="http://schemas.microsoft.com/office/drawing/2014/main" id="{8887804E-6402-4058-8276-77D2D5554B5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621000" y="34449516"/>
            <a:ext cx="6498588" cy="3955284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>
                <a:lumMod val="75000"/>
              </a:schemeClr>
            </a:solidFill>
          </a:ln>
          <a:effectLst/>
        </p:spPr>
        <p:txBody>
          <a:bodyPr lIns="182880" tIns="182880" rIns="182880" bIns="182880">
            <a:noAutofit/>
          </a:bodyPr>
          <a:lstStyle>
            <a:lvl1pPr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sz="3600" b="1" dirty="0">
                <a:latin typeface="Calibri" pitchFamily="34" charset="0"/>
              </a:rPr>
              <a:t>Traditional force-chain methods</a:t>
            </a:r>
          </a:p>
          <a:p>
            <a:pPr marL="571500" indent="-571500" eaLnBrk="1" hangingPunct="1">
              <a:buFont typeface="Arial" panose="020B0604020202020204" pitchFamily="34" charset="0"/>
              <a:buChar char="•"/>
            </a:pPr>
            <a:r>
              <a:rPr lang="en-US" sz="3600" dirty="0">
                <a:latin typeface="Calibri" pitchFamily="34" charset="0"/>
              </a:rPr>
              <a:t>Threshold: Above average force.</a:t>
            </a:r>
          </a:p>
          <a:p>
            <a:pPr marL="571500" indent="-571500" eaLnBrk="1" hangingPunct="1">
              <a:buFont typeface="Arial" panose="020B0604020202020204" pitchFamily="34" charset="0"/>
              <a:buChar char="•"/>
            </a:pPr>
            <a:r>
              <a:rPr lang="en-US" sz="3600" dirty="0">
                <a:latin typeface="Calibri" pitchFamily="34" charset="0"/>
              </a:rPr>
              <a:t>Force direction: force load vector alignment (&lt;45°)</a:t>
            </a:r>
          </a:p>
          <a:p>
            <a:pPr marL="571500" indent="-571500" eaLnBrk="1" hangingPunct="1">
              <a:buFont typeface="Arial" panose="020B0604020202020204" pitchFamily="34" charset="0"/>
              <a:buChar char="•"/>
            </a:pPr>
            <a:r>
              <a:rPr lang="en-US" sz="3600" dirty="0">
                <a:latin typeface="Calibri" pitchFamily="34" charset="0"/>
              </a:rPr>
              <a:t>Local force criterion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14346A2-989A-295B-D428-8C0DC712F57A}"/>
              </a:ext>
            </a:extLst>
          </p:cNvPr>
          <p:cNvSpPr/>
          <p:nvPr/>
        </p:nvSpPr>
        <p:spPr>
          <a:xfrm>
            <a:off x="15621000" y="9753600"/>
            <a:ext cx="1097280" cy="1097280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b="1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1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EFC2D78-E122-2F66-FDC2-68D9B8D9B8E7}"/>
              </a:ext>
            </a:extLst>
          </p:cNvPr>
          <p:cNvSpPr/>
          <p:nvPr/>
        </p:nvSpPr>
        <p:spPr>
          <a:xfrm>
            <a:off x="15544800" y="6400800"/>
            <a:ext cx="12877800" cy="914400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b="1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Methods 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F81247-7458-60AE-950A-AFE29D7F40D8}"/>
              </a:ext>
            </a:extLst>
          </p:cNvPr>
          <p:cNvSpPr/>
          <p:nvPr/>
        </p:nvSpPr>
        <p:spPr>
          <a:xfrm>
            <a:off x="15666720" y="14782800"/>
            <a:ext cx="1097280" cy="1097280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b="1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2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BFBEA75-0B38-EE2A-48EF-BAEF3DE3B86B}"/>
              </a:ext>
            </a:extLst>
          </p:cNvPr>
          <p:cNvSpPr/>
          <p:nvPr/>
        </p:nvSpPr>
        <p:spPr>
          <a:xfrm>
            <a:off x="15623091" y="21305520"/>
            <a:ext cx="1097280" cy="1097280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b="1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6F41436-575A-4420-BB2B-A96D49564B7E}"/>
              </a:ext>
            </a:extLst>
          </p:cNvPr>
          <p:cNvSpPr/>
          <p:nvPr/>
        </p:nvSpPr>
        <p:spPr>
          <a:xfrm>
            <a:off x="15621000" y="27934920"/>
            <a:ext cx="1097280" cy="1097280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b="1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4</a:t>
            </a:r>
          </a:p>
        </p:txBody>
      </p:sp>
      <p:pic>
        <p:nvPicPr>
          <p:cNvPr id="6" name="Picture 5" descr="Text&#10;&#10;Description automatically generated">
            <a:extLst>
              <a:ext uri="{FF2B5EF4-FFF2-40B4-BE49-F238E27FC236}">
                <a16:creationId xmlns:a16="http://schemas.microsoft.com/office/drawing/2014/main" id="{0EF6969C-D5D3-899E-A492-B71218A0E0F8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75000"/>
          </a:blip>
          <a:stretch>
            <a:fillRect/>
          </a:stretch>
        </p:blipFill>
        <p:spPr>
          <a:xfrm>
            <a:off x="38252400" y="1432559"/>
            <a:ext cx="4465485" cy="205978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B06BB65-C8F4-ED77-A7EE-94E1EA1A3A8E}"/>
              </a:ext>
            </a:extLst>
          </p:cNvPr>
          <p:cNvSpPr txBox="1"/>
          <p:nvPr/>
        </p:nvSpPr>
        <p:spPr>
          <a:xfrm>
            <a:off x="3235005" y="42919947"/>
            <a:ext cx="62155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Sandia National Laboratories is a multi-program laboratory managed and operated by Sandia Corporation,</a:t>
            </a:r>
          </a:p>
          <a:p>
            <a:r>
              <a:rPr lang="en-US" sz="1000" dirty="0"/>
              <a:t>a wholly owned subsidiary of Lockheed Martin Corporation, for the U.S. Department of Energy’s National</a:t>
            </a:r>
          </a:p>
          <a:p>
            <a:r>
              <a:rPr lang="en-US" sz="1000" dirty="0"/>
              <a:t>Nuclear Security Administration under contract DE-AC04-94AL85000.</a:t>
            </a:r>
          </a:p>
        </p:txBody>
      </p:sp>
      <p:pic>
        <p:nvPicPr>
          <p:cNvPr id="23" name="Picture 22" descr="New_DOE_Logo_Black.png">
            <a:extLst>
              <a:ext uri="{FF2B5EF4-FFF2-40B4-BE49-F238E27FC236}">
                <a16:creationId xmlns:a16="http://schemas.microsoft.com/office/drawing/2014/main" id="{42E02148-EA3C-9F3A-4BF9-45FB59CC28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50531" y="43035206"/>
            <a:ext cx="1268505" cy="319240"/>
          </a:xfrm>
          <a:prstGeom prst="rect">
            <a:avLst/>
          </a:prstGeom>
        </p:spPr>
      </p:pic>
      <p:pic>
        <p:nvPicPr>
          <p:cNvPr id="28" name="Picture 27" descr="NNSA Logo_Black.png">
            <a:extLst>
              <a:ext uri="{FF2B5EF4-FFF2-40B4-BE49-F238E27FC236}">
                <a16:creationId xmlns:a16="http://schemas.microsoft.com/office/drawing/2014/main" id="{EC90A910-6DD7-B81B-D2AE-664E5AD0AF8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4358" y="43035206"/>
            <a:ext cx="1219200" cy="338797"/>
          </a:xfrm>
          <a:prstGeom prst="rect">
            <a:avLst/>
          </a:prstGeom>
        </p:spPr>
      </p:pic>
      <p:pic>
        <p:nvPicPr>
          <p:cNvPr id="29" name="Picture 28" descr="Text&#10;&#10;Description automatically generated">
            <a:extLst>
              <a:ext uri="{FF2B5EF4-FFF2-40B4-BE49-F238E27FC236}">
                <a16:creationId xmlns:a16="http://schemas.microsoft.com/office/drawing/2014/main" id="{804B399D-6C8A-890F-A60E-38FD6611A68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biLevel thresh="75000"/>
          </a:blip>
          <a:stretch>
            <a:fillRect/>
          </a:stretch>
        </p:blipFill>
        <p:spPr>
          <a:xfrm>
            <a:off x="1097115" y="1432559"/>
            <a:ext cx="4465485" cy="2059782"/>
          </a:xfrm>
          <a:prstGeom prst="rect">
            <a:avLst/>
          </a:prstGeom>
        </p:spPr>
      </p:pic>
      <p:sp>
        <p:nvSpPr>
          <p:cNvPr id="39" name="Rectangle 38">
            <a:extLst>
              <a:ext uri="{FF2B5EF4-FFF2-40B4-BE49-F238E27FC236}">
                <a16:creationId xmlns:a16="http://schemas.microsoft.com/office/drawing/2014/main" id="{8109C620-85AF-92B1-7F88-1A9B902B6A51}"/>
              </a:ext>
            </a:extLst>
          </p:cNvPr>
          <p:cNvSpPr/>
          <p:nvPr/>
        </p:nvSpPr>
        <p:spPr>
          <a:xfrm>
            <a:off x="16764000" y="14828520"/>
            <a:ext cx="11658600" cy="109728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000" b="1" dirty="0">
                <a:solidFill>
                  <a:schemeClr val="accent5">
                    <a:lumMod val="50000"/>
                  </a:schemeClr>
                </a:solidFill>
              </a:rPr>
              <a:t>IDENTIFICATION OF CRITICAL EDGES USING EDGE BETWEENNES CENTRALITY (EBC) 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B248717-1B95-E438-003D-3089D13CDD30}"/>
              </a:ext>
            </a:extLst>
          </p:cNvPr>
          <p:cNvSpPr/>
          <p:nvPr/>
        </p:nvSpPr>
        <p:spPr>
          <a:xfrm>
            <a:off x="16764000" y="9829800"/>
            <a:ext cx="11658600" cy="91440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000" b="1" dirty="0">
                <a:solidFill>
                  <a:schemeClr val="accent5">
                    <a:lumMod val="50000"/>
                  </a:schemeClr>
                </a:solidFill>
              </a:rPr>
              <a:t> INVERSE-FORCE WEIGHTED CONTACT NETWORK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013049E-E8B2-23A9-C638-26F2B91281F3}"/>
              </a:ext>
            </a:extLst>
          </p:cNvPr>
          <p:cNvSpPr/>
          <p:nvPr/>
        </p:nvSpPr>
        <p:spPr>
          <a:xfrm>
            <a:off x="16764000" y="21381720"/>
            <a:ext cx="11620500" cy="109728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000" b="1" dirty="0">
                <a:solidFill>
                  <a:schemeClr val="accent5">
                    <a:lumMod val="50000"/>
                  </a:schemeClr>
                </a:solidFill>
              </a:rPr>
              <a:t>IDENTIFICATION OF HIGH IMPORTANCE FORCE CHAINS USING CHANGE POINT DETECTION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81EA69B-A635-1E00-2DF9-FBD5AD2FC370}"/>
              </a:ext>
            </a:extLst>
          </p:cNvPr>
          <p:cNvSpPr/>
          <p:nvPr/>
        </p:nvSpPr>
        <p:spPr>
          <a:xfrm>
            <a:off x="16764000" y="27934920"/>
            <a:ext cx="11620500" cy="109728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000" b="1" dirty="0">
                <a:solidFill>
                  <a:schemeClr val="accent5">
                    <a:lumMod val="50000"/>
                  </a:schemeClr>
                </a:solidFill>
              </a:rPr>
              <a:t>FORCE-CHAIN STRUCTURAL CHARACTERIZATION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E3B7099E-7CDC-6CA9-D687-2588CF5BA6C1}"/>
              </a:ext>
            </a:extLst>
          </p:cNvPr>
          <p:cNvSpPr/>
          <p:nvPr/>
        </p:nvSpPr>
        <p:spPr>
          <a:xfrm>
            <a:off x="15598140" y="33345120"/>
            <a:ext cx="12824460" cy="109728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>
                <a:solidFill>
                  <a:schemeClr val="accent5">
                    <a:lumMod val="50000"/>
                  </a:schemeClr>
                </a:solidFill>
              </a:rPr>
              <a:t>TRADITIONAL VS BETWEENNESS METHODS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69313A9-855A-9947-5FB7-C99319F02DE5}"/>
                  </a:ext>
                </a:extLst>
              </p:cNvPr>
              <p:cNvSpPr txBox="1"/>
              <p:nvPr/>
            </p:nvSpPr>
            <p:spPr>
              <a:xfrm>
                <a:off x="18753465" y="12344399"/>
                <a:ext cx="4030925" cy="11634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sz="3200" b="1" i="1" smtClean="0">
                              <a:latin typeface="Cambria Math" panose="02040503050406030204" pitchFamily="18" charset="0"/>
                            </a:rPr>
                            <m:t>𝒊𝒋</m:t>
                          </m:r>
                        </m:sub>
                      </m:sSub>
                      <m:r>
                        <a:rPr lang="en-US" sz="3200" b="1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sz="32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2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sSub>
                            <m:sSubPr>
                              <m:ctrlPr>
                                <a:rPr lang="en-US" sz="32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1" i="1" smtClean="0">
                                  <a:latin typeface="Cambria Math" panose="02040503050406030204" pitchFamily="18" charset="0"/>
                                </a:rPr>
                                <m:t>𝑭</m:t>
                              </m:r>
                            </m:e>
                            <m:sub>
                              <m:r>
                                <a:rPr lang="en-US" sz="3200" b="1" i="1" smtClean="0">
                                  <a:latin typeface="Cambria Math" panose="02040503050406030204" pitchFamily="18" charset="0"/>
                                </a:rPr>
                                <m:t>𝒊𝒋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sz="3200" b="1" dirty="0"/>
              </a:p>
            </p:txBody>
          </p:sp>
        </mc:Choice>
        <mc:Fallback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69313A9-855A-9947-5FB7-C99319F02D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753465" y="12344399"/>
                <a:ext cx="4030925" cy="1163460"/>
              </a:xfrm>
              <a:prstGeom prst="rect">
                <a:avLst/>
              </a:prstGeom>
              <a:blipFill>
                <a:blip r:embed="rId5"/>
                <a:stretch>
                  <a:fillRect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TextBox 59">
            <a:extLst>
              <a:ext uri="{FF2B5EF4-FFF2-40B4-BE49-F238E27FC236}">
                <a16:creationId xmlns:a16="http://schemas.microsoft.com/office/drawing/2014/main" id="{60BDA44D-52DE-07A0-6CDF-669D5715E771}"/>
              </a:ext>
            </a:extLst>
          </p:cNvPr>
          <p:cNvSpPr txBox="1"/>
          <p:nvPr/>
        </p:nvSpPr>
        <p:spPr>
          <a:xfrm>
            <a:off x="16229331" y="13763017"/>
            <a:ext cx="76594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Strong contact-&gt;low-cost path-&gt;</a:t>
            </a:r>
            <a:r>
              <a:rPr lang="en-US" sz="3600" b="1" i="1" dirty="0"/>
              <a:t>critical</a:t>
            </a:r>
            <a:r>
              <a:rPr lang="en-US" sz="3600" b="1" dirty="0"/>
              <a:t> </a:t>
            </a:r>
          </a:p>
        </p:txBody>
      </p:sp>
      <p:grpSp>
        <p:nvGrpSpPr>
          <p:cNvPr id="286" name="Group 285">
            <a:extLst>
              <a:ext uri="{FF2B5EF4-FFF2-40B4-BE49-F238E27FC236}">
                <a16:creationId xmlns:a16="http://schemas.microsoft.com/office/drawing/2014/main" id="{C4611FD5-3627-3026-6BAD-A913EF1C7EE6}"/>
              </a:ext>
            </a:extLst>
          </p:cNvPr>
          <p:cNvGrpSpPr/>
          <p:nvPr/>
        </p:nvGrpSpPr>
        <p:grpSpPr>
          <a:xfrm>
            <a:off x="23916326" y="11085316"/>
            <a:ext cx="3696233" cy="2936959"/>
            <a:chOff x="23095349" y="8483025"/>
            <a:chExt cx="4813241" cy="3693236"/>
          </a:xfrm>
        </p:grpSpPr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AB06972D-050F-EF74-5FF2-7A9957D7A06C}"/>
                </a:ext>
              </a:extLst>
            </p:cNvPr>
            <p:cNvSpPr/>
            <p:nvPr/>
          </p:nvSpPr>
          <p:spPr>
            <a:xfrm>
              <a:off x="23919290" y="10466499"/>
              <a:ext cx="365760" cy="36576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0265FD6B-CE3C-9C61-F6E3-9C6933FDC926}"/>
                </a:ext>
              </a:extLst>
            </p:cNvPr>
            <p:cNvSpPr/>
            <p:nvPr/>
          </p:nvSpPr>
          <p:spPr>
            <a:xfrm>
              <a:off x="25269634" y="9045119"/>
              <a:ext cx="365760" cy="36576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1A203A39-BBD4-8244-28B9-DE3E457C77E9}"/>
                </a:ext>
              </a:extLst>
            </p:cNvPr>
            <p:cNvSpPr/>
            <p:nvPr/>
          </p:nvSpPr>
          <p:spPr>
            <a:xfrm>
              <a:off x="23224715" y="8735554"/>
              <a:ext cx="365760" cy="36576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58A27F8E-F829-90E2-A06B-873A3F32F65D}"/>
                </a:ext>
              </a:extLst>
            </p:cNvPr>
            <p:cNvSpPr/>
            <p:nvPr/>
          </p:nvSpPr>
          <p:spPr>
            <a:xfrm>
              <a:off x="23347161" y="10160274"/>
              <a:ext cx="365760" cy="36576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C78B8561-2964-3E92-C2A0-9C9AF6C60EC3}"/>
                </a:ext>
              </a:extLst>
            </p:cNvPr>
            <p:cNvSpPr/>
            <p:nvPr/>
          </p:nvSpPr>
          <p:spPr>
            <a:xfrm>
              <a:off x="25770547" y="11565196"/>
              <a:ext cx="365760" cy="36576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3FE4D29D-33E4-B5EE-73FB-CD31919DD881}"/>
                </a:ext>
              </a:extLst>
            </p:cNvPr>
            <p:cNvSpPr/>
            <p:nvPr/>
          </p:nvSpPr>
          <p:spPr>
            <a:xfrm>
              <a:off x="24069986" y="11382316"/>
              <a:ext cx="365760" cy="36576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E9252A96-BACB-70E7-023B-57F74727B538}"/>
                </a:ext>
              </a:extLst>
            </p:cNvPr>
            <p:cNvSpPr/>
            <p:nvPr/>
          </p:nvSpPr>
          <p:spPr>
            <a:xfrm>
              <a:off x="24752675" y="11810501"/>
              <a:ext cx="365760" cy="36576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2212FB80-D08A-D559-F2E7-E4E83BA5F5CA}"/>
                </a:ext>
              </a:extLst>
            </p:cNvPr>
            <p:cNvSpPr/>
            <p:nvPr/>
          </p:nvSpPr>
          <p:spPr>
            <a:xfrm>
              <a:off x="24527186" y="9861055"/>
              <a:ext cx="365760" cy="36576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96DE0634-1F06-CF1B-70ED-9B8A9D003507}"/>
                </a:ext>
              </a:extLst>
            </p:cNvPr>
            <p:cNvSpPr/>
            <p:nvPr/>
          </p:nvSpPr>
          <p:spPr>
            <a:xfrm>
              <a:off x="27235550" y="10493254"/>
              <a:ext cx="365760" cy="36576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F04F3FBA-9D3C-15F7-DAE9-DC0716EA8676}"/>
                </a:ext>
              </a:extLst>
            </p:cNvPr>
            <p:cNvSpPr/>
            <p:nvPr/>
          </p:nvSpPr>
          <p:spPr>
            <a:xfrm>
              <a:off x="26042849" y="9666993"/>
              <a:ext cx="274320" cy="27432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608986B0-EC74-1148-EA25-AFF8BC90F3EE}"/>
                </a:ext>
              </a:extLst>
            </p:cNvPr>
            <p:cNvSpPr/>
            <p:nvPr/>
          </p:nvSpPr>
          <p:spPr>
            <a:xfrm>
              <a:off x="25590158" y="10427375"/>
              <a:ext cx="365760" cy="36576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5E00E876-89B8-4F49-C0E0-9CD0F2FD03EC}"/>
                </a:ext>
              </a:extLst>
            </p:cNvPr>
            <p:cNvSpPr/>
            <p:nvPr/>
          </p:nvSpPr>
          <p:spPr>
            <a:xfrm>
              <a:off x="24346235" y="8999397"/>
              <a:ext cx="91440" cy="9144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311AC80E-0FF3-61F8-FBD8-5BF96E955EB7}"/>
                </a:ext>
              </a:extLst>
            </p:cNvPr>
            <p:cNvSpPr/>
            <p:nvPr/>
          </p:nvSpPr>
          <p:spPr>
            <a:xfrm>
              <a:off x="23777233" y="9556238"/>
              <a:ext cx="182880" cy="18288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6B41FEF2-8EAA-560D-FF9A-58B13298BA91}"/>
                </a:ext>
              </a:extLst>
            </p:cNvPr>
            <p:cNvSpPr/>
            <p:nvPr/>
          </p:nvSpPr>
          <p:spPr>
            <a:xfrm>
              <a:off x="26650837" y="8697841"/>
              <a:ext cx="365760" cy="36576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282CDB9F-B8E3-FA45-AFF6-4AF7FE642F74}"/>
                </a:ext>
              </a:extLst>
            </p:cNvPr>
            <p:cNvCxnSpPr>
              <a:cxnSpLocks/>
              <a:stCxn id="61" idx="4"/>
              <a:endCxn id="69" idx="0"/>
            </p:cNvCxnSpPr>
            <p:nvPr/>
          </p:nvCxnSpPr>
          <p:spPr>
            <a:xfrm>
              <a:off x="24102170" y="10832259"/>
              <a:ext cx="150696" cy="550057"/>
            </a:xfrm>
            <a:prstGeom prst="line">
              <a:avLst/>
            </a:prstGeom>
            <a:ln w="508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C6634876-7DC0-38A8-43BF-83FB828FBE1C}"/>
                </a:ext>
              </a:extLst>
            </p:cNvPr>
            <p:cNvCxnSpPr>
              <a:cxnSpLocks/>
              <a:stCxn id="71" idx="3"/>
            </p:cNvCxnSpPr>
            <p:nvPr/>
          </p:nvCxnSpPr>
          <p:spPr>
            <a:xfrm flipH="1">
              <a:off x="24250717" y="10173251"/>
              <a:ext cx="330033" cy="348381"/>
            </a:xfrm>
            <a:prstGeom prst="line">
              <a:avLst/>
            </a:prstGeom>
            <a:ln w="508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B4B7C1DF-39E9-AA1E-6B51-D4A594F20FA5}"/>
                </a:ext>
              </a:extLst>
            </p:cNvPr>
            <p:cNvCxnSpPr>
              <a:cxnSpLocks/>
              <a:stCxn id="67" idx="5"/>
              <a:endCxn id="61" idx="1"/>
            </p:cNvCxnSpPr>
            <p:nvPr/>
          </p:nvCxnSpPr>
          <p:spPr>
            <a:xfrm>
              <a:off x="23659357" y="10472470"/>
              <a:ext cx="313497" cy="47593"/>
            </a:xfrm>
            <a:prstGeom prst="line">
              <a:avLst/>
            </a:prstGeom>
            <a:ln w="508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4DC02E8D-E07A-AB38-FEE2-157CA28BA5CD}"/>
                </a:ext>
              </a:extLst>
            </p:cNvPr>
            <p:cNvCxnSpPr>
              <a:cxnSpLocks/>
              <a:stCxn id="67" idx="0"/>
              <a:endCxn id="66" idx="4"/>
            </p:cNvCxnSpPr>
            <p:nvPr/>
          </p:nvCxnSpPr>
          <p:spPr>
            <a:xfrm flipH="1" flipV="1">
              <a:off x="23407595" y="9101314"/>
              <a:ext cx="122446" cy="1058960"/>
            </a:xfrm>
            <a:prstGeom prst="line">
              <a:avLst/>
            </a:prstGeom>
            <a:ln w="508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D07A5C2F-7919-609D-2717-5FC39ED5DBC5}"/>
                </a:ext>
              </a:extLst>
            </p:cNvPr>
            <p:cNvCxnSpPr>
              <a:cxnSpLocks/>
              <a:stCxn id="75" idx="1"/>
              <a:endCxn id="71" idx="6"/>
            </p:cNvCxnSpPr>
            <p:nvPr/>
          </p:nvCxnSpPr>
          <p:spPr>
            <a:xfrm flipH="1" flipV="1">
              <a:off x="24892946" y="10043935"/>
              <a:ext cx="750776" cy="437004"/>
            </a:xfrm>
            <a:prstGeom prst="line">
              <a:avLst/>
            </a:prstGeom>
            <a:ln w="508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41780B23-AC93-BEAE-4877-658CFA620EA3}"/>
                </a:ext>
              </a:extLst>
            </p:cNvPr>
            <p:cNvCxnSpPr>
              <a:cxnSpLocks/>
              <a:stCxn id="68" idx="0"/>
              <a:endCxn id="75" idx="4"/>
            </p:cNvCxnSpPr>
            <p:nvPr/>
          </p:nvCxnSpPr>
          <p:spPr>
            <a:xfrm flipH="1" flipV="1">
              <a:off x="25773038" y="10793135"/>
              <a:ext cx="180389" cy="772061"/>
            </a:xfrm>
            <a:prstGeom prst="line">
              <a:avLst/>
            </a:prstGeom>
            <a:ln w="508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AC5DA782-DD80-21D0-1D26-983E1D5D9536}"/>
                </a:ext>
              </a:extLst>
            </p:cNvPr>
            <p:cNvCxnSpPr>
              <a:cxnSpLocks/>
              <a:stCxn id="74" idx="3"/>
              <a:endCxn id="75" idx="0"/>
            </p:cNvCxnSpPr>
            <p:nvPr/>
          </p:nvCxnSpPr>
          <p:spPr>
            <a:xfrm flipH="1">
              <a:off x="25773038" y="9901140"/>
              <a:ext cx="309984" cy="526235"/>
            </a:xfrm>
            <a:prstGeom prst="line">
              <a:avLst/>
            </a:prstGeom>
            <a:ln w="508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E2B726F2-172A-4A9B-0278-7E92FBF0BDC5}"/>
                </a:ext>
              </a:extLst>
            </p:cNvPr>
            <p:cNvCxnSpPr>
              <a:cxnSpLocks/>
              <a:stCxn id="78" idx="3"/>
              <a:endCxn id="74" idx="7"/>
            </p:cNvCxnSpPr>
            <p:nvPr/>
          </p:nvCxnSpPr>
          <p:spPr>
            <a:xfrm flipH="1">
              <a:off x="26276996" y="9010037"/>
              <a:ext cx="427405" cy="697129"/>
            </a:xfrm>
            <a:prstGeom prst="line">
              <a:avLst/>
            </a:prstGeom>
            <a:ln w="762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73376BB7-8291-9484-6AFA-34BEBE3CBC3D}"/>
                </a:ext>
              </a:extLst>
            </p:cNvPr>
            <p:cNvCxnSpPr>
              <a:cxnSpLocks/>
              <a:stCxn id="64" idx="3"/>
              <a:endCxn id="71" idx="7"/>
            </p:cNvCxnSpPr>
            <p:nvPr/>
          </p:nvCxnSpPr>
          <p:spPr>
            <a:xfrm flipH="1">
              <a:off x="24839382" y="9357315"/>
              <a:ext cx="483816" cy="557304"/>
            </a:xfrm>
            <a:prstGeom prst="line">
              <a:avLst/>
            </a:prstGeom>
            <a:ln w="508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4FEC037D-FC50-2F91-95EB-4FB6EA20DD96}"/>
                </a:ext>
              </a:extLst>
            </p:cNvPr>
            <p:cNvCxnSpPr>
              <a:cxnSpLocks/>
              <a:stCxn id="77" idx="4"/>
              <a:endCxn id="67" idx="7"/>
            </p:cNvCxnSpPr>
            <p:nvPr/>
          </p:nvCxnSpPr>
          <p:spPr>
            <a:xfrm flipH="1">
              <a:off x="23659357" y="9739118"/>
              <a:ext cx="209316" cy="474720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CF1FF087-D668-8B3D-D5C6-CD84E6920EB4}"/>
                </a:ext>
              </a:extLst>
            </p:cNvPr>
            <p:cNvCxnSpPr>
              <a:cxnSpLocks/>
              <a:stCxn id="76" idx="3"/>
              <a:endCxn id="77" idx="7"/>
            </p:cNvCxnSpPr>
            <p:nvPr/>
          </p:nvCxnSpPr>
          <p:spPr>
            <a:xfrm flipH="1">
              <a:off x="23933331" y="9077446"/>
              <a:ext cx="426295" cy="505574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34B967C8-9399-0C39-55A1-DF12FD3EFAD5}"/>
                </a:ext>
              </a:extLst>
            </p:cNvPr>
            <p:cNvSpPr/>
            <p:nvPr/>
          </p:nvSpPr>
          <p:spPr>
            <a:xfrm>
              <a:off x="24994623" y="11037378"/>
              <a:ext cx="182880" cy="18288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9061C291-2595-2BD6-5616-94E886995F34}"/>
                </a:ext>
              </a:extLst>
            </p:cNvPr>
            <p:cNvCxnSpPr>
              <a:cxnSpLocks/>
              <a:stCxn id="118" idx="4"/>
              <a:endCxn id="70" idx="0"/>
            </p:cNvCxnSpPr>
            <p:nvPr/>
          </p:nvCxnSpPr>
          <p:spPr>
            <a:xfrm flipH="1">
              <a:off x="24935555" y="11220258"/>
              <a:ext cx="150508" cy="590243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8CCC1DA7-5E5A-9B5A-D3CE-25A2B0321501}"/>
                </a:ext>
              </a:extLst>
            </p:cNvPr>
            <p:cNvCxnSpPr>
              <a:cxnSpLocks/>
              <a:stCxn id="71" idx="4"/>
              <a:endCxn id="118" idx="0"/>
            </p:cNvCxnSpPr>
            <p:nvPr/>
          </p:nvCxnSpPr>
          <p:spPr>
            <a:xfrm>
              <a:off x="24710066" y="10226815"/>
              <a:ext cx="375997" cy="810563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6B0EFB73-8360-7E1D-07CA-0C048C58EE61}"/>
                </a:ext>
              </a:extLst>
            </p:cNvPr>
            <p:cNvCxnSpPr>
              <a:cxnSpLocks/>
              <a:stCxn id="128" idx="1"/>
              <a:endCxn id="118" idx="6"/>
            </p:cNvCxnSpPr>
            <p:nvPr/>
          </p:nvCxnSpPr>
          <p:spPr>
            <a:xfrm flipH="1" flipV="1">
              <a:off x="25177503" y="11128818"/>
              <a:ext cx="335522" cy="251111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8" name="Oval 127">
              <a:extLst>
                <a:ext uri="{FF2B5EF4-FFF2-40B4-BE49-F238E27FC236}">
                  <a16:creationId xmlns:a16="http://schemas.microsoft.com/office/drawing/2014/main" id="{E82156DA-0911-C42C-4AA3-5BE7DE85623E}"/>
                </a:ext>
              </a:extLst>
            </p:cNvPr>
            <p:cNvSpPr/>
            <p:nvPr/>
          </p:nvSpPr>
          <p:spPr>
            <a:xfrm>
              <a:off x="25486243" y="11353147"/>
              <a:ext cx="182880" cy="18288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FA3D4516-A263-C1E4-D8A7-1D4141687563}"/>
                </a:ext>
              </a:extLst>
            </p:cNvPr>
            <p:cNvCxnSpPr>
              <a:cxnSpLocks/>
              <a:stCxn id="128" idx="0"/>
              <a:endCxn id="75" idx="3"/>
            </p:cNvCxnSpPr>
            <p:nvPr/>
          </p:nvCxnSpPr>
          <p:spPr>
            <a:xfrm flipV="1">
              <a:off x="25577683" y="10739571"/>
              <a:ext cx="66039" cy="61357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49D25C21-BBCF-CBE2-022D-7B4F526D1A4F}"/>
                </a:ext>
              </a:extLst>
            </p:cNvPr>
            <p:cNvCxnSpPr>
              <a:cxnSpLocks/>
              <a:stCxn id="128" idx="3"/>
              <a:endCxn id="70" idx="7"/>
            </p:cNvCxnSpPr>
            <p:nvPr/>
          </p:nvCxnSpPr>
          <p:spPr>
            <a:xfrm flipH="1">
              <a:off x="25064871" y="11509245"/>
              <a:ext cx="448154" cy="354820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730D1484-887E-966B-1870-70C927BAF375}"/>
                </a:ext>
              </a:extLst>
            </p:cNvPr>
            <p:cNvSpPr/>
            <p:nvPr/>
          </p:nvSpPr>
          <p:spPr>
            <a:xfrm>
              <a:off x="23095349" y="10821158"/>
              <a:ext cx="91440" cy="9144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3ED6F1A8-64C5-4FBD-ED28-2425038906F9}"/>
                </a:ext>
              </a:extLst>
            </p:cNvPr>
            <p:cNvCxnSpPr>
              <a:cxnSpLocks/>
              <a:stCxn id="67" idx="3"/>
              <a:endCxn id="137" idx="0"/>
            </p:cNvCxnSpPr>
            <p:nvPr/>
          </p:nvCxnSpPr>
          <p:spPr>
            <a:xfrm flipH="1">
              <a:off x="23141069" y="10472470"/>
              <a:ext cx="259656" cy="34868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80DAD4F3-F8F8-7D2C-E3E0-1E01FF6A1E98}"/>
                </a:ext>
              </a:extLst>
            </p:cNvPr>
            <p:cNvCxnSpPr>
              <a:cxnSpLocks/>
              <a:stCxn id="69" idx="3"/>
            </p:cNvCxnSpPr>
            <p:nvPr/>
          </p:nvCxnSpPr>
          <p:spPr>
            <a:xfrm flipH="1">
              <a:off x="23659357" y="11694512"/>
              <a:ext cx="464193" cy="22661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0738F8D5-3D71-2906-6EAA-3F2EF4F6F67E}"/>
                </a:ext>
              </a:extLst>
            </p:cNvPr>
            <p:cNvCxnSpPr>
              <a:cxnSpLocks/>
              <a:endCxn id="68" idx="6"/>
            </p:cNvCxnSpPr>
            <p:nvPr/>
          </p:nvCxnSpPr>
          <p:spPr>
            <a:xfrm flipH="1" flipV="1">
              <a:off x="26136307" y="11748076"/>
              <a:ext cx="430553" cy="62425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4A08E32B-AB8D-6DFD-A566-6F398B61C6E5}"/>
                </a:ext>
              </a:extLst>
            </p:cNvPr>
            <p:cNvCxnSpPr>
              <a:cxnSpLocks/>
              <a:stCxn id="78" idx="5"/>
              <a:endCxn id="73" idx="0"/>
            </p:cNvCxnSpPr>
            <p:nvPr/>
          </p:nvCxnSpPr>
          <p:spPr>
            <a:xfrm>
              <a:off x="26963033" y="9010037"/>
              <a:ext cx="455397" cy="1483217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3FE53B7B-C883-EACC-CF35-2ED799193B26}"/>
                </a:ext>
              </a:extLst>
            </p:cNvPr>
            <p:cNvCxnSpPr>
              <a:cxnSpLocks/>
              <a:stCxn id="74" idx="5"/>
              <a:endCxn id="73" idx="1"/>
            </p:cNvCxnSpPr>
            <p:nvPr/>
          </p:nvCxnSpPr>
          <p:spPr>
            <a:xfrm>
              <a:off x="26276996" y="9901140"/>
              <a:ext cx="1012118" cy="64567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7" name="Oval 156">
              <a:extLst>
                <a:ext uri="{FF2B5EF4-FFF2-40B4-BE49-F238E27FC236}">
                  <a16:creationId xmlns:a16="http://schemas.microsoft.com/office/drawing/2014/main" id="{42D78407-DECB-7619-CCF4-E830BAB4F148}"/>
                </a:ext>
              </a:extLst>
            </p:cNvPr>
            <p:cNvSpPr/>
            <p:nvPr/>
          </p:nvSpPr>
          <p:spPr>
            <a:xfrm>
              <a:off x="27725710" y="9386575"/>
              <a:ext cx="182880" cy="18288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8" name="Straight Connector 157">
              <a:extLst>
                <a:ext uri="{FF2B5EF4-FFF2-40B4-BE49-F238E27FC236}">
                  <a16:creationId xmlns:a16="http://schemas.microsoft.com/office/drawing/2014/main" id="{E7693FC6-61A3-1CED-960A-3E40BE5955E1}"/>
                </a:ext>
              </a:extLst>
            </p:cNvPr>
            <p:cNvCxnSpPr>
              <a:cxnSpLocks/>
              <a:stCxn id="78" idx="6"/>
              <a:endCxn id="157" idx="1"/>
            </p:cNvCxnSpPr>
            <p:nvPr/>
          </p:nvCxnSpPr>
          <p:spPr>
            <a:xfrm>
              <a:off x="27016597" y="8880721"/>
              <a:ext cx="735895" cy="53263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99119558-F4D2-9018-1B51-2DA24BC87B5D}"/>
                </a:ext>
              </a:extLst>
            </p:cNvPr>
            <p:cNvCxnSpPr>
              <a:cxnSpLocks/>
              <a:stCxn id="157" idx="4"/>
              <a:endCxn id="73" idx="7"/>
            </p:cNvCxnSpPr>
            <p:nvPr/>
          </p:nvCxnSpPr>
          <p:spPr>
            <a:xfrm flipH="1">
              <a:off x="27547746" y="9569455"/>
              <a:ext cx="269404" cy="977363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Straight Connector 163">
              <a:extLst>
                <a:ext uri="{FF2B5EF4-FFF2-40B4-BE49-F238E27FC236}">
                  <a16:creationId xmlns:a16="http://schemas.microsoft.com/office/drawing/2014/main" id="{713FC9A2-EAB7-E544-3C33-C65B1230B7A9}"/>
                </a:ext>
              </a:extLst>
            </p:cNvPr>
            <p:cNvCxnSpPr>
              <a:cxnSpLocks/>
              <a:stCxn id="78" idx="1"/>
              <a:endCxn id="167" idx="6"/>
            </p:cNvCxnSpPr>
            <p:nvPr/>
          </p:nvCxnSpPr>
          <p:spPr>
            <a:xfrm flipH="1" flipV="1">
              <a:off x="26169732" y="8605184"/>
              <a:ext cx="534669" cy="146221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7" name="Oval 166">
              <a:extLst>
                <a:ext uri="{FF2B5EF4-FFF2-40B4-BE49-F238E27FC236}">
                  <a16:creationId xmlns:a16="http://schemas.microsoft.com/office/drawing/2014/main" id="{40BD1D2E-22B7-7833-7696-A293B9DE7396}"/>
                </a:ext>
              </a:extLst>
            </p:cNvPr>
            <p:cNvSpPr/>
            <p:nvPr/>
          </p:nvSpPr>
          <p:spPr>
            <a:xfrm>
              <a:off x="26078292" y="8559464"/>
              <a:ext cx="91440" cy="9144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0" name="Oval 169">
              <a:extLst>
                <a:ext uri="{FF2B5EF4-FFF2-40B4-BE49-F238E27FC236}">
                  <a16:creationId xmlns:a16="http://schemas.microsoft.com/office/drawing/2014/main" id="{5D846813-DE8E-01C6-4D17-5480C8C2DCA3}"/>
                </a:ext>
              </a:extLst>
            </p:cNvPr>
            <p:cNvSpPr/>
            <p:nvPr/>
          </p:nvSpPr>
          <p:spPr>
            <a:xfrm>
              <a:off x="26738585" y="10161610"/>
              <a:ext cx="182880" cy="18288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1" name="Straight Connector 170">
              <a:extLst>
                <a:ext uri="{FF2B5EF4-FFF2-40B4-BE49-F238E27FC236}">
                  <a16:creationId xmlns:a16="http://schemas.microsoft.com/office/drawing/2014/main" id="{74276BD0-F9DA-0746-A296-15F7E5DDD618}"/>
                </a:ext>
              </a:extLst>
            </p:cNvPr>
            <p:cNvCxnSpPr>
              <a:cxnSpLocks/>
              <a:stCxn id="170" idx="3"/>
              <a:endCxn id="175" idx="0"/>
            </p:cNvCxnSpPr>
            <p:nvPr/>
          </p:nvCxnSpPr>
          <p:spPr>
            <a:xfrm flipH="1">
              <a:off x="26443612" y="10317708"/>
              <a:ext cx="321755" cy="50816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5" name="Oval 174">
              <a:extLst>
                <a:ext uri="{FF2B5EF4-FFF2-40B4-BE49-F238E27FC236}">
                  <a16:creationId xmlns:a16="http://schemas.microsoft.com/office/drawing/2014/main" id="{115FC243-DD34-D4EF-76B2-1B2D6F89B2CC}"/>
                </a:ext>
              </a:extLst>
            </p:cNvPr>
            <p:cNvSpPr/>
            <p:nvPr/>
          </p:nvSpPr>
          <p:spPr>
            <a:xfrm>
              <a:off x="26411608" y="10825877"/>
              <a:ext cx="64008" cy="64008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17FE7864-8E46-DD64-79BB-170C85B1E717}"/>
                </a:ext>
              </a:extLst>
            </p:cNvPr>
            <p:cNvSpPr txBox="1"/>
            <p:nvPr/>
          </p:nvSpPr>
          <p:spPr>
            <a:xfrm>
              <a:off x="25679400" y="8951972"/>
              <a:ext cx="628698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i="1" dirty="0" err="1"/>
                <a:t>w</a:t>
              </a:r>
              <a:r>
                <a:rPr lang="en-US" sz="3200" b="1" i="1" baseline="-25000" dirty="0" err="1"/>
                <a:t>ij</a:t>
              </a:r>
              <a:endParaRPr lang="en-US" sz="3200" b="1" i="1" baseline="-25000" dirty="0"/>
            </a:p>
          </p:txBody>
        </p:sp>
        <p:sp>
          <p:nvSpPr>
            <p:cNvPr id="180" name="TextBox 179">
              <a:extLst>
                <a:ext uri="{FF2B5EF4-FFF2-40B4-BE49-F238E27FC236}">
                  <a16:creationId xmlns:a16="http://schemas.microsoft.com/office/drawing/2014/main" id="{B0F6A7EE-488E-F511-1116-88D809B0994F}"/>
                </a:ext>
              </a:extLst>
            </p:cNvPr>
            <p:cNvSpPr txBox="1"/>
            <p:nvPr/>
          </p:nvSpPr>
          <p:spPr>
            <a:xfrm>
              <a:off x="26993944" y="8483025"/>
              <a:ext cx="28565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i="1" dirty="0" err="1"/>
                <a:t>i</a:t>
              </a:r>
              <a:endParaRPr lang="en-US" sz="3200" b="1" i="1" baseline="-25000" dirty="0"/>
            </a:p>
          </p:txBody>
        </p:sp>
        <p:sp>
          <p:nvSpPr>
            <p:cNvPr id="181" name="TextBox 180">
              <a:extLst>
                <a:ext uri="{FF2B5EF4-FFF2-40B4-BE49-F238E27FC236}">
                  <a16:creationId xmlns:a16="http://schemas.microsoft.com/office/drawing/2014/main" id="{EB40F234-F35C-9AB0-9CA8-217AAC0BCFA9}"/>
                </a:ext>
              </a:extLst>
            </p:cNvPr>
            <p:cNvSpPr txBox="1"/>
            <p:nvPr/>
          </p:nvSpPr>
          <p:spPr>
            <a:xfrm flipH="1">
              <a:off x="26279718" y="9556238"/>
              <a:ext cx="39028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b="1" i="1" dirty="0"/>
                <a:t>j</a:t>
              </a:r>
              <a:endParaRPr lang="en-US" sz="3200" b="1" i="1" baseline="-25000" dirty="0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9AA0573C-21EF-7F66-8029-ABE1485B6E24}"/>
                  </a:ext>
                </a:extLst>
              </p:cNvPr>
              <p:cNvSpPr txBox="1"/>
              <p:nvPr/>
            </p:nvSpPr>
            <p:spPr>
              <a:xfrm>
                <a:off x="22860000" y="17110264"/>
                <a:ext cx="5190725" cy="201593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5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54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en-US" sz="5400" b="1" i="1" smtClean="0">
                              <a:latin typeface="Cambria Math" panose="02040503050406030204" pitchFamily="18" charset="0"/>
                            </a:rPr>
                            <m:t>𝑩</m:t>
                          </m:r>
                        </m:sub>
                      </m:sSub>
                      <m:r>
                        <a:rPr lang="en-US" sz="5400" b="1" i="1" smtClean="0">
                          <a:latin typeface="Cambria Math" panose="02040503050406030204" pitchFamily="18" charset="0"/>
                        </a:rPr>
                        <m:t>= 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5400" b="1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5400" b="1" i="1" smtClean="0">
                              <a:latin typeface="Cambria Math" panose="02040503050406030204" pitchFamily="18" charset="0"/>
                            </a:rPr>
                            <m:t>𝒔</m:t>
                          </m:r>
                          <m:r>
                            <a:rPr lang="en-US" sz="5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≠</m:t>
                          </m:r>
                          <m:r>
                            <a:rPr lang="en-US" sz="5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𝒕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en-US" sz="5400" b="1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5400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5400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𝝈</m:t>
                                  </m:r>
                                </m:e>
                                <m:sub>
                                  <m:r>
                                    <a:rPr lang="en-US" sz="5400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𝒔𝒕</m:t>
                                  </m:r>
                                </m:sub>
                              </m:sSub>
                              <m:r>
                                <a:rPr lang="en-US" sz="5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5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𝒆</m:t>
                              </m:r>
                              <m:r>
                                <a:rPr lang="en-US" sz="5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sz="54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54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𝝈</m:t>
                                  </m:r>
                                </m:e>
                                <m:sub>
                                  <m:r>
                                    <a:rPr lang="en-US" sz="54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𝒔𝒕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  <m:r>
                        <a:rPr lang="en-US" sz="5400" b="1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5400" b="1" dirty="0"/>
              </a:p>
            </p:txBody>
          </p:sp>
        </mc:Choice>
        <mc:Fallback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9AA0573C-21EF-7F66-8029-ABE1485B6E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60000" y="17110264"/>
                <a:ext cx="5190725" cy="2015936"/>
              </a:xfrm>
              <a:prstGeom prst="rect">
                <a:avLst/>
              </a:prstGeom>
              <a:blipFill>
                <a:blip r:embed="rId6"/>
                <a:stretch>
                  <a:fillRect l="-11736" t="-147500" r="-3912" b="-20375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4" name="TextBox 183">
                <a:extLst>
                  <a:ext uri="{FF2B5EF4-FFF2-40B4-BE49-F238E27FC236}">
                    <a16:creationId xmlns:a16="http://schemas.microsoft.com/office/drawing/2014/main" id="{717170D9-81EE-CCB9-711D-BC578DC3A4B0}"/>
                  </a:ext>
                </a:extLst>
              </p:cNvPr>
              <p:cNvSpPr txBox="1"/>
              <p:nvPr/>
            </p:nvSpPr>
            <p:spPr>
              <a:xfrm>
                <a:off x="22581177" y="19812000"/>
                <a:ext cx="5723527" cy="707886"/>
              </a:xfrm>
              <a:prstGeom prst="rect">
                <a:avLst/>
              </a:prstGeom>
              <a:noFill/>
              <a:ln>
                <a:solidFill>
                  <a:schemeClr val="tx2">
                    <a:lumMod val="25000"/>
                    <a:lumOff val="7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sz="2000" i="1">
                            <a:ea typeface="Cambria Math" panose="02040503050406030204" pitchFamily="18" charset="0"/>
                          </a:rPr>
                          <m:t>𝑠𝑡</m:t>
                        </m:r>
                      </m:sub>
                    </m:sSub>
                  </m:oMath>
                </a14:m>
                <a:r>
                  <a:rPr lang="en-US" sz="2000" dirty="0"/>
                  <a:t>: number of shortest paths between nodes </a:t>
                </a:r>
                <a:r>
                  <a:rPr lang="en-US" sz="2000" i="1" dirty="0"/>
                  <a:t>s</a:t>
                </a:r>
                <a:r>
                  <a:rPr lang="en-US" sz="2000" dirty="0"/>
                  <a:t> and </a:t>
                </a:r>
                <a:r>
                  <a:rPr lang="en-US" sz="2000" i="1" dirty="0"/>
                  <a:t>t</a:t>
                </a:r>
                <a:endParaRPr lang="en-US" sz="2000" i="1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sz="2000" i="1">
                            <a:ea typeface="Cambria Math" panose="02040503050406030204" pitchFamily="18" charset="0"/>
                          </a:rPr>
                          <m:t>𝑠𝑡</m:t>
                        </m:r>
                      </m:sub>
                    </m:sSub>
                    <m:r>
                      <a:rPr lang="en-US" sz="2000" i="1"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ea typeface="Cambria Math" panose="02040503050406030204" pitchFamily="18" charset="0"/>
                      </a:rPr>
                      <m:t>𝑒</m:t>
                    </m:r>
                    <m:r>
                      <a:rPr lang="en-US" sz="2000" i="1"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: number of those paths that include edge </a:t>
                </a:r>
                <a:r>
                  <a:rPr lang="en-US" sz="2000" i="1" dirty="0"/>
                  <a:t>e</a:t>
                </a:r>
              </a:p>
            </p:txBody>
          </p:sp>
        </mc:Choice>
        <mc:Fallback>
          <p:sp>
            <p:nvSpPr>
              <p:cNvPr id="184" name="TextBox 183">
                <a:extLst>
                  <a:ext uri="{FF2B5EF4-FFF2-40B4-BE49-F238E27FC236}">
                    <a16:creationId xmlns:a16="http://schemas.microsoft.com/office/drawing/2014/main" id="{717170D9-81EE-CCB9-711D-BC578DC3A4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581177" y="19812000"/>
                <a:ext cx="5723527" cy="707886"/>
              </a:xfrm>
              <a:prstGeom prst="rect">
                <a:avLst/>
              </a:prstGeom>
              <a:blipFill>
                <a:blip r:embed="rId7"/>
                <a:stretch>
                  <a:fillRect t="-3448" b="-12069"/>
                </a:stretch>
              </a:blipFill>
              <a:ln>
                <a:solidFill>
                  <a:schemeClr val="tx2">
                    <a:lumMod val="25000"/>
                    <a:lumOff val="7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1" name="TextBox 230">
            <a:extLst>
              <a:ext uri="{FF2B5EF4-FFF2-40B4-BE49-F238E27FC236}">
                <a16:creationId xmlns:a16="http://schemas.microsoft.com/office/drawing/2014/main" id="{2A0A228C-73D4-9E19-3FDA-424A059F4C50}"/>
              </a:ext>
            </a:extLst>
          </p:cNvPr>
          <p:cNvSpPr txBox="1"/>
          <p:nvPr/>
        </p:nvSpPr>
        <p:spPr>
          <a:xfrm>
            <a:off x="21443244" y="22677329"/>
            <a:ext cx="65" cy="132343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  <p:grpSp>
        <p:nvGrpSpPr>
          <p:cNvPr id="235" name="Group 234">
            <a:extLst>
              <a:ext uri="{FF2B5EF4-FFF2-40B4-BE49-F238E27FC236}">
                <a16:creationId xmlns:a16="http://schemas.microsoft.com/office/drawing/2014/main" id="{2AFF4315-5835-9854-5845-CFBE85698F3A}"/>
              </a:ext>
            </a:extLst>
          </p:cNvPr>
          <p:cNvGrpSpPr/>
          <p:nvPr/>
        </p:nvGrpSpPr>
        <p:grpSpPr>
          <a:xfrm>
            <a:off x="23727237" y="29335112"/>
            <a:ext cx="3957936" cy="2558021"/>
            <a:chOff x="24129384" y="22400418"/>
            <a:chExt cx="3957936" cy="2558021"/>
          </a:xfrm>
        </p:grpSpPr>
        <p:sp>
          <p:nvSpPr>
            <p:cNvPr id="188" name="Oval 187">
              <a:extLst>
                <a:ext uri="{FF2B5EF4-FFF2-40B4-BE49-F238E27FC236}">
                  <a16:creationId xmlns:a16="http://schemas.microsoft.com/office/drawing/2014/main" id="{1743F8F2-BC43-8FA3-46E3-D8CF39B1B34A}"/>
                </a:ext>
              </a:extLst>
            </p:cNvPr>
            <p:cNvSpPr/>
            <p:nvPr/>
          </p:nvSpPr>
          <p:spPr>
            <a:xfrm>
              <a:off x="25725120" y="22400418"/>
              <a:ext cx="274320" cy="27432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9" name="Oval 188">
              <a:extLst>
                <a:ext uri="{FF2B5EF4-FFF2-40B4-BE49-F238E27FC236}">
                  <a16:creationId xmlns:a16="http://schemas.microsoft.com/office/drawing/2014/main" id="{9E06C1C2-DDA5-10E1-F2B7-2101A5586F57}"/>
                </a:ext>
              </a:extLst>
            </p:cNvPr>
            <p:cNvSpPr/>
            <p:nvPr/>
          </p:nvSpPr>
          <p:spPr>
            <a:xfrm>
              <a:off x="26189050" y="23210519"/>
              <a:ext cx="274320" cy="27432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0" name="Oval 189">
              <a:extLst>
                <a:ext uri="{FF2B5EF4-FFF2-40B4-BE49-F238E27FC236}">
                  <a16:creationId xmlns:a16="http://schemas.microsoft.com/office/drawing/2014/main" id="{14391F1B-9FD5-8E86-A309-023F373E0277}"/>
                </a:ext>
              </a:extLst>
            </p:cNvPr>
            <p:cNvSpPr/>
            <p:nvPr/>
          </p:nvSpPr>
          <p:spPr>
            <a:xfrm>
              <a:off x="26646845" y="23958144"/>
              <a:ext cx="274320" cy="27432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1" name="Oval 190">
              <a:extLst>
                <a:ext uri="{FF2B5EF4-FFF2-40B4-BE49-F238E27FC236}">
                  <a16:creationId xmlns:a16="http://schemas.microsoft.com/office/drawing/2014/main" id="{90CE3B07-7F3E-50E8-9629-BB6CE9CBA52F}"/>
                </a:ext>
              </a:extLst>
            </p:cNvPr>
            <p:cNvSpPr/>
            <p:nvPr/>
          </p:nvSpPr>
          <p:spPr>
            <a:xfrm>
              <a:off x="27052670" y="24481616"/>
              <a:ext cx="274320" cy="27432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2" name="Oval 191">
              <a:extLst>
                <a:ext uri="{FF2B5EF4-FFF2-40B4-BE49-F238E27FC236}">
                  <a16:creationId xmlns:a16="http://schemas.microsoft.com/office/drawing/2014/main" id="{E858DB71-591D-1064-D9AA-2CC8B70950A3}"/>
                </a:ext>
              </a:extLst>
            </p:cNvPr>
            <p:cNvSpPr/>
            <p:nvPr/>
          </p:nvSpPr>
          <p:spPr>
            <a:xfrm>
              <a:off x="27813000" y="24684119"/>
              <a:ext cx="274320" cy="27432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3A102B93-61E9-3A23-9F45-74C11B93465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7235550" y="24684119"/>
              <a:ext cx="757839" cy="127968"/>
            </a:xfrm>
            <a:prstGeom prst="line">
              <a:avLst/>
            </a:prstGeom>
            <a:ln w="508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Straight Connector 194">
              <a:extLst>
                <a:ext uri="{FF2B5EF4-FFF2-40B4-BE49-F238E27FC236}">
                  <a16:creationId xmlns:a16="http://schemas.microsoft.com/office/drawing/2014/main" id="{C0F3EEB7-7AE7-D294-7030-DD2E96D8E86E}"/>
                </a:ext>
              </a:extLst>
            </p:cNvPr>
            <p:cNvCxnSpPr>
              <a:cxnSpLocks/>
              <a:stCxn id="191" idx="5"/>
            </p:cNvCxnSpPr>
            <p:nvPr/>
          </p:nvCxnSpPr>
          <p:spPr>
            <a:xfrm flipH="1" flipV="1">
              <a:off x="26746200" y="24077990"/>
              <a:ext cx="540617" cy="637773"/>
            </a:xfrm>
            <a:prstGeom prst="line">
              <a:avLst/>
            </a:prstGeom>
            <a:ln w="508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Straight Connector 197">
              <a:extLst>
                <a:ext uri="{FF2B5EF4-FFF2-40B4-BE49-F238E27FC236}">
                  <a16:creationId xmlns:a16="http://schemas.microsoft.com/office/drawing/2014/main" id="{E63B81F8-E38D-EB46-9E2A-29C1BC3685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6317169" y="23317200"/>
              <a:ext cx="429031" cy="762000"/>
            </a:xfrm>
            <a:prstGeom prst="line">
              <a:avLst/>
            </a:prstGeom>
            <a:ln w="508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Straight Connector 199">
              <a:extLst>
                <a:ext uri="{FF2B5EF4-FFF2-40B4-BE49-F238E27FC236}">
                  <a16:creationId xmlns:a16="http://schemas.microsoft.com/office/drawing/2014/main" id="{DCAC70D3-A6F8-D519-C12C-88EC53D2296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5863232" y="22555200"/>
              <a:ext cx="453937" cy="762000"/>
            </a:xfrm>
            <a:prstGeom prst="line">
              <a:avLst/>
            </a:prstGeom>
            <a:ln w="508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Straight Connector 221">
              <a:extLst>
                <a:ext uri="{FF2B5EF4-FFF2-40B4-BE49-F238E27FC236}">
                  <a16:creationId xmlns:a16="http://schemas.microsoft.com/office/drawing/2014/main" id="{493D3F47-5018-393F-C117-A8924D3BB356}"/>
                </a:ext>
              </a:extLst>
            </p:cNvPr>
            <p:cNvCxnSpPr>
              <a:cxnSpLocks/>
            </p:cNvCxnSpPr>
            <p:nvPr/>
          </p:nvCxnSpPr>
          <p:spPr>
            <a:xfrm>
              <a:off x="24337462" y="24010489"/>
              <a:ext cx="662995" cy="433846"/>
            </a:xfrm>
            <a:prstGeom prst="line">
              <a:avLst/>
            </a:prstGeom>
            <a:ln w="508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Straight Connector 223">
              <a:extLst>
                <a:ext uri="{FF2B5EF4-FFF2-40B4-BE49-F238E27FC236}">
                  <a16:creationId xmlns:a16="http://schemas.microsoft.com/office/drawing/2014/main" id="{CFEAAF9C-6080-50F8-6E3F-D277E27372E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4129384" y="23169135"/>
              <a:ext cx="208078" cy="849750"/>
            </a:xfrm>
            <a:prstGeom prst="line">
              <a:avLst/>
            </a:prstGeom>
            <a:ln w="508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1" name="Text Box 180"/>
          <p:cNvSpPr txBox="1">
            <a:spLocks noChangeArrowheads="1"/>
          </p:cNvSpPr>
          <p:nvPr/>
        </p:nvSpPr>
        <p:spPr bwMode="auto">
          <a:xfrm>
            <a:off x="1828797" y="25802686"/>
            <a:ext cx="12128735" cy="18158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 lvl="0" eaLnBrk="1" hangingPunct="1"/>
            <a:r>
              <a:rPr lang="en-US" sz="2800" b="1" dirty="0">
                <a:latin typeface="Calibri" pitchFamily="34" charset="0"/>
              </a:rPr>
              <a:t>Figure 2.</a:t>
            </a:r>
            <a:r>
              <a:rPr lang="en-US" sz="2800" dirty="0">
                <a:latin typeface="Calibri" pitchFamily="34" charset="0"/>
              </a:rPr>
              <a:t> </a:t>
            </a:r>
            <a:r>
              <a:rPr lang="en-US" sz="2800" b="1" dirty="0">
                <a:latin typeface="Calibri" pitchFamily="34" charset="0"/>
              </a:rPr>
              <a:t>Sample images of settled piles. </a:t>
            </a:r>
            <a:r>
              <a:rPr lang="en-US" sz="2800" dirty="0">
                <a:latin typeface="Calibri" pitchFamily="34" charset="0"/>
              </a:rPr>
              <a:t>Poured hard particles (D=1.00mm) settle into a stable pile under gravity and different friction coefficients. Low friction, medium friction, high friction -piles. </a:t>
            </a:r>
            <a:r>
              <a:rPr lang="en-US" sz="2800" dirty="0">
                <a:solidFill>
                  <a:prstClr val="black"/>
                </a:solidFill>
                <a:latin typeface="Calibri"/>
              </a:rPr>
              <a:t>Darker colors represent larger force magnitude.</a:t>
            </a:r>
          </a:p>
        </p:txBody>
      </p:sp>
      <p:sp>
        <p:nvSpPr>
          <p:cNvPr id="241" name="Rectangle 240">
            <a:extLst>
              <a:ext uri="{FF2B5EF4-FFF2-40B4-BE49-F238E27FC236}">
                <a16:creationId xmlns:a16="http://schemas.microsoft.com/office/drawing/2014/main" id="{7230B787-049B-2C15-572C-BEDE475F59BD}"/>
              </a:ext>
            </a:extLst>
          </p:cNvPr>
          <p:cNvSpPr/>
          <p:nvPr/>
        </p:nvSpPr>
        <p:spPr>
          <a:xfrm>
            <a:off x="29235400" y="6400800"/>
            <a:ext cx="12801600" cy="914400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b="1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Force-Chain Geometry and Distribution</a:t>
            </a:r>
          </a:p>
        </p:txBody>
      </p:sp>
      <p:pic>
        <p:nvPicPr>
          <p:cNvPr id="247" name="Picture 246">
            <a:extLst>
              <a:ext uri="{FF2B5EF4-FFF2-40B4-BE49-F238E27FC236}">
                <a16:creationId xmlns:a16="http://schemas.microsoft.com/office/drawing/2014/main" id="{156156B7-96B5-216E-9AA8-D0EA4EA4B3C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1306" y="16875161"/>
            <a:ext cx="6617864" cy="3044218"/>
          </a:xfrm>
          <a:prstGeom prst="rect">
            <a:avLst/>
          </a:prstGeom>
        </p:spPr>
      </p:pic>
      <p:sp>
        <p:nvSpPr>
          <p:cNvPr id="249" name="Text Box 180">
            <a:extLst>
              <a:ext uri="{FF2B5EF4-FFF2-40B4-BE49-F238E27FC236}">
                <a16:creationId xmlns:a16="http://schemas.microsoft.com/office/drawing/2014/main" id="{2D71BB4B-DD10-507E-8356-1F49B57C370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12699" y="19882820"/>
            <a:ext cx="12801599" cy="1384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sz="2800" b="1" dirty="0">
                <a:latin typeface="Calibri" pitchFamily="34" charset="0"/>
              </a:rPr>
              <a:t>Figure 1.</a:t>
            </a:r>
            <a:r>
              <a:rPr lang="en-US" sz="2800" b="1" dirty="0">
                <a:solidFill>
                  <a:prstClr val="black"/>
                </a:solidFill>
                <a:latin typeface="Calibri"/>
              </a:rPr>
              <a:t> Friction Modes (Santos et al., 2021). </a:t>
            </a:r>
            <a:r>
              <a:rPr lang="en-US" sz="2800" dirty="0">
                <a:solidFill>
                  <a:prstClr val="black"/>
                </a:solidFill>
                <a:latin typeface="Calibri"/>
              </a:rPr>
              <a:t>Sliding, rolling, and twisting (left to right) </a:t>
            </a:r>
          </a:p>
          <a:p>
            <a:pPr eaLnBrk="1" hangingPunct="1"/>
            <a:endParaRPr lang="en-US" sz="2800" dirty="0">
              <a:latin typeface="Calibri" pitchFamily="34" charset="0"/>
            </a:endParaRPr>
          </a:p>
        </p:txBody>
      </p:sp>
      <p:sp>
        <p:nvSpPr>
          <p:cNvPr id="252" name="TextBox 251">
            <a:extLst>
              <a:ext uri="{FF2B5EF4-FFF2-40B4-BE49-F238E27FC236}">
                <a16:creationId xmlns:a16="http://schemas.microsoft.com/office/drawing/2014/main" id="{23066E16-C2D2-1F28-C302-BC946ACEF55B}"/>
              </a:ext>
            </a:extLst>
          </p:cNvPr>
          <p:cNvSpPr txBox="1"/>
          <p:nvPr/>
        </p:nvSpPr>
        <p:spPr>
          <a:xfrm>
            <a:off x="21445537" y="22689147"/>
            <a:ext cx="250068" cy="132343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4" name="TextBox 253">
                <a:extLst>
                  <a:ext uri="{FF2B5EF4-FFF2-40B4-BE49-F238E27FC236}">
                    <a16:creationId xmlns:a16="http://schemas.microsoft.com/office/drawing/2014/main" id="{9E8EB363-A892-85B1-B87A-CF5E6590CD28}"/>
                  </a:ext>
                </a:extLst>
              </p:cNvPr>
              <p:cNvSpPr txBox="1"/>
              <p:nvPr/>
            </p:nvSpPr>
            <p:spPr>
              <a:xfrm>
                <a:off x="23779014" y="25886562"/>
                <a:ext cx="3427462" cy="114563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800" b="0" i="0" smtClean="0">
                              <a:latin typeface="Cambria Math" panose="02040503050406030204" pitchFamily="18" charset="0"/>
                            </a:rPr>
                            <m:t>arg</m:t>
                          </m:r>
                        </m:fName>
                        <m:e>
                          <m:func>
                            <m:func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∑"/>
                                      <m:supHide m:val="on"/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m:rPr>
                                          <m:brk m:alnAt="7"/>
                                        </m:rP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  <m:sup/>
                                    <m:e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𝛽</m:t>
                                      </m:r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</m:nary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254" name="TextBox 253">
                <a:extLst>
                  <a:ext uri="{FF2B5EF4-FFF2-40B4-BE49-F238E27FC236}">
                    <a16:creationId xmlns:a16="http://schemas.microsoft.com/office/drawing/2014/main" id="{9E8EB363-A892-85B1-B87A-CF5E6590CD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79014" y="25886562"/>
                <a:ext cx="3427462" cy="1145635"/>
              </a:xfrm>
              <a:prstGeom prst="rect">
                <a:avLst/>
              </a:prstGeom>
              <a:blipFill>
                <a:blip r:embed="rId9"/>
                <a:stretch>
                  <a:fillRect l="-2214" t="-126374" b="-1835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8" name="TextBox 257">
            <a:extLst>
              <a:ext uri="{FF2B5EF4-FFF2-40B4-BE49-F238E27FC236}">
                <a16:creationId xmlns:a16="http://schemas.microsoft.com/office/drawing/2014/main" id="{D5B10D24-EAAB-0942-CD2F-2A7AB22516F0}"/>
              </a:ext>
            </a:extLst>
          </p:cNvPr>
          <p:cNvSpPr txBox="1"/>
          <p:nvPr/>
        </p:nvSpPr>
        <p:spPr>
          <a:xfrm>
            <a:off x="23966283" y="26913026"/>
            <a:ext cx="326006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i="1" dirty="0"/>
              <a:t>C</a:t>
            </a:r>
            <a:r>
              <a:rPr lang="en-US" sz="1800" i="1" baseline="-25000" dirty="0"/>
              <a:t>i</a:t>
            </a:r>
            <a:r>
              <a:rPr lang="en-US" sz="1800" i="1" dirty="0"/>
              <a:t> : </a:t>
            </a:r>
            <a:r>
              <a:rPr lang="en-US" sz="1800" dirty="0"/>
              <a:t>fitting error of segment </a:t>
            </a:r>
            <a:endParaRPr lang="en-US" sz="1800" i="1" dirty="0"/>
          </a:p>
          <a:p>
            <a:r>
              <a:rPr lang="en-US" sz="1800" i="1" dirty="0"/>
              <a:t>k: </a:t>
            </a:r>
            <a:r>
              <a:rPr lang="en-US" sz="1800" dirty="0"/>
              <a:t>number of change points</a:t>
            </a:r>
            <a:endParaRPr lang="en-US" sz="1800" i="1" dirty="0"/>
          </a:p>
          <a:p>
            <a:r>
              <a:rPr lang="en-US" sz="1800" i="1" dirty="0"/>
              <a:t>β: </a:t>
            </a:r>
            <a:r>
              <a:rPr lang="en-US" sz="1800" dirty="0"/>
              <a:t>penalty for over segmentation</a:t>
            </a:r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5B7BDB9E-1ABA-838F-612A-FB7A1CC4DED6}"/>
              </a:ext>
            </a:extLst>
          </p:cNvPr>
          <p:cNvSpPr txBox="1"/>
          <p:nvPr/>
        </p:nvSpPr>
        <p:spPr>
          <a:xfrm>
            <a:off x="16495444" y="12625820"/>
            <a:ext cx="27443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Edge weight: </a:t>
            </a:r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B46AFFA3-B944-7E02-E68A-8EB214377E30}"/>
              </a:ext>
            </a:extLst>
          </p:cNvPr>
          <p:cNvSpPr txBox="1"/>
          <p:nvPr/>
        </p:nvSpPr>
        <p:spPr>
          <a:xfrm>
            <a:off x="24205254" y="30877747"/>
            <a:ext cx="39305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i="1" dirty="0"/>
              <a:t>e</a:t>
            </a:r>
            <a:r>
              <a:rPr lang="en-US" sz="2000" i="1" baseline="-25000" dirty="0"/>
              <a:t>1</a:t>
            </a:r>
          </a:p>
        </p:txBody>
      </p:sp>
      <p:sp>
        <p:nvSpPr>
          <p:cNvPr id="268" name="TextBox 267">
            <a:extLst>
              <a:ext uri="{FF2B5EF4-FFF2-40B4-BE49-F238E27FC236}">
                <a16:creationId xmlns:a16="http://schemas.microsoft.com/office/drawing/2014/main" id="{6DB281ED-252B-1BAD-1C14-52FA707D21C7}"/>
              </a:ext>
            </a:extLst>
          </p:cNvPr>
          <p:cNvSpPr txBox="1"/>
          <p:nvPr/>
        </p:nvSpPr>
        <p:spPr>
          <a:xfrm>
            <a:off x="23888737" y="30268802"/>
            <a:ext cx="39305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i="1" dirty="0"/>
              <a:t>e</a:t>
            </a:r>
            <a:r>
              <a:rPr lang="en-US" sz="2000" i="1" baseline="-25000" dirty="0"/>
              <a:t>2</a:t>
            </a:r>
          </a:p>
        </p:txBody>
      </p:sp>
      <p:cxnSp>
        <p:nvCxnSpPr>
          <p:cNvPr id="275" name="Straight Connector 274">
            <a:extLst>
              <a:ext uri="{FF2B5EF4-FFF2-40B4-BE49-F238E27FC236}">
                <a16:creationId xmlns:a16="http://schemas.microsoft.com/office/drawing/2014/main" id="{E25DC0FA-6057-1DBD-D801-98BE49E43034}"/>
              </a:ext>
            </a:extLst>
          </p:cNvPr>
          <p:cNvCxnSpPr>
            <a:cxnSpLocks/>
          </p:cNvCxnSpPr>
          <p:nvPr/>
        </p:nvCxnSpPr>
        <p:spPr>
          <a:xfrm>
            <a:off x="23194162" y="30518432"/>
            <a:ext cx="755760" cy="484690"/>
          </a:xfrm>
          <a:prstGeom prst="line">
            <a:avLst/>
          </a:prstGeom>
          <a:ln w="25400">
            <a:solidFill>
              <a:schemeClr val="tx2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8" name="TextBox 277">
            <a:extLst>
              <a:ext uri="{FF2B5EF4-FFF2-40B4-BE49-F238E27FC236}">
                <a16:creationId xmlns:a16="http://schemas.microsoft.com/office/drawing/2014/main" id="{4AE6D576-759F-5371-A96D-4A6398DEA7A0}"/>
              </a:ext>
            </a:extLst>
          </p:cNvPr>
          <p:cNvSpPr txBox="1"/>
          <p:nvPr/>
        </p:nvSpPr>
        <p:spPr>
          <a:xfrm>
            <a:off x="23544140" y="30392148"/>
            <a:ext cx="62933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2000" dirty="0"/>
              <a:t>θ</a:t>
            </a:r>
            <a:endParaRPr lang="en-US" sz="2000" dirty="0"/>
          </a:p>
        </p:txBody>
      </p:sp>
      <p:sp>
        <p:nvSpPr>
          <p:cNvPr id="284" name="Arc 283">
            <a:extLst>
              <a:ext uri="{FF2B5EF4-FFF2-40B4-BE49-F238E27FC236}">
                <a16:creationId xmlns:a16="http://schemas.microsoft.com/office/drawing/2014/main" id="{D3561A51-1A15-4538-6813-33FD0C61E47C}"/>
              </a:ext>
            </a:extLst>
          </p:cNvPr>
          <p:cNvSpPr/>
          <p:nvPr/>
        </p:nvSpPr>
        <p:spPr>
          <a:xfrm rot="16042752">
            <a:off x="23486009" y="30302734"/>
            <a:ext cx="631213" cy="688095"/>
          </a:xfrm>
          <a:prstGeom prst="arc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9" name="Rectangle 3">
            <a:extLst>
              <a:ext uri="{FF2B5EF4-FFF2-40B4-BE49-F238E27FC236}">
                <a16:creationId xmlns:a16="http://schemas.microsoft.com/office/drawing/2014/main" id="{7FED68DB-F179-0E64-F070-BB2AB9D094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438912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9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var(--jp-code-font-family)"/>
              </a:rPr>
            </a:br>
            <a:r>
              <a:rPr kumimoji="0" lang="en-US" altLang="en-US" sz="9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var(--jp-code-font-family)"/>
              </a:rPr>
              <a:t>Saved: edges_with_neff_knee_pelt_labels.csv knee_backbone_edges_only.csv pelt_backbone_edges_only.csv Saved figures: threshold_comparison_rank_plot.png threshold_comparison_logB_plot.png knee_detection_diagnostic.png threshold_cumulative_importance.png knee_backbone_force_vs_B.png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92" name="TextBox 291">
            <a:extLst>
              <a:ext uri="{FF2B5EF4-FFF2-40B4-BE49-F238E27FC236}">
                <a16:creationId xmlns:a16="http://schemas.microsoft.com/office/drawing/2014/main" id="{3CC4373E-A3EF-9532-0FD6-76A871F50C9B}"/>
              </a:ext>
            </a:extLst>
          </p:cNvPr>
          <p:cNvSpPr txBox="1"/>
          <p:nvPr/>
        </p:nvSpPr>
        <p:spPr>
          <a:xfrm>
            <a:off x="22958043" y="25509557"/>
            <a:ext cx="53466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Threshold using PELT.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93" name="TextBox 292">
                <a:extLst>
                  <a:ext uri="{FF2B5EF4-FFF2-40B4-BE49-F238E27FC236}">
                    <a16:creationId xmlns:a16="http://schemas.microsoft.com/office/drawing/2014/main" id="{EE81696A-4134-12B5-6880-063E4A5643F7}"/>
                  </a:ext>
                </a:extLst>
              </p:cNvPr>
              <p:cNvSpPr txBox="1"/>
              <p:nvPr/>
            </p:nvSpPr>
            <p:spPr>
              <a:xfrm>
                <a:off x="22784391" y="31851600"/>
                <a:ext cx="4781937" cy="105862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3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sSup>
                            <m:sSup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36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cos</m:t>
                              </m:r>
                            </m:e>
                            <m:sup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fName>
                        <m:e>
                          <m:d>
                            <m:dPr>
                              <m:ctrlPr>
                                <a:rPr lang="en-US" sz="3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3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sz="3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3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en-US" sz="3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sz="3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. </m:t>
                                  </m:r>
                                  <m:sSub>
                                    <m:sSubPr>
                                      <m:ctrlPr>
                                        <a:rPr lang="en-US" sz="3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3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en-US" sz="3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num>
                                <m:den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sz="3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36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36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𝑒</m:t>
                                          </m:r>
                                        </m:e>
                                        <m:sub>
                                          <m:r>
                                            <a:rPr lang="en-US" sz="36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d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sz="3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36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36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𝑒</m:t>
                                          </m:r>
                                        </m:e>
                                        <m:sub>
                                          <m:r>
                                            <a:rPr lang="en-US" sz="36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d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en-US" sz="3600" dirty="0"/>
              </a:p>
            </p:txBody>
          </p:sp>
        </mc:Choice>
        <mc:Fallback>
          <p:sp>
            <p:nvSpPr>
              <p:cNvPr id="293" name="TextBox 292">
                <a:extLst>
                  <a:ext uri="{FF2B5EF4-FFF2-40B4-BE49-F238E27FC236}">
                    <a16:creationId xmlns:a16="http://schemas.microsoft.com/office/drawing/2014/main" id="{EE81696A-4134-12B5-6880-063E4A5643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84391" y="31851600"/>
                <a:ext cx="4781937" cy="1058623"/>
              </a:xfrm>
              <a:prstGeom prst="rect">
                <a:avLst/>
              </a:prstGeom>
              <a:blipFill>
                <a:blip r:embed="rId10"/>
                <a:stretch>
                  <a:fillRect b="-95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4" name="Text Box 192">
            <a:extLst>
              <a:ext uri="{FF2B5EF4-FFF2-40B4-BE49-F238E27FC236}">
                <a16:creationId xmlns:a16="http://schemas.microsoft.com/office/drawing/2014/main" id="{59F647C9-A57D-881C-385D-A0FA0CA89DC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142448" y="34449516"/>
            <a:ext cx="6293974" cy="3955284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>
                <a:lumMod val="75000"/>
              </a:schemeClr>
            </a:solidFill>
          </a:ln>
          <a:effectLst/>
        </p:spPr>
        <p:txBody>
          <a:bodyPr lIns="182880" tIns="182880" rIns="182880" bIns="182880">
            <a:noAutofit/>
          </a:bodyPr>
          <a:lstStyle>
            <a:lvl1pPr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sz="3600" b="1" dirty="0">
                <a:latin typeface="Calibri" pitchFamily="34" charset="0"/>
              </a:rPr>
              <a:t>Betweenness method</a:t>
            </a:r>
          </a:p>
          <a:p>
            <a:pPr marL="571500" indent="-571500" eaLnBrk="1" hangingPunct="1">
              <a:buFont typeface="Arial" panose="020B0604020202020204" pitchFamily="34" charset="0"/>
              <a:buChar char="•"/>
            </a:pPr>
            <a:r>
              <a:rPr lang="en-US" sz="3600" dirty="0">
                <a:latin typeface="Calibri" pitchFamily="34" charset="0"/>
              </a:rPr>
              <a:t>Threshold: High EBC transport edges.</a:t>
            </a:r>
          </a:p>
          <a:p>
            <a:pPr marL="571500" indent="-571500" eaLnBrk="1" hangingPunct="1">
              <a:buFont typeface="Arial" panose="020B0604020202020204" pitchFamily="34" charset="0"/>
              <a:buChar char="•"/>
            </a:pPr>
            <a:r>
              <a:rPr lang="en-US" sz="3600" dirty="0">
                <a:latin typeface="Calibri" pitchFamily="34" charset="0"/>
              </a:rPr>
              <a:t>Geometric direction: chain bend alignment (&lt;45°)</a:t>
            </a:r>
          </a:p>
          <a:p>
            <a:pPr marL="571500" indent="-571500" eaLnBrk="1" hangingPunct="1">
              <a:buFont typeface="Arial" panose="020B0604020202020204" pitchFamily="34" charset="0"/>
              <a:buChar char="•"/>
            </a:pPr>
            <a:r>
              <a:rPr lang="en-US" sz="3600" dirty="0">
                <a:latin typeface="Calibri" pitchFamily="34" charset="0"/>
              </a:rPr>
              <a:t>Global network transport criterion.</a:t>
            </a:r>
          </a:p>
        </p:txBody>
      </p:sp>
      <p:sp>
        <p:nvSpPr>
          <p:cNvPr id="305" name="TextBox 304">
            <a:extLst>
              <a:ext uri="{FF2B5EF4-FFF2-40B4-BE49-F238E27FC236}">
                <a16:creationId xmlns:a16="http://schemas.microsoft.com/office/drawing/2014/main" id="{D4E39B97-1E70-4D18-F095-14C7822266FB}"/>
              </a:ext>
            </a:extLst>
          </p:cNvPr>
          <p:cNvSpPr txBox="1"/>
          <p:nvPr/>
        </p:nvSpPr>
        <p:spPr>
          <a:xfrm>
            <a:off x="15518768" y="7620000"/>
            <a:ext cx="13047354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We combine weighted edge betweenness centrality, change-point </a:t>
            </a:r>
          </a:p>
          <a:p>
            <a:r>
              <a:rPr lang="en-US" sz="3600" b="1" dirty="0"/>
              <a:t>detection, and geometric chain extraction to identify force-bearing </a:t>
            </a:r>
          </a:p>
          <a:p>
            <a:r>
              <a:rPr lang="en-US" sz="3600" b="1" dirty="0"/>
              <a:t>structures in granular piles.</a:t>
            </a:r>
          </a:p>
          <a:p>
            <a:endParaRPr lang="en-US" sz="3600" dirty="0"/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32254D60-21E0-642E-F3CF-716390B742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83914" y="22629918"/>
            <a:ext cx="4816308" cy="29873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67" name="Picture 1066">
            <a:extLst>
              <a:ext uri="{FF2B5EF4-FFF2-40B4-BE49-F238E27FC236}">
                <a16:creationId xmlns:a16="http://schemas.microsoft.com/office/drawing/2014/main" id="{5FD79467-839B-1051-7FC5-CA8F11A49015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56597" y="17983200"/>
            <a:ext cx="7772400" cy="3787188"/>
          </a:xfrm>
          <a:prstGeom prst="rect">
            <a:avLst/>
          </a:prstGeom>
        </p:spPr>
      </p:pic>
      <p:pic>
        <p:nvPicPr>
          <p:cNvPr id="1069" name="Picture 1068">
            <a:extLst>
              <a:ext uri="{FF2B5EF4-FFF2-40B4-BE49-F238E27FC236}">
                <a16:creationId xmlns:a16="http://schemas.microsoft.com/office/drawing/2014/main" id="{55D157F5-5D10-A258-7A66-4B914DCF8F95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17279" y="21759780"/>
            <a:ext cx="5156326" cy="2926081"/>
          </a:xfrm>
          <a:prstGeom prst="rect">
            <a:avLst/>
          </a:prstGeom>
        </p:spPr>
      </p:pic>
      <p:pic>
        <p:nvPicPr>
          <p:cNvPr id="1071" name="Picture 1070">
            <a:extLst>
              <a:ext uri="{FF2B5EF4-FFF2-40B4-BE49-F238E27FC236}">
                <a16:creationId xmlns:a16="http://schemas.microsoft.com/office/drawing/2014/main" id="{4EDD1DC1-08F1-5F9B-8D74-7218B907903D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03679" y="21833689"/>
            <a:ext cx="5156326" cy="3365072"/>
          </a:xfrm>
          <a:prstGeom prst="rect">
            <a:avLst/>
          </a:prstGeom>
        </p:spPr>
      </p:pic>
      <p:pic>
        <p:nvPicPr>
          <p:cNvPr id="1077" name="Picture 1076">
            <a:extLst>
              <a:ext uri="{FF2B5EF4-FFF2-40B4-BE49-F238E27FC236}">
                <a16:creationId xmlns:a16="http://schemas.microsoft.com/office/drawing/2014/main" id="{597E6169-6EFA-23CF-B248-48C1F633260C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152942" y="18462194"/>
            <a:ext cx="6438900" cy="3289300"/>
          </a:xfrm>
          <a:prstGeom prst="rect">
            <a:avLst/>
          </a:prstGeom>
        </p:spPr>
      </p:pic>
      <p:pic>
        <p:nvPicPr>
          <p:cNvPr id="1073" name="Picture 1072">
            <a:extLst>
              <a:ext uri="{FF2B5EF4-FFF2-40B4-BE49-F238E27FC236}">
                <a16:creationId xmlns:a16="http://schemas.microsoft.com/office/drawing/2014/main" id="{80EC1A8D-3546-A63D-244F-08791375C676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48251" y="20090147"/>
            <a:ext cx="1460500" cy="3543300"/>
          </a:xfrm>
          <a:prstGeom prst="rect">
            <a:avLst/>
          </a:prstGeom>
        </p:spPr>
      </p:pic>
      <p:pic>
        <p:nvPicPr>
          <p:cNvPr id="1081" name="Picture 1080">
            <a:extLst>
              <a:ext uri="{FF2B5EF4-FFF2-40B4-BE49-F238E27FC236}">
                <a16:creationId xmlns:a16="http://schemas.microsoft.com/office/drawing/2014/main" id="{277B923F-8C79-8A87-F49B-8F3ABC5DC4F4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6408" y="22092234"/>
            <a:ext cx="3251200" cy="3251200"/>
          </a:xfrm>
          <a:prstGeom prst="rect">
            <a:avLst/>
          </a:prstGeom>
        </p:spPr>
      </p:pic>
      <p:pic>
        <p:nvPicPr>
          <p:cNvPr id="1083" name="Picture 1082">
            <a:extLst>
              <a:ext uri="{FF2B5EF4-FFF2-40B4-BE49-F238E27FC236}">
                <a16:creationId xmlns:a16="http://schemas.microsoft.com/office/drawing/2014/main" id="{7D49C0B8-2AD8-F52E-F701-F8374C2B8851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7190" y="22066594"/>
            <a:ext cx="3251200" cy="3251200"/>
          </a:xfrm>
          <a:prstGeom prst="rect">
            <a:avLst/>
          </a:prstGeom>
        </p:spPr>
      </p:pic>
      <p:pic>
        <p:nvPicPr>
          <p:cNvPr id="1085" name="Picture 1084">
            <a:extLst>
              <a:ext uri="{FF2B5EF4-FFF2-40B4-BE49-F238E27FC236}">
                <a16:creationId xmlns:a16="http://schemas.microsoft.com/office/drawing/2014/main" id="{20963305-96D3-4216-AE5A-8F3D575F7DF0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8945" y="22092234"/>
            <a:ext cx="3251200" cy="3251200"/>
          </a:xfrm>
          <a:prstGeom prst="rect">
            <a:avLst/>
          </a:prstGeom>
        </p:spPr>
      </p:pic>
      <p:sp>
        <p:nvSpPr>
          <p:cNvPr id="1086" name="TextBox 1085">
            <a:extLst>
              <a:ext uri="{FF2B5EF4-FFF2-40B4-BE49-F238E27FC236}">
                <a16:creationId xmlns:a16="http://schemas.microsoft.com/office/drawing/2014/main" id="{78DC8C68-0362-A520-CE4B-5C84E6FADA4D}"/>
              </a:ext>
            </a:extLst>
          </p:cNvPr>
          <p:cNvSpPr txBox="1"/>
          <p:nvPr/>
        </p:nvSpPr>
        <p:spPr>
          <a:xfrm>
            <a:off x="11245901" y="23194078"/>
            <a:ext cx="2570512" cy="36933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800" dirty="0" err="1"/>
              <a:t>μ</a:t>
            </a:r>
            <a:r>
              <a:rPr lang="en-US" sz="1800" dirty="0"/>
              <a:t>=0.7, </a:t>
            </a:r>
            <a:r>
              <a:rPr lang="en-US" sz="1800" dirty="0" err="1"/>
              <a:t>μ</a:t>
            </a:r>
            <a:r>
              <a:rPr lang="en-US" sz="1800" baseline="-25000" dirty="0" err="1"/>
              <a:t>roll</a:t>
            </a:r>
            <a:r>
              <a:rPr lang="en-US" sz="1800" dirty="0"/>
              <a:t>=0.1, </a:t>
            </a:r>
            <a:r>
              <a:rPr lang="en-US" sz="1800" dirty="0" err="1"/>
              <a:t>μ</a:t>
            </a:r>
            <a:r>
              <a:rPr lang="en-US" sz="1800" baseline="-25000" dirty="0" err="1"/>
              <a:t>twist</a:t>
            </a:r>
            <a:r>
              <a:rPr lang="en-US" sz="1800" dirty="0"/>
              <a:t>=0.1 </a:t>
            </a:r>
          </a:p>
        </p:txBody>
      </p:sp>
      <p:sp>
        <p:nvSpPr>
          <p:cNvPr id="1087" name="TextBox 1086">
            <a:extLst>
              <a:ext uri="{FF2B5EF4-FFF2-40B4-BE49-F238E27FC236}">
                <a16:creationId xmlns:a16="http://schemas.microsoft.com/office/drawing/2014/main" id="{929BB546-2FD6-302E-2F84-16736D01380E}"/>
              </a:ext>
            </a:extLst>
          </p:cNvPr>
          <p:cNvSpPr txBox="1"/>
          <p:nvPr/>
        </p:nvSpPr>
        <p:spPr>
          <a:xfrm>
            <a:off x="7645612" y="23189872"/>
            <a:ext cx="2570512" cy="36933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800" dirty="0" err="1"/>
              <a:t>μ</a:t>
            </a:r>
            <a:r>
              <a:rPr lang="en-US" sz="1800" dirty="0"/>
              <a:t>=0.7, </a:t>
            </a:r>
            <a:r>
              <a:rPr lang="en-US" sz="1800" dirty="0" err="1"/>
              <a:t>μ</a:t>
            </a:r>
            <a:r>
              <a:rPr lang="en-US" sz="1800" baseline="-25000" dirty="0" err="1"/>
              <a:t>roll</a:t>
            </a:r>
            <a:r>
              <a:rPr lang="en-US" sz="1800" dirty="0"/>
              <a:t>=0.1, </a:t>
            </a:r>
            <a:r>
              <a:rPr lang="en-US" sz="1800" dirty="0" err="1"/>
              <a:t>μ</a:t>
            </a:r>
            <a:r>
              <a:rPr lang="en-US" sz="1800" baseline="-25000" dirty="0" err="1"/>
              <a:t>twist</a:t>
            </a:r>
            <a:r>
              <a:rPr lang="en-US" sz="1800" dirty="0"/>
              <a:t>=0.5 </a:t>
            </a:r>
          </a:p>
        </p:txBody>
      </p:sp>
      <p:sp>
        <p:nvSpPr>
          <p:cNvPr id="1088" name="TextBox 1087">
            <a:extLst>
              <a:ext uri="{FF2B5EF4-FFF2-40B4-BE49-F238E27FC236}">
                <a16:creationId xmlns:a16="http://schemas.microsoft.com/office/drawing/2014/main" id="{A55EBF2C-3DC4-F0C8-FEC0-A7804FFFA646}"/>
              </a:ext>
            </a:extLst>
          </p:cNvPr>
          <p:cNvSpPr txBox="1"/>
          <p:nvPr/>
        </p:nvSpPr>
        <p:spPr>
          <a:xfrm>
            <a:off x="4148644" y="23189872"/>
            <a:ext cx="2570512" cy="36933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800" dirty="0" err="1"/>
              <a:t>μ</a:t>
            </a:r>
            <a:r>
              <a:rPr lang="en-US" sz="1800" dirty="0"/>
              <a:t>=0.1, </a:t>
            </a:r>
            <a:r>
              <a:rPr lang="en-US" sz="1800" dirty="0" err="1"/>
              <a:t>μ</a:t>
            </a:r>
            <a:r>
              <a:rPr lang="en-US" sz="1800" baseline="-25000" dirty="0" err="1"/>
              <a:t>roll</a:t>
            </a:r>
            <a:r>
              <a:rPr lang="en-US" sz="1800" dirty="0"/>
              <a:t>=0.0, </a:t>
            </a:r>
            <a:r>
              <a:rPr lang="en-US" sz="1800" dirty="0" err="1"/>
              <a:t>μ</a:t>
            </a:r>
            <a:r>
              <a:rPr lang="en-US" sz="1800" baseline="-25000" dirty="0" err="1"/>
              <a:t>twist</a:t>
            </a:r>
            <a:r>
              <a:rPr lang="en-US" sz="1800" dirty="0"/>
              <a:t>=0.0 </a:t>
            </a:r>
          </a:p>
        </p:txBody>
      </p:sp>
      <p:pic>
        <p:nvPicPr>
          <p:cNvPr id="1090" name="Picture 1089">
            <a:extLst>
              <a:ext uri="{FF2B5EF4-FFF2-40B4-BE49-F238E27FC236}">
                <a16:creationId xmlns:a16="http://schemas.microsoft.com/office/drawing/2014/main" id="{A8E67D0A-713E-49B5-9F04-65776FED785D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5095" y="29718000"/>
            <a:ext cx="9880305" cy="7313362"/>
          </a:xfrm>
          <a:prstGeom prst="rect">
            <a:avLst/>
          </a:prstGeom>
        </p:spPr>
      </p:pic>
      <p:sp>
        <p:nvSpPr>
          <p:cNvPr id="1091" name="Text Box 180">
            <a:extLst>
              <a:ext uri="{FF2B5EF4-FFF2-40B4-BE49-F238E27FC236}">
                <a16:creationId xmlns:a16="http://schemas.microsoft.com/office/drawing/2014/main" id="{62EA1641-A82F-C270-8403-7DCF2CD359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28797" y="37260701"/>
            <a:ext cx="12801601" cy="9541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sz="2800" b="1" dirty="0">
                <a:latin typeface="Calibri" pitchFamily="34" charset="0"/>
              </a:rPr>
              <a:t>Figure 3.</a:t>
            </a:r>
            <a:r>
              <a:rPr lang="en-US" sz="2800" dirty="0">
                <a:latin typeface="Calibri" pitchFamily="34" charset="0"/>
              </a:rPr>
              <a:t> </a:t>
            </a:r>
            <a:r>
              <a:rPr lang="en-US" sz="2800" b="1" dirty="0">
                <a:latin typeface="Calibri" pitchFamily="34" charset="0"/>
              </a:rPr>
              <a:t>Effect of friction on pile height and angle of repose</a:t>
            </a:r>
            <a:r>
              <a:rPr lang="en-US" sz="2800" dirty="0">
                <a:latin typeface="Calibri" pitchFamily="34" charset="0"/>
              </a:rPr>
              <a:t>. Larger friction coefficients correspond to higher, steeper piles.</a:t>
            </a:r>
          </a:p>
        </p:txBody>
      </p:sp>
      <p:sp>
        <p:nvSpPr>
          <p:cNvPr id="1092" name="Rectangle 1091">
            <a:extLst>
              <a:ext uri="{FF2B5EF4-FFF2-40B4-BE49-F238E27FC236}">
                <a16:creationId xmlns:a16="http://schemas.microsoft.com/office/drawing/2014/main" id="{90CA75A3-EEDA-5FF5-2A65-9489104B9642}"/>
              </a:ext>
            </a:extLst>
          </p:cNvPr>
          <p:cNvSpPr/>
          <p:nvPr/>
        </p:nvSpPr>
        <p:spPr>
          <a:xfrm>
            <a:off x="1828798" y="28443036"/>
            <a:ext cx="12801600" cy="914400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b="1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PILE MORPHOLOGY</a:t>
            </a:r>
          </a:p>
        </p:txBody>
      </p:sp>
      <p:sp>
        <p:nvSpPr>
          <p:cNvPr id="1094" name="TextBox 1093">
            <a:extLst>
              <a:ext uri="{FF2B5EF4-FFF2-40B4-BE49-F238E27FC236}">
                <a16:creationId xmlns:a16="http://schemas.microsoft.com/office/drawing/2014/main" id="{C5AA6C9A-BAA2-EDA0-20EE-A4603F3BBF41}"/>
              </a:ext>
            </a:extLst>
          </p:cNvPr>
          <p:cNvSpPr txBox="1"/>
          <p:nvPr/>
        </p:nvSpPr>
        <p:spPr>
          <a:xfrm>
            <a:off x="29420421" y="27101287"/>
            <a:ext cx="1270679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Figure 5. Different perspectives of extracted force chains </a:t>
            </a:r>
            <a:r>
              <a:rPr lang="en-US" sz="2800" dirty="0"/>
              <a:t>colored by log10(EBC) against a full set of background force chains. Stronger EBC is darker in color, background chains (smaller EBC) in gray.</a:t>
            </a:r>
          </a:p>
          <a:p>
            <a:endParaRPr lang="en-US" sz="2800" dirty="0"/>
          </a:p>
        </p:txBody>
      </p:sp>
      <p:sp>
        <p:nvSpPr>
          <p:cNvPr id="1095" name="TextBox 1094">
            <a:extLst>
              <a:ext uri="{FF2B5EF4-FFF2-40B4-BE49-F238E27FC236}">
                <a16:creationId xmlns:a16="http://schemas.microsoft.com/office/drawing/2014/main" id="{E516EC78-81E5-2F35-CE37-D277D471043F}"/>
              </a:ext>
            </a:extLst>
          </p:cNvPr>
          <p:cNvSpPr txBox="1"/>
          <p:nvPr/>
        </p:nvSpPr>
        <p:spPr>
          <a:xfrm>
            <a:off x="31551380" y="24993600"/>
            <a:ext cx="2570512" cy="36933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800" dirty="0" err="1"/>
              <a:t>μ</a:t>
            </a:r>
            <a:r>
              <a:rPr lang="en-US" sz="1800" dirty="0"/>
              <a:t>=0.1, </a:t>
            </a:r>
            <a:r>
              <a:rPr lang="en-US" sz="1800" dirty="0" err="1"/>
              <a:t>μ</a:t>
            </a:r>
            <a:r>
              <a:rPr lang="en-US" sz="1800" baseline="-25000" dirty="0" err="1"/>
              <a:t>roll</a:t>
            </a:r>
            <a:r>
              <a:rPr lang="en-US" sz="1800" dirty="0"/>
              <a:t>=0.0, </a:t>
            </a:r>
            <a:r>
              <a:rPr lang="en-US" sz="1800" dirty="0" err="1"/>
              <a:t>μ</a:t>
            </a:r>
            <a:r>
              <a:rPr lang="en-US" sz="1800" baseline="-25000" dirty="0" err="1"/>
              <a:t>twist</a:t>
            </a:r>
            <a:r>
              <a:rPr lang="en-US" sz="1800" dirty="0"/>
              <a:t>=0.0 </a:t>
            </a:r>
          </a:p>
        </p:txBody>
      </p:sp>
      <p:sp>
        <p:nvSpPr>
          <p:cNvPr id="1096" name="TextBox 1095">
            <a:extLst>
              <a:ext uri="{FF2B5EF4-FFF2-40B4-BE49-F238E27FC236}">
                <a16:creationId xmlns:a16="http://schemas.microsoft.com/office/drawing/2014/main" id="{EAFF9BF5-AFBC-947F-F3FA-6DA164E1A60A}"/>
              </a:ext>
            </a:extLst>
          </p:cNvPr>
          <p:cNvSpPr txBox="1"/>
          <p:nvPr/>
        </p:nvSpPr>
        <p:spPr>
          <a:xfrm>
            <a:off x="36921383" y="24993600"/>
            <a:ext cx="2570512" cy="36933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800" dirty="0" err="1"/>
              <a:t>μ</a:t>
            </a:r>
            <a:r>
              <a:rPr lang="en-US" sz="1800" dirty="0"/>
              <a:t>=0.7, </a:t>
            </a:r>
            <a:r>
              <a:rPr lang="en-US" sz="1800" dirty="0" err="1"/>
              <a:t>μ</a:t>
            </a:r>
            <a:r>
              <a:rPr lang="en-US" sz="1800" baseline="-25000" dirty="0" err="1"/>
              <a:t>roll</a:t>
            </a:r>
            <a:r>
              <a:rPr lang="en-US" sz="1800" dirty="0"/>
              <a:t>=0.1, </a:t>
            </a:r>
            <a:r>
              <a:rPr lang="en-US" sz="1800" dirty="0" err="1"/>
              <a:t>μ</a:t>
            </a:r>
            <a:r>
              <a:rPr lang="en-US" sz="1800" baseline="-25000" dirty="0" err="1"/>
              <a:t>twist</a:t>
            </a:r>
            <a:r>
              <a:rPr lang="en-US" sz="1800" dirty="0"/>
              <a:t>=0.1 </a:t>
            </a:r>
          </a:p>
        </p:txBody>
      </p:sp>
      <p:pic>
        <p:nvPicPr>
          <p:cNvPr id="1105" name="Picture 1104">
            <a:extLst>
              <a:ext uri="{FF2B5EF4-FFF2-40B4-BE49-F238E27FC236}">
                <a16:creationId xmlns:a16="http://schemas.microsoft.com/office/drawing/2014/main" id="{5F2A478B-00D6-7A31-52CE-68E38AC04766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47559" y="25683568"/>
            <a:ext cx="914400" cy="914400"/>
          </a:xfrm>
          <a:prstGeom prst="rect">
            <a:avLst/>
          </a:prstGeom>
        </p:spPr>
      </p:pic>
      <p:pic>
        <p:nvPicPr>
          <p:cNvPr id="1108" name="Picture 1107">
            <a:extLst>
              <a:ext uri="{FF2B5EF4-FFF2-40B4-BE49-F238E27FC236}">
                <a16:creationId xmlns:a16="http://schemas.microsoft.com/office/drawing/2014/main" id="{6B7E37F1-E927-FA38-CC12-368D1B625AE6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15192" y="25683568"/>
            <a:ext cx="914400" cy="914400"/>
          </a:xfrm>
          <a:prstGeom prst="rect">
            <a:avLst/>
          </a:prstGeom>
        </p:spPr>
      </p:pic>
      <p:graphicFrame>
        <p:nvGraphicFramePr>
          <p:cNvPr id="1114" name="Table 1113">
            <a:extLst>
              <a:ext uri="{FF2B5EF4-FFF2-40B4-BE49-F238E27FC236}">
                <a16:creationId xmlns:a16="http://schemas.microsoft.com/office/drawing/2014/main" id="{A0D6760B-C220-810A-410D-1092DC2820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2063551"/>
              </p:ext>
            </p:extLst>
          </p:nvPr>
        </p:nvGraphicFramePr>
        <p:xfrm>
          <a:off x="29260799" y="11201400"/>
          <a:ext cx="12801601" cy="650981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879314">
                  <a:extLst>
                    <a:ext uri="{9D8B030D-6E8A-4147-A177-3AD203B41FA5}">
                      <a16:colId xmlns:a16="http://schemas.microsoft.com/office/drawing/2014/main" val="169723824"/>
                    </a:ext>
                  </a:extLst>
                </a:gridCol>
                <a:gridCol w="2413536">
                  <a:extLst>
                    <a:ext uri="{9D8B030D-6E8A-4147-A177-3AD203B41FA5}">
                      <a16:colId xmlns:a16="http://schemas.microsoft.com/office/drawing/2014/main" val="4226328269"/>
                    </a:ext>
                  </a:extLst>
                </a:gridCol>
                <a:gridCol w="2667000">
                  <a:extLst>
                    <a:ext uri="{9D8B030D-6E8A-4147-A177-3AD203B41FA5}">
                      <a16:colId xmlns:a16="http://schemas.microsoft.com/office/drawing/2014/main" val="4200796953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471674143"/>
                    </a:ext>
                  </a:extLst>
                </a:gridCol>
                <a:gridCol w="1403351">
                  <a:extLst>
                    <a:ext uri="{9D8B030D-6E8A-4147-A177-3AD203B41FA5}">
                      <a16:colId xmlns:a16="http://schemas.microsoft.com/office/drawing/2014/main" val="3992729973"/>
                    </a:ext>
                  </a:extLst>
                </a:gridCol>
              </a:tblGrid>
              <a:tr h="929973">
                <a:tc>
                  <a:txBody>
                    <a:bodyPr/>
                    <a:lstStyle/>
                    <a:p>
                      <a:pPr marL="0" marR="0" lvl="0" indent="0" algn="ctr" defTabSz="438912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9BBB59">
                              <a:lumMod val="20000"/>
                              <a:lumOff val="80000"/>
                            </a:srgb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Low Friction</a:t>
                      </a:r>
                      <a:endParaRPr kumimoji="0" lang="en-US" sz="2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sz="2400" b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9BBB59">
                              <a:lumMod val="20000"/>
                              <a:lumOff val="80000"/>
                            </a:srgbClr>
                          </a:solidFill>
                          <a:effectLst/>
                          <a:uLnTx/>
                          <a:uFillTx/>
                        </a:rPr>
                        <a:t>Low Friction</a:t>
                      </a:r>
                      <a:endParaRPr lang="en-US" sz="2400" dirty="0">
                        <a:latin typeface="+mn-lt"/>
                      </a:endParaRPr>
                    </a:p>
                  </a:txBody>
                  <a:tcPr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accent3">
                              <a:lumMod val="20000"/>
                              <a:lumOff val="80000"/>
                            </a:schemeClr>
                          </a:solidFill>
                        </a:rPr>
                        <a:t>High Friction</a:t>
                      </a:r>
                      <a:endParaRPr lang="en-US" sz="2400" dirty="0">
                        <a:latin typeface="+mn-lt"/>
                      </a:endParaRPr>
                    </a:p>
                  </a:txBody>
                  <a:tcPr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accent3">
                              <a:lumMod val="20000"/>
                              <a:lumOff val="80000"/>
                            </a:schemeClr>
                          </a:solidFill>
                          <a:latin typeface="+mn-lt"/>
                        </a:rPr>
                        <a:t>%Change</a:t>
                      </a:r>
                      <a:endParaRPr lang="en-US" sz="2400" dirty="0">
                        <a:latin typeface="+mn-lt"/>
                      </a:endParaRPr>
                    </a:p>
                  </a:txBody>
                  <a:tcPr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400" dirty="0">
                        <a:latin typeface="+mn-lt"/>
                      </a:endParaRPr>
                    </a:p>
                  </a:txBody>
                  <a:tcPr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5646675"/>
                  </a:ext>
                </a:extLst>
              </a:tr>
              <a:tr h="929973">
                <a:tc>
                  <a:txBody>
                    <a:bodyPr/>
                    <a:lstStyle/>
                    <a:p>
                      <a:r>
                        <a:rPr lang="en-US" sz="2400" dirty="0"/>
                        <a:t>Mean chain height </a:t>
                      </a:r>
                      <a:r>
                        <a:rPr lang="en-US" sz="2400" i="0" dirty="0"/>
                        <a:t>(</a:t>
                      </a:r>
                      <a:r>
                        <a:rPr lang="en-US" sz="2400" i="1" dirty="0"/>
                        <a:t>z</a:t>
                      </a:r>
                      <a:r>
                        <a:rPr lang="en-US" sz="2400" i="0" dirty="0"/>
                        <a:t>)</a:t>
                      </a:r>
                      <a:endParaRPr lang="en-US" sz="2400" i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+mn-lt"/>
                        </a:rPr>
                        <a:t>1.62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+mn-lt"/>
                        </a:rPr>
                        <a:t>1.79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  <a:latin typeface="+mn-lt"/>
                        </a:rPr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rgbClr val="92D050"/>
                          </a:solidFill>
                          <a:latin typeface="+mn-lt"/>
                        </a:rPr>
                        <a:t>⬆️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10870346"/>
                  </a:ext>
                </a:extLst>
              </a:tr>
              <a:tr h="929973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prstClr val="black"/>
                          </a:solidFill>
                        </a:rPr>
                        <a:t>Mean anchor radius (</a:t>
                      </a:r>
                      <a:r>
                        <a:rPr lang="en-US" sz="2400" i="1" dirty="0" err="1">
                          <a:solidFill>
                            <a:prstClr val="black"/>
                          </a:solidFill>
                        </a:rPr>
                        <a:t>r</a:t>
                      </a:r>
                      <a:r>
                        <a:rPr lang="en-US" sz="2400" i="1" baseline="-25000" dirty="0" err="1">
                          <a:solidFill>
                            <a:prstClr val="black"/>
                          </a:solidFill>
                        </a:rPr>
                        <a:t>anchor</a:t>
                      </a:r>
                      <a:r>
                        <a:rPr lang="en-US" sz="2400" i="1" dirty="0">
                          <a:solidFill>
                            <a:prstClr val="black"/>
                          </a:solidFill>
                        </a:rPr>
                        <a:t>/R</a:t>
                      </a:r>
                      <a:r>
                        <a:rPr lang="en-US" sz="2400" dirty="0">
                          <a:solidFill>
                            <a:prstClr val="black"/>
                          </a:solidFill>
                        </a:rPr>
                        <a:t>)</a:t>
                      </a:r>
                      <a:endParaRPr lang="en-US" sz="24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+mn-lt"/>
                        </a:rPr>
                        <a:t>0.55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+mn-lt"/>
                        </a:rPr>
                        <a:t>0.61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  <a:latin typeface="+mn-lt"/>
                        </a:rPr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38912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solidFill>
                            <a:srgbClr val="92D050"/>
                          </a:solidFill>
                          <a:latin typeface="+mn-lt"/>
                        </a:rPr>
                        <a:t>⬆️</a:t>
                      </a:r>
                    </a:p>
                    <a:p>
                      <a:pPr algn="ctr"/>
                      <a:endParaRPr lang="en-US" sz="2400" dirty="0">
                        <a:solidFill>
                          <a:srgbClr val="92D050"/>
                        </a:solidFill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34574624"/>
                  </a:ext>
                </a:extLst>
              </a:tr>
              <a:tr h="929973">
                <a:tc>
                  <a:txBody>
                    <a:bodyPr/>
                    <a:lstStyle/>
                    <a:p>
                      <a:pPr marL="0" marR="0" lvl="0" indent="0" algn="l" defTabSz="438912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solidFill>
                            <a:prstClr val="black"/>
                          </a:solidFill>
                        </a:rPr>
                        <a:t>Mean midpoint radius (</a:t>
                      </a:r>
                      <a:r>
                        <a:rPr lang="en-US" sz="2400" i="1" dirty="0" err="1">
                          <a:solidFill>
                            <a:prstClr val="black"/>
                          </a:solidFill>
                        </a:rPr>
                        <a:t>r</a:t>
                      </a:r>
                      <a:r>
                        <a:rPr lang="en-US" sz="2400" i="1" baseline="-25000" dirty="0" err="1">
                          <a:solidFill>
                            <a:prstClr val="black"/>
                          </a:solidFill>
                        </a:rPr>
                        <a:t>mid</a:t>
                      </a:r>
                      <a:r>
                        <a:rPr lang="en-US" sz="2400" i="1" dirty="0">
                          <a:solidFill>
                            <a:prstClr val="black"/>
                          </a:solidFill>
                        </a:rPr>
                        <a:t>/R</a:t>
                      </a:r>
                      <a:r>
                        <a:rPr lang="en-US" sz="2400" dirty="0">
                          <a:solidFill>
                            <a:prstClr val="black"/>
                          </a:solidFill>
                        </a:rPr>
                        <a:t>)</a:t>
                      </a:r>
                    </a:p>
                    <a:p>
                      <a:endParaRPr lang="en-US" sz="24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+mn-lt"/>
                        </a:rPr>
                        <a:t>0.57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+mn-lt"/>
                        </a:rPr>
                        <a:t>0.65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  <a:latin typeface="+mn-lt"/>
                        </a:rPr>
                        <a:t>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38912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solidFill>
                            <a:srgbClr val="92D050"/>
                          </a:solidFill>
                          <a:latin typeface="+mn-lt"/>
                        </a:rPr>
                        <a:t>⬆️</a:t>
                      </a:r>
                    </a:p>
                    <a:p>
                      <a:pPr algn="ctr"/>
                      <a:endParaRPr lang="en-US" sz="2400" dirty="0">
                        <a:solidFill>
                          <a:srgbClr val="92D050"/>
                        </a:solidFill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9156181"/>
                  </a:ext>
                </a:extLst>
              </a:tr>
              <a:tr h="929973">
                <a:tc>
                  <a:txBody>
                    <a:bodyPr/>
                    <a:lstStyle/>
                    <a:p>
                      <a:pPr marL="0" marR="0" lvl="0" indent="0" algn="l" defTabSz="438912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solidFill>
                            <a:prstClr val="black"/>
                          </a:solidFill>
                        </a:rPr>
                        <a:t>Mean tip radius (</a:t>
                      </a:r>
                      <a:r>
                        <a:rPr lang="en-US" sz="2400" i="1" dirty="0" err="1">
                          <a:solidFill>
                            <a:prstClr val="black"/>
                          </a:solidFill>
                        </a:rPr>
                        <a:t>r</a:t>
                      </a:r>
                      <a:r>
                        <a:rPr lang="en-US" sz="2400" i="1" baseline="-25000" dirty="0" err="1">
                          <a:solidFill>
                            <a:prstClr val="black"/>
                          </a:solidFill>
                        </a:rPr>
                        <a:t>tip</a:t>
                      </a:r>
                      <a:r>
                        <a:rPr lang="en-US" sz="2400" i="1" dirty="0">
                          <a:solidFill>
                            <a:prstClr val="black"/>
                          </a:solidFill>
                        </a:rPr>
                        <a:t>/R</a:t>
                      </a:r>
                      <a:r>
                        <a:rPr lang="en-US" sz="2400" dirty="0">
                          <a:solidFill>
                            <a:prstClr val="black"/>
                          </a:solidFill>
                        </a:rPr>
                        <a:t>)</a:t>
                      </a:r>
                    </a:p>
                    <a:p>
                      <a:endParaRPr lang="en-US" sz="24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+mn-lt"/>
                        </a:rPr>
                        <a:t>0.54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+mn-lt"/>
                        </a:rPr>
                        <a:t>0.54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  <a:latin typeface="+mn-lt"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  <a:latin typeface="+mn-lt"/>
                        </a:rPr>
                        <a:t>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9137795"/>
                  </a:ext>
                </a:extLst>
              </a:tr>
              <a:tr h="929973">
                <a:tc>
                  <a:txBody>
                    <a:bodyPr/>
                    <a:lstStyle/>
                    <a:p>
                      <a:r>
                        <a:rPr lang="en-US" sz="2400" dirty="0"/>
                        <a:t>Local chain bend angle (°)</a:t>
                      </a:r>
                      <a:endParaRPr lang="en-US" sz="24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+mn-lt"/>
                        </a:rPr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+mn-lt"/>
                        </a:rPr>
                        <a:t>29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  <a:latin typeface="+mn-lt"/>
                        </a:rPr>
                        <a:t>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38912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solidFill>
                            <a:srgbClr val="92D050"/>
                          </a:solidFill>
                          <a:latin typeface="+mn-lt"/>
                        </a:rPr>
                        <a:t>⬆️</a:t>
                      </a:r>
                    </a:p>
                    <a:p>
                      <a:pPr algn="ctr"/>
                      <a:endParaRPr lang="en-US" sz="2400" dirty="0">
                        <a:solidFill>
                          <a:srgbClr val="92D050"/>
                        </a:solidFill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65104998"/>
                  </a:ext>
                </a:extLst>
              </a:tr>
              <a:tr h="929973">
                <a:tc>
                  <a:txBody>
                    <a:bodyPr/>
                    <a:lstStyle/>
                    <a:p>
                      <a:r>
                        <a:rPr lang="en-US" sz="2400" dirty="0"/>
                        <a:t>Chain count</a:t>
                      </a:r>
                      <a:endParaRPr lang="en-US" sz="24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+mn-lt"/>
                        </a:rPr>
                        <a:t>154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+mn-lt"/>
                        </a:rPr>
                        <a:t>66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  <a:latin typeface="+mn-lt"/>
                        </a:rPr>
                        <a:t>-43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rgbClr val="0070C0"/>
                          </a:solidFill>
                          <a:latin typeface="+mn-lt"/>
                        </a:rPr>
                        <a:t>⬇️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996802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512518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11726</TotalTime>
  <Words>1199</Words>
  <Application>Microsoft Macintosh PowerPoint</Application>
  <PresentationFormat>Custom</PresentationFormat>
  <Paragraphs>141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-webkit-standard</vt:lpstr>
      <vt:lpstr>Arial</vt:lpstr>
      <vt:lpstr>Calibri</vt:lpstr>
      <vt:lpstr>Cambria Math</vt:lpstr>
      <vt:lpstr>Times</vt:lpstr>
      <vt:lpstr>var(--jp-code-font-family)</vt:lpstr>
      <vt:lpstr>Office Theme</vt:lpstr>
      <vt:lpstr>PowerPoint Presentation</vt:lpstr>
    </vt:vector>
  </TitlesOfParts>
  <Company>Genigraphics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Genigraphics Research Poster Template 48x48</dc:title>
  <dc:creator>Jay Larson</dc:creator>
  <dc:description>Quality poster printing
www.genigraphics.com
1-800-790-4001</dc:description>
  <cp:lastModifiedBy>FLANAGAN, TATIANA</cp:lastModifiedBy>
  <cp:revision>295</cp:revision>
  <cp:lastPrinted>2013-02-12T02:21:55Z</cp:lastPrinted>
  <dcterms:created xsi:type="dcterms:W3CDTF">2013-02-10T21:14:48Z</dcterms:created>
  <dcterms:modified xsi:type="dcterms:W3CDTF">2026-06-08T20:18:29Z</dcterms:modified>
</cp:coreProperties>
</file>