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43891200"/>
  <p:notesSz cx="7004050" cy="929005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22" autoAdjust="0"/>
    <p:restoredTop sz="94676" autoAdjust="0"/>
  </p:normalViewPr>
  <p:slideViewPr>
    <p:cSldViewPr>
      <p:cViewPr>
        <p:scale>
          <a:sx n="31" d="100"/>
          <a:sy n="31" d="100"/>
        </p:scale>
        <p:origin x="216" y="176"/>
      </p:cViewPr>
      <p:guideLst>
        <p:guide orient="horz" pos="1382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4297680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8404800"/>
            <a:ext cx="43891200" cy="548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Instructions"/>
          <p:cNvSpPr/>
          <p:nvPr userDrawn="1"/>
        </p:nvSpPr>
        <p:spPr>
          <a:xfrm>
            <a:off x="-13716000" y="0"/>
            <a:ext cx="12801600" cy="4389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96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48” high by 48” wide. It can be used to print any poster with a 1:1 aspect ratio.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9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400"/>
              </a:spcAft>
            </a:pPr>
            <a:b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44805600" y="0"/>
            <a:ext cx="12801600" cy="43891200"/>
            <a:chOff x="33832800" y="0"/>
            <a:chExt cx="12801600" cy="43891200"/>
          </a:xfrm>
        </p:grpSpPr>
        <p:sp>
          <p:nvSpPr>
            <p:cNvPr id="21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9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96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435864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757683"/>
            <a:ext cx="39502080" cy="73152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10241283"/>
            <a:ext cx="39502080" cy="2896616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40680643"/>
            <a:ext cx="138988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389120" rtl="0" eaLnBrk="1" latinLnBrk="0" hangingPunct="1"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389120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Picture 1066">
            <a:extLst>
              <a:ext uri="{FF2B5EF4-FFF2-40B4-BE49-F238E27FC236}">
                <a16:creationId xmlns:a16="http://schemas.microsoft.com/office/drawing/2014/main" id="{5FD79467-839B-1051-7FC5-CA8F11A49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7509" y="17454866"/>
            <a:ext cx="8687732" cy="4233194"/>
          </a:xfrm>
          <a:prstGeom prst="rect">
            <a:avLst/>
          </a:prstGeom>
        </p:spPr>
      </p:pic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7315200" y="0"/>
            <a:ext cx="292608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457200" rIns="182880" bIns="45720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How Friction Shapes Force Chains in Granular Piles: </a:t>
            </a:r>
          </a:p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 Network Approach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315200" y="2870536"/>
            <a:ext cx="29260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182880" rIns="182880" bIns="18288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Tatiana Flanagan &amp; Leonardo Silbert</a:t>
            </a:r>
            <a:endParaRPr lang="en-US" sz="48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Central New Mexico Community College    School of Math, Science, and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8" y="39547799"/>
            <a:ext cx="1106072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Dan </a:t>
            </a:r>
            <a:r>
              <a:rPr lang="en-US" sz="2400" dirty="0" err="1">
                <a:solidFill>
                  <a:srgbClr val="0070C0"/>
                </a:solidFill>
              </a:rPr>
              <a:t>Bolintineanu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Joel Clemmer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Gary </a:t>
            </a:r>
            <a:r>
              <a:rPr lang="en-US" sz="2400" dirty="0" err="1">
                <a:solidFill>
                  <a:srgbClr val="0070C0"/>
                </a:solidFill>
              </a:rPr>
              <a:t>Grest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Jeremy Lechman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Joe </a:t>
            </a:r>
            <a:r>
              <a:rPr lang="en-US" sz="2400" dirty="0">
                <a:solidFill>
                  <a:srgbClr val="0070C0"/>
                </a:solidFill>
                <a:cs typeface="Calibri" panose="020F0502020204030204" pitchFamily="34" charset="0"/>
              </a:rPr>
              <a:t>Monti</a:t>
            </a:r>
            <a:r>
              <a:rPr lang="en-US" sz="2400" dirty="0">
                <a:cs typeface="Calibri" panose="020F0502020204030204" pitchFamily="34" charset="0"/>
              </a:rPr>
              <a:t>, </a:t>
            </a:r>
            <a:r>
              <a:rPr lang="en-US" sz="2400" dirty="0">
                <a:solidFill>
                  <a:srgbClr val="00B0F0"/>
                </a:solidFill>
                <a:cs typeface="Calibri" panose="020F0502020204030204" pitchFamily="34" charset="0"/>
              </a:rPr>
              <a:t>Scott Roberts</a:t>
            </a:r>
            <a:endParaRPr lang="en-US" sz="2400" baseline="30000" dirty="0">
              <a:solidFill>
                <a:srgbClr val="00B0F0"/>
              </a:solidFill>
              <a:cs typeface="Calibri" panose="020F0502020204030204" pitchFamily="34" charset="0"/>
            </a:endParaRPr>
          </a:p>
          <a:p>
            <a:r>
              <a:rPr lang="en-US" sz="2400" dirty="0">
                <a:cs typeface="Times"/>
              </a:rPr>
              <a:t>Sandia National Laboratories</a:t>
            </a: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Andrew Santos</a:t>
            </a:r>
          </a:p>
          <a:p>
            <a:r>
              <a:rPr lang="en-US" sz="2400" dirty="0">
                <a:cs typeface="Times"/>
              </a:rPr>
              <a:t>NASA</a:t>
            </a:r>
          </a:p>
          <a:p>
            <a:r>
              <a:rPr lang="en-US" sz="2400" dirty="0">
                <a:solidFill>
                  <a:srgbClr val="2A5AFF"/>
                </a:solidFill>
              </a:rPr>
              <a:t>Ishan Srivastava </a:t>
            </a:r>
          </a:p>
          <a:p>
            <a:r>
              <a:rPr lang="en-US" sz="2400" dirty="0"/>
              <a:t>Lawrence Berkeley National Laboratory</a:t>
            </a:r>
            <a:endParaRPr lang="en-US" sz="2400" dirty="0">
              <a:cs typeface="Times"/>
            </a:endParaRP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Mike Salerno</a:t>
            </a:r>
          </a:p>
          <a:p>
            <a:r>
              <a:rPr lang="en-US" sz="2400" dirty="0">
                <a:cs typeface="Times"/>
              </a:rPr>
              <a:t>Johns Hopkins APL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1" y="38557200"/>
            <a:ext cx="6469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Acknowledgements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66721" y="39692907"/>
            <a:ext cx="25831800" cy="2926080"/>
          </a:xfrm>
          <a:prstGeom prst="rect">
            <a:avLst/>
          </a:prstGeom>
          <a:noFill/>
        </p:spPr>
        <p:txBody>
          <a:bodyPr wrap="square" tIns="91440" bIns="91440" numCol="1" spcCol="457200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Brandes, Ulrik. "A faster algorithm for betweenness centrality." Journal of mathematical sociology 25.2 (2001): 163-177.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Killick, Rebecca, et al. "Optimal detection of changepoints with a linear computational cost." Journal of the American Statistical Association 107.500 (2012): 1590-1598.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Peters, J. F., et al. "Characterization of force chains in granular material." Physical Review E—Statistical, Nonlinear, and Soft Matter Physics 72.4 (2005): 041307.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Santos, Andrew, et al. "Granular packings with sliding, rolling, and twisting friction." Physical Review E 102.3 (2020): 032903.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Tordesillas, Antoinette, et al. "Force cycles and force chains." Physical Review E—Statistical, Nonlinear, and Soft Matter Physics 81.1 (2010): 011302.</a:t>
            </a:r>
          </a:p>
          <a:p>
            <a:r>
              <a:rPr lang="en-US" sz="2400" dirty="0"/>
              <a:t> 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5666720" y="38557200"/>
            <a:ext cx="3689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540101" y="7315200"/>
            <a:ext cx="12801600" cy="6051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Granular packings of grains represent a class of complex systems as the self-organization between the constituent particles develops to maintain pile stability. How the grains organize within the pile depends on many factors, such as particle shape, particle softness, and particle smoothness.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Here, we focus on the role of particle friction for hard spherical beads poured under gravity using DEM computer simulations.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b="1" dirty="0">
                <a:solidFill>
                  <a:srgbClr val="231F20"/>
                </a:solidFill>
                <a:latin typeface="+mn-lt"/>
                <a:cs typeface="Arial"/>
              </a:rPr>
              <a:t>We investigate how sliding, rolling, and twisting friction reorganize the force-chain backbone that supports granular piles.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0101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40099" y="1409936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LAMMPS Simulation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5124192" y="7524620"/>
            <a:ext cx="13944600" cy="480131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Friction broadens the force-chain network while preserving </a:t>
            </a:r>
          </a:p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apex anchoring.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generate larger local bend angles in force chains, more tortuous chains.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push force chains up and towards the edges of the pile at the bottom and middle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anchor</a:t>
            </a:r>
            <a:r>
              <a:rPr lang="en-US" sz="3600" i="1" dirty="0">
                <a:solidFill>
                  <a:prstClr val="black"/>
                </a:solidFill>
                <a:latin typeface="Calibri" pitchFamily="34" charset="0"/>
              </a:rPr>
              <a:t>, 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mid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 of the chains. Chains remain anchored at the top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tip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Chain count decreases, suggesting more connectivity.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5267568" y="29713308"/>
            <a:ext cx="13944600" cy="840248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800" b="1" i="1" dirty="0">
                <a:latin typeface="+mn-lt"/>
              </a:rPr>
              <a:t>Rolling and twisting friction reorganize the force-chain backbone. </a:t>
            </a:r>
          </a:p>
          <a:p>
            <a:r>
              <a:rPr lang="en-US" sz="4800" i="1" dirty="0">
                <a:latin typeface="+mn-lt"/>
              </a:rPr>
              <a:t>Increased friction produces a more anisotropic and spatially distributed force-chain architecture.</a:t>
            </a:r>
            <a:endParaRPr lang="en-US" sz="4800" dirty="0">
              <a:latin typeface="+mn-lt"/>
            </a:endParaRPr>
          </a:p>
          <a:p>
            <a:r>
              <a:rPr lang="en-US" sz="4800" b="1" dirty="0">
                <a:latin typeface="+mn-lt"/>
              </a:rPr>
              <a:t>Higher friction produces: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taller, steeper piles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fewer but more connected force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larger bend angles and tortuosity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outward migration of load-bearing pathways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Force transmission becomes less centralized and more distributed.</a:t>
            </a:r>
          </a:p>
          <a:p>
            <a:pPr eaLnBrk="1" hangingPunct="1"/>
            <a:endParaRPr lang="en-US" sz="4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5220167" y="28811790"/>
            <a:ext cx="13944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524000" y="15036273"/>
            <a:ext cx="12801600" cy="62170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en-US" sz="3600" b="1" dirty="0">
                <a:solidFill>
                  <a:prstClr val="black"/>
                </a:solidFill>
                <a:latin typeface="Calibri"/>
              </a:rPr>
              <a:t>Friction modes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. We simulated granular packings with friction across a variation of coefficients that include LAMMPS extended friction modes: rolling and twisting..</a:t>
            </a:r>
          </a:p>
          <a:p>
            <a:pPr lvl="0" eaLnBrk="1" hangingPunct="1">
              <a:defRPr/>
            </a:pPr>
            <a:endParaRPr lang="en-US" sz="36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EF6969C-D5D3-899E-A492-B71218A0E0F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8252400" y="1432559"/>
            <a:ext cx="4465485" cy="20597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6BB65-C8F4-ED77-A7EE-94E1EA1A3A8E}"/>
              </a:ext>
            </a:extLst>
          </p:cNvPr>
          <p:cNvSpPr txBox="1"/>
          <p:nvPr/>
        </p:nvSpPr>
        <p:spPr>
          <a:xfrm>
            <a:off x="3235005" y="42919947"/>
            <a:ext cx="62155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Sandia National Laboratories is a multi-program laboratory managed and operated by Sandia Corporation,</a:t>
            </a:r>
          </a:p>
          <a:p>
            <a:r>
              <a:rPr lang="en-US" sz="1000" dirty="0"/>
              <a:t>a wholly owned subsidiary of Lockheed Martin Corporation, for the U.S. Department of Energy’s National</a:t>
            </a:r>
          </a:p>
          <a:p>
            <a:r>
              <a:rPr lang="en-US" sz="1000" dirty="0"/>
              <a:t>Nuclear Security Administration under contract DE-AC04-94AL85000.</a:t>
            </a:r>
          </a:p>
        </p:txBody>
      </p:sp>
      <p:pic>
        <p:nvPicPr>
          <p:cNvPr id="23" name="Picture 22" descr="New_DOE_Logo_Black.png">
            <a:extLst>
              <a:ext uri="{FF2B5EF4-FFF2-40B4-BE49-F238E27FC236}">
                <a16:creationId xmlns:a16="http://schemas.microsoft.com/office/drawing/2014/main" id="{42E02148-EA3C-9F3A-4BF9-45FB59CC2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31" y="43035206"/>
            <a:ext cx="1268505" cy="319240"/>
          </a:xfrm>
          <a:prstGeom prst="rect">
            <a:avLst/>
          </a:prstGeom>
        </p:spPr>
      </p:pic>
      <p:pic>
        <p:nvPicPr>
          <p:cNvPr id="28" name="Picture 27" descr="NNSA Logo_Black.png">
            <a:extLst>
              <a:ext uri="{FF2B5EF4-FFF2-40B4-BE49-F238E27FC236}">
                <a16:creationId xmlns:a16="http://schemas.microsoft.com/office/drawing/2014/main" id="{EC90A910-6DD7-B81B-D2AE-664E5AD0A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58" y="43035206"/>
            <a:ext cx="1219200" cy="338797"/>
          </a:xfrm>
          <a:prstGeom prst="rect">
            <a:avLst/>
          </a:prstGeom>
        </p:spPr>
      </p:pic>
      <p:pic>
        <p:nvPicPr>
          <p:cNvPr id="29" name="Picture 28" descr="Text&#10;&#10;Description automatically generated">
            <a:extLst>
              <a:ext uri="{FF2B5EF4-FFF2-40B4-BE49-F238E27FC236}">
                <a16:creationId xmlns:a16="http://schemas.microsoft.com/office/drawing/2014/main" id="{804B399D-6C8A-890F-A60E-38FD6611A6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biLevel thresh="75000"/>
          </a:blip>
          <a:stretch>
            <a:fillRect/>
          </a:stretch>
        </p:blipFill>
        <p:spPr>
          <a:xfrm>
            <a:off x="1097115" y="1432559"/>
            <a:ext cx="4465485" cy="2059782"/>
          </a:xfrm>
          <a:prstGeom prst="rect">
            <a:avLst/>
          </a:prstGeom>
        </p:spPr>
      </p:pic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1540098" y="25802686"/>
            <a:ext cx="1212873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/>
            <a:r>
              <a:rPr lang="en-US" sz="2800" b="1" dirty="0">
                <a:latin typeface="Calibri" pitchFamily="34" charset="0"/>
              </a:rPr>
              <a:t>Figure 2.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Sample images of settled piles. </a:t>
            </a:r>
            <a:r>
              <a:rPr lang="en-US" sz="2800" dirty="0">
                <a:latin typeface="Calibri" pitchFamily="34" charset="0"/>
              </a:rPr>
              <a:t>Poured hard particles (D=1.00mm) settle into a stable pile under gravity and different friction coefficients. Low friction, medium friction, high friction -piles.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Darker colors represent larger force magnitude.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230B787-049B-2C15-572C-BEDE475F59BD}"/>
              </a:ext>
            </a:extLst>
          </p:cNvPr>
          <p:cNvSpPr/>
          <p:nvPr/>
        </p:nvSpPr>
        <p:spPr>
          <a:xfrm>
            <a:off x="15082547" y="6400800"/>
            <a:ext cx="13941164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Force-Chain Geometry and Distribution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156156B7-96B5-216E-9AA8-D0EA4EA4B3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607" y="16875161"/>
            <a:ext cx="6617864" cy="3044218"/>
          </a:xfrm>
          <a:prstGeom prst="rect">
            <a:avLst/>
          </a:prstGeom>
        </p:spPr>
      </p:pic>
      <p:sp>
        <p:nvSpPr>
          <p:cNvPr id="249" name="Text Box 180">
            <a:extLst>
              <a:ext uri="{FF2B5EF4-FFF2-40B4-BE49-F238E27FC236}">
                <a16:creationId xmlns:a16="http://schemas.microsoft.com/office/drawing/2014/main" id="{2D71BB4B-DD10-507E-8356-1F49B57C3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882820"/>
            <a:ext cx="128015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1.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Friction Modes (Santos et al., 2021).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Sliding, rolling, and twisting (left to right) 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</p:txBody>
      </p: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F381FE7C-E599-40FC-BCE8-31250EAFAD23}"/>
              </a:ext>
            </a:extLst>
          </p:cNvPr>
          <p:cNvGrpSpPr/>
          <p:nvPr/>
        </p:nvGrpSpPr>
        <p:grpSpPr>
          <a:xfrm>
            <a:off x="29700846" y="6400800"/>
            <a:ext cx="13047354" cy="32004000"/>
            <a:chOff x="15518768" y="6400800"/>
            <a:chExt cx="13047354" cy="32004000"/>
          </a:xfrm>
        </p:grpSpPr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8E639EF6-5907-A8D2-9134-764185398932}"/>
                </a:ext>
              </a:extLst>
            </p:cNvPr>
            <p:cNvSpPr/>
            <p:nvPr/>
          </p:nvSpPr>
          <p:spPr>
            <a:xfrm>
              <a:off x="23080870" y="16515516"/>
              <a:ext cx="5286778" cy="3156257"/>
            </a:xfrm>
            <a:prstGeom prst="roundRect">
              <a:avLst/>
            </a:prstGeom>
            <a:solidFill>
              <a:srgbClr val="F5F8FC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4800" b="1" dirty="0">
                <a:solidFill>
                  <a:schemeClr val="tx1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70C0"/>
                </a:solidFill>
              </a:endParaRPr>
            </a:p>
          </p:txBody>
        </p:sp>
        <p:sp>
          <p:nvSpPr>
            <p:cNvPr id="13" name="Text Box 192"/>
            <p:cNvSpPr txBox="1">
              <a:spLocks noChangeArrowheads="1"/>
            </p:cNvSpPr>
            <p:nvPr/>
          </p:nvSpPr>
          <p:spPr bwMode="auto">
            <a:xfrm>
              <a:off x="15621000" y="10820400"/>
              <a:ext cx="6858000" cy="25853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Granular contacts represented as an undirected graph G=(V,E). 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1" i="1" baseline="-25000" dirty="0"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1" i="1" baseline="-25000" dirty="0"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i="1" baseline="-25000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544800" y="6400800"/>
              <a:ext cx="128016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Methods </a:t>
              </a:r>
            </a:p>
          </p:txBody>
        </p:sp>
        <p:sp>
          <p:nvSpPr>
            <p:cNvPr id="7" name="Text Box 192">
              <a:extLst>
                <a:ext uri="{FF2B5EF4-FFF2-40B4-BE49-F238E27FC236}">
                  <a16:creationId xmlns:a16="http://schemas.microsoft.com/office/drawing/2014/main" id="{CD5E5724-3056-8D7D-5133-B248D31EF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3421" y="15925800"/>
              <a:ext cx="7206151" cy="5909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3600" b="1" dirty="0">
                  <a:latin typeface="Calibri" pitchFamily="34" charset="0"/>
                </a:rPr>
                <a:t>EBC </a:t>
              </a:r>
              <a:r>
                <a:rPr lang="en-US" sz="3600" b="1" dirty="0">
                  <a:latin typeface="+mn-lt"/>
                </a:rPr>
                <a:t>(Brandes, 2001)</a:t>
              </a: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quantifies how often a contact lies on force-preferred pathways through the contact network.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High-EBC contacts 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-carry many force-preferred routes 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-connect distant regions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-critical for stress transmission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-system-wide</a:t>
              </a:r>
            </a:p>
          </p:txBody>
        </p:sp>
        <p:sp>
          <p:nvSpPr>
            <p:cNvPr id="8" name="Text Box 192">
              <a:extLst>
                <a:ext uri="{FF2B5EF4-FFF2-40B4-BE49-F238E27FC236}">
                  <a16:creationId xmlns:a16="http://schemas.microsoft.com/office/drawing/2014/main" id="{8AF2A314-4482-1AC5-F6C8-5A6353A57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23070979"/>
              <a:ext cx="6858000" cy="5355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PELT </a:t>
              </a:r>
              <a:r>
                <a:rPr lang="en-US" sz="3600" dirty="0">
                  <a:latin typeface="Calibri" pitchFamily="34" charset="0"/>
                </a:rPr>
                <a:t>(</a:t>
              </a:r>
              <a:r>
                <a:rPr lang="en-US" sz="3600" dirty="0"/>
                <a:t>Killick et al., 2012)</a:t>
              </a:r>
              <a:r>
                <a:rPr lang="en-US" sz="3600" dirty="0">
                  <a:solidFill>
                    <a:srgbClr val="000000"/>
                  </a:solidFill>
                  <a:latin typeface="-webkit-standard"/>
                </a:rPr>
                <a:t> identifies statistically significant changes in the ranked EBC distribution.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i="0" u="none" strike="noStrike" dirty="0">
                  <a:solidFill>
                    <a:srgbClr val="000000"/>
                  </a:solidFill>
                  <a:effectLst/>
                  <a:latin typeface="+mn-lt"/>
                </a:rPr>
                <a:t>The first major change point separates highly important transport edges </a:t>
              </a: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+mn-lt"/>
                </a:rPr>
                <a:t>from the background contact network.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0" i="0" u="none" strike="noStrike" dirty="0">
                <a:solidFill>
                  <a:srgbClr val="000000"/>
                </a:solidFill>
                <a:effectLst/>
                <a:latin typeface="+mn-lt"/>
              </a:endParaRPr>
            </a:p>
          </p:txBody>
        </p:sp>
        <p:sp>
          <p:nvSpPr>
            <p:cNvPr id="9" name="Text Box 192">
              <a:extLst>
                <a:ext uri="{FF2B5EF4-FFF2-40B4-BE49-F238E27FC236}">
                  <a16:creationId xmlns:a16="http://schemas.microsoft.com/office/drawing/2014/main" id="{D3F6E06F-D0FF-ED23-EBF7-2DE3D094E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29718000"/>
              <a:ext cx="6828698" cy="42473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Quasi-linear force chains extracted using local bend-angle criterion </a:t>
              </a:r>
              <a:r>
                <a:rPr lang="en-US" sz="2400" dirty="0">
                  <a:latin typeface="Calibri" pitchFamily="34" charset="0"/>
                </a:rPr>
                <a:t>(consistent with force-chain alignment criteria in Peters et al., 2005; Tordesillas et al., 2010).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2400" b="1" i="1" dirty="0">
                <a:highlight>
                  <a:srgbClr val="FFFF00"/>
                </a:highlight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i="1" dirty="0">
                  <a:latin typeface="Calibri" pitchFamily="34" charset="0"/>
                </a:rPr>
                <a:t>Edges connected if </a:t>
              </a:r>
              <a:r>
                <a:rPr lang="en-US" sz="3600" b="1" dirty="0" err="1">
                  <a:latin typeface="Calibri" pitchFamily="34" charset="0"/>
                </a:rPr>
                <a:t>θ</a:t>
              </a:r>
              <a:r>
                <a:rPr lang="en-US" sz="3600" b="1" dirty="0">
                  <a:latin typeface="Calibri" pitchFamily="34" charset="0"/>
                </a:rPr>
                <a:t> ≤ 45°.     </a:t>
              </a:r>
              <a:r>
                <a:rPr lang="el-GR" sz="3600" b="1" dirty="0">
                  <a:latin typeface="Calibri" pitchFamily="34" charset="0"/>
                </a:rPr>
                <a:t>Θ</a:t>
              </a:r>
              <a:r>
                <a:rPr lang="en-US" sz="3600" b="1" dirty="0">
                  <a:latin typeface="Calibri" pitchFamily="34" charset="0"/>
                </a:rPr>
                <a:t>:</a:t>
              </a:r>
              <a:r>
                <a:rPr lang="en-US" sz="3600" dirty="0">
                  <a:latin typeface="Calibri" pitchFamily="34" charset="0"/>
                </a:rPr>
                <a:t> deviation from straight path. </a:t>
              </a:r>
              <a:endParaRPr lang="en-US" sz="3600" b="1" dirty="0">
                <a:latin typeface="Calibri" pitchFamily="34" charset="0"/>
              </a:endParaRPr>
            </a:p>
          </p:txBody>
        </p:sp>
        <p:sp>
          <p:nvSpPr>
            <p:cNvPr id="16" name="Text Box 192">
              <a:extLst>
                <a:ext uri="{FF2B5EF4-FFF2-40B4-BE49-F238E27FC236}">
                  <a16:creationId xmlns:a16="http://schemas.microsoft.com/office/drawing/2014/main" id="{8887804E-6402-4058-8276-77D2D5554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35225920"/>
              <a:ext cx="6498588" cy="31788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Traditional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Force threshold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Local alignment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14346A2-989A-295B-D428-8C0DC712F57A}"/>
                </a:ext>
              </a:extLst>
            </p:cNvPr>
            <p:cNvSpPr/>
            <p:nvPr/>
          </p:nvSpPr>
          <p:spPr>
            <a:xfrm>
              <a:off x="15621000" y="9753600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FC2D78-E122-2F66-FDC2-68D9B8D9B8E7}"/>
                </a:ext>
              </a:extLst>
            </p:cNvPr>
            <p:cNvSpPr/>
            <p:nvPr/>
          </p:nvSpPr>
          <p:spPr>
            <a:xfrm>
              <a:off x="15544800" y="6400800"/>
              <a:ext cx="128778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Methods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F81247-7458-60AE-950A-AFE29D7F40D8}"/>
                </a:ext>
              </a:extLst>
            </p:cNvPr>
            <p:cNvSpPr/>
            <p:nvPr/>
          </p:nvSpPr>
          <p:spPr>
            <a:xfrm>
              <a:off x="15666720" y="14782800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FBEA75-0B38-EE2A-48EF-BAEF3DE3B86B}"/>
                </a:ext>
              </a:extLst>
            </p:cNvPr>
            <p:cNvSpPr/>
            <p:nvPr/>
          </p:nvSpPr>
          <p:spPr>
            <a:xfrm>
              <a:off x="15623091" y="21945600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F41436-575A-4420-BB2B-A96D49564B7E}"/>
                </a:ext>
              </a:extLst>
            </p:cNvPr>
            <p:cNvSpPr/>
            <p:nvPr/>
          </p:nvSpPr>
          <p:spPr>
            <a:xfrm>
              <a:off x="15621000" y="28575001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4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109C620-85AF-92B1-7F88-1A9B902B6A51}"/>
                </a:ext>
              </a:extLst>
            </p:cNvPr>
            <p:cNvSpPr/>
            <p:nvPr/>
          </p:nvSpPr>
          <p:spPr>
            <a:xfrm>
              <a:off x="16764000" y="14828520"/>
              <a:ext cx="116586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IDENTIFICATION OF CRITICAL EDGES USING EDGE BETWEENNES CENTRALITY (EBC)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B248717-1B95-E438-003D-3089D13CDD30}"/>
                </a:ext>
              </a:extLst>
            </p:cNvPr>
            <p:cNvSpPr/>
            <p:nvPr/>
          </p:nvSpPr>
          <p:spPr>
            <a:xfrm>
              <a:off x="16764000" y="9829800"/>
              <a:ext cx="11658600" cy="9144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 INVERSE-FORCE WEIGHTED CONTACT NETWORK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13049E-E8B2-23A9-C638-26F2B91281F3}"/>
                </a:ext>
              </a:extLst>
            </p:cNvPr>
            <p:cNvSpPr/>
            <p:nvPr/>
          </p:nvSpPr>
          <p:spPr>
            <a:xfrm>
              <a:off x="16764000" y="21945600"/>
              <a:ext cx="116205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IDENTIFICATION OF HIGH IMPORTANCE FORCE  CHAINS USING CHANGE POINT DETECTION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81EA69B-A635-1E00-2DF9-FBD5AD2FC370}"/>
                </a:ext>
              </a:extLst>
            </p:cNvPr>
            <p:cNvSpPr/>
            <p:nvPr/>
          </p:nvSpPr>
          <p:spPr>
            <a:xfrm>
              <a:off x="16764000" y="28575000"/>
              <a:ext cx="116205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FORCE-CHAIN STRUCTURAL CHARACTERIZATION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3B7099E-7CDC-6CA9-D687-2588CF5BA6C1}"/>
                </a:ext>
              </a:extLst>
            </p:cNvPr>
            <p:cNvSpPr/>
            <p:nvPr/>
          </p:nvSpPr>
          <p:spPr>
            <a:xfrm>
              <a:off x="15598140" y="34061400"/>
              <a:ext cx="1282446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TRADITIONAL vs EBC APPROACH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69313A9-855A-9947-5FB7-C99319F02DE5}"/>
                    </a:ext>
                  </a:extLst>
                </p:cNvPr>
                <p:cNvSpPr txBox="1"/>
                <p:nvPr/>
              </p:nvSpPr>
              <p:spPr>
                <a:xfrm>
                  <a:off x="18753465" y="12115800"/>
                  <a:ext cx="4030925" cy="11634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3200" b="1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69313A9-855A-9947-5FB7-C99319F02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53465" y="12115800"/>
                  <a:ext cx="4030925" cy="1163460"/>
                </a:xfrm>
                <a:prstGeom prst="rect">
                  <a:avLst/>
                </a:prstGeom>
                <a:blipFill>
                  <a:blip r:embed="rId7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0BDA44D-52DE-07A0-6CDF-669D5715E771}"/>
                </a:ext>
              </a:extLst>
            </p:cNvPr>
            <p:cNvSpPr txBox="1"/>
            <p:nvPr/>
          </p:nvSpPr>
          <p:spPr>
            <a:xfrm>
              <a:off x="15727678" y="13430071"/>
              <a:ext cx="949452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Strong contacts correspond to low-cost paths and therefore dominate shortest-path transport.</a:t>
              </a:r>
            </a:p>
          </p:txBody>
        </p: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C4611FD5-3627-3026-6BAD-A913EF1C7EE6}"/>
                </a:ext>
              </a:extLst>
            </p:cNvPr>
            <p:cNvGrpSpPr/>
            <p:nvPr/>
          </p:nvGrpSpPr>
          <p:grpSpPr>
            <a:xfrm>
              <a:off x="23916326" y="11085316"/>
              <a:ext cx="3696233" cy="2936959"/>
              <a:chOff x="23095349" y="8483025"/>
              <a:chExt cx="4813241" cy="3693236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B06972D-050F-EF74-5FF2-7A9957D7A06C}"/>
                  </a:ext>
                </a:extLst>
              </p:cNvPr>
              <p:cNvSpPr/>
              <p:nvPr/>
            </p:nvSpPr>
            <p:spPr>
              <a:xfrm>
                <a:off x="23919290" y="10466499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265FD6B-CE3C-9C61-F6E3-9C6933FDC926}"/>
                  </a:ext>
                </a:extLst>
              </p:cNvPr>
              <p:cNvSpPr/>
              <p:nvPr/>
            </p:nvSpPr>
            <p:spPr>
              <a:xfrm>
                <a:off x="25269634" y="9045119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A203A39-BBD4-8244-28B9-DE3E457C77E9}"/>
                  </a:ext>
                </a:extLst>
              </p:cNvPr>
              <p:cNvSpPr/>
              <p:nvPr/>
            </p:nvSpPr>
            <p:spPr>
              <a:xfrm>
                <a:off x="23224715" y="873555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8A27F8E-F829-90E2-A06B-873A3F32F65D}"/>
                  </a:ext>
                </a:extLst>
              </p:cNvPr>
              <p:cNvSpPr/>
              <p:nvPr/>
            </p:nvSpPr>
            <p:spPr>
              <a:xfrm>
                <a:off x="23347161" y="1016027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78B8561-2964-3E92-C2A0-9C9AF6C60EC3}"/>
                  </a:ext>
                </a:extLst>
              </p:cNvPr>
              <p:cNvSpPr/>
              <p:nvPr/>
            </p:nvSpPr>
            <p:spPr>
              <a:xfrm>
                <a:off x="25770547" y="11565196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3FE4D29D-33E4-B5EE-73FB-CD31919DD881}"/>
                  </a:ext>
                </a:extLst>
              </p:cNvPr>
              <p:cNvSpPr/>
              <p:nvPr/>
            </p:nvSpPr>
            <p:spPr>
              <a:xfrm>
                <a:off x="24069986" y="11382316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9252A96-BACB-70E7-023B-57F74727B538}"/>
                  </a:ext>
                </a:extLst>
              </p:cNvPr>
              <p:cNvSpPr/>
              <p:nvPr/>
            </p:nvSpPr>
            <p:spPr>
              <a:xfrm>
                <a:off x="24752675" y="11810501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212FB80-D08A-D559-F2E7-E4E83BA5F5CA}"/>
                  </a:ext>
                </a:extLst>
              </p:cNvPr>
              <p:cNvSpPr/>
              <p:nvPr/>
            </p:nvSpPr>
            <p:spPr>
              <a:xfrm>
                <a:off x="24527186" y="9861055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6DE0634-1F06-CF1B-70ED-9B8A9D003507}"/>
                  </a:ext>
                </a:extLst>
              </p:cNvPr>
              <p:cNvSpPr/>
              <p:nvPr/>
            </p:nvSpPr>
            <p:spPr>
              <a:xfrm>
                <a:off x="27235550" y="1049325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04F3FBA-9D3C-15F7-DAE9-DC0716EA8676}"/>
                  </a:ext>
                </a:extLst>
              </p:cNvPr>
              <p:cNvSpPr/>
              <p:nvPr/>
            </p:nvSpPr>
            <p:spPr>
              <a:xfrm>
                <a:off x="26042849" y="9666993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986B0-EC74-1148-EA25-AFF8BC90F3EE}"/>
                  </a:ext>
                </a:extLst>
              </p:cNvPr>
              <p:cNvSpPr/>
              <p:nvPr/>
            </p:nvSpPr>
            <p:spPr>
              <a:xfrm>
                <a:off x="25590158" y="10427375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E00E876-89B8-4F49-C0E0-9CD0F2FD03EC}"/>
                  </a:ext>
                </a:extLst>
              </p:cNvPr>
              <p:cNvSpPr/>
              <p:nvPr/>
            </p:nvSpPr>
            <p:spPr>
              <a:xfrm>
                <a:off x="24346235" y="8999397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11AC80E-0FF3-61F8-FBD8-5BF96E955EB7}"/>
                  </a:ext>
                </a:extLst>
              </p:cNvPr>
              <p:cNvSpPr/>
              <p:nvPr/>
            </p:nvSpPr>
            <p:spPr>
              <a:xfrm>
                <a:off x="23777233" y="9556238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6B41FEF2-8EAA-560D-FF9A-58B13298BA91}"/>
                  </a:ext>
                </a:extLst>
              </p:cNvPr>
              <p:cNvSpPr/>
              <p:nvPr/>
            </p:nvSpPr>
            <p:spPr>
              <a:xfrm>
                <a:off x="26650837" y="8697841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82CDB9F-B8E3-FA45-AFF6-4AF7FE642F74}"/>
                  </a:ext>
                </a:extLst>
              </p:cNvPr>
              <p:cNvCxnSpPr>
                <a:cxnSpLocks/>
                <a:stCxn id="61" idx="4"/>
                <a:endCxn id="69" idx="0"/>
              </p:cNvCxnSpPr>
              <p:nvPr/>
            </p:nvCxnSpPr>
            <p:spPr>
              <a:xfrm>
                <a:off x="24102170" y="10832259"/>
                <a:ext cx="150696" cy="550057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6634876-7DC0-38A8-43BF-83FB828FBE1C}"/>
                  </a:ext>
                </a:extLst>
              </p:cNvPr>
              <p:cNvCxnSpPr>
                <a:cxnSpLocks/>
                <a:stCxn id="71" idx="3"/>
              </p:cNvCxnSpPr>
              <p:nvPr/>
            </p:nvCxnSpPr>
            <p:spPr>
              <a:xfrm flipH="1">
                <a:off x="24250717" y="10173251"/>
                <a:ext cx="330033" cy="348381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4B7C1DF-39E9-AA1E-6B51-D4A594F20FA5}"/>
                  </a:ext>
                </a:extLst>
              </p:cNvPr>
              <p:cNvCxnSpPr>
                <a:cxnSpLocks/>
                <a:stCxn id="67" idx="5"/>
                <a:endCxn id="61" idx="1"/>
              </p:cNvCxnSpPr>
              <p:nvPr/>
            </p:nvCxnSpPr>
            <p:spPr>
              <a:xfrm>
                <a:off x="23659357" y="10472470"/>
                <a:ext cx="313497" cy="47593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DC02E8D-E07A-AB38-FEE2-157CA28BA5CD}"/>
                  </a:ext>
                </a:extLst>
              </p:cNvPr>
              <p:cNvCxnSpPr>
                <a:cxnSpLocks/>
                <a:stCxn id="67" idx="0"/>
                <a:endCxn id="66" idx="4"/>
              </p:cNvCxnSpPr>
              <p:nvPr/>
            </p:nvCxnSpPr>
            <p:spPr>
              <a:xfrm flipH="1" flipV="1">
                <a:off x="23407595" y="9101314"/>
                <a:ext cx="122446" cy="105896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07A5C2F-7919-609D-2717-5FC39ED5DBC5}"/>
                  </a:ext>
                </a:extLst>
              </p:cNvPr>
              <p:cNvCxnSpPr>
                <a:cxnSpLocks/>
                <a:stCxn id="75" idx="1"/>
                <a:endCxn id="71" idx="6"/>
              </p:cNvCxnSpPr>
              <p:nvPr/>
            </p:nvCxnSpPr>
            <p:spPr>
              <a:xfrm flipH="1" flipV="1">
                <a:off x="24892946" y="10043935"/>
                <a:ext cx="750776" cy="437004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41780B23-AC93-BEAE-4877-658CFA620EA3}"/>
                  </a:ext>
                </a:extLst>
              </p:cNvPr>
              <p:cNvCxnSpPr>
                <a:cxnSpLocks/>
                <a:stCxn id="68" idx="0"/>
                <a:endCxn id="75" idx="4"/>
              </p:cNvCxnSpPr>
              <p:nvPr/>
            </p:nvCxnSpPr>
            <p:spPr>
              <a:xfrm flipH="1" flipV="1">
                <a:off x="25773038" y="10793135"/>
                <a:ext cx="180389" cy="772061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C5DA782-DD80-21D0-1D26-983E1D5D9536}"/>
                  </a:ext>
                </a:extLst>
              </p:cNvPr>
              <p:cNvCxnSpPr>
                <a:cxnSpLocks/>
                <a:stCxn id="74" idx="3"/>
                <a:endCxn id="75" idx="0"/>
              </p:cNvCxnSpPr>
              <p:nvPr/>
            </p:nvCxnSpPr>
            <p:spPr>
              <a:xfrm flipH="1">
                <a:off x="25773038" y="9901140"/>
                <a:ext cx="309984" cy="526235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2B726F2-172A-4A9B-0278-7E92FBF0BDC5}"/>
                  </a:ext>
                </a:extLst>
              </p:cNvPr>
              <p:cNvCxnSpPr>
                <a:cxnSpLocks/>
                <a:stCxn id="78" idx="3"/>
                <a:endCxn id="74" idx="7"/>
              </p:cNvCxnSpPr>
              <p:nvPr/>
            </p:nvCxnSpPr>
            <p:spPr>
              <a:xfrm flipH="1">
                <a:off x="26276996" y="9010037"/>
                <a:ext cx="427405" cy="697129"/>
              </a:xfrm>
              <a:prstGeom prst="line">
                <a:avLst/>
              </a:prstGeom>
              <a:ln w="762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3376BB7-8291-9484-6AFA-34BEBE3CBC3D}"/>
                  </a:ext>
                </a:extLst>
              </p:cNvPr>
              <p:cNvCxnSpPr>
                <a:cxnSpLocks/>
                <a:stCxn id="64" idx="3"/>
                <a:endCxn id="71" idx="7"/>
              </p:cNvCxnSpPr>
              <p:nvPr/>
            </p:nvCxnSpPr>
            <p:spPr>
              <a:xfrm flipH="1">
                <a:off x="24839382" y="9357315"/>
                <a:ext cx="483816" cy="557304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FEC037D-FC50-2F91-95EB-4FB6EA20DD96}"/>
                  </a:ext>
                </a:extLst>
              </p:cNvPr>
              <p:cNvCxnSpPr>
                <a:cxnSpLocks/>
                <a:stCxn id="77" idx="4"/>
                <a:endCxn id="67" idx="7"/>
              </p:cNvCxnSpPr>
              <p:nvPr/>
            </p:nvCxnSpPr>
            <p:spPr>
              <a:xfrm flipH="1">
                <a:off x="23659357" y="9739118"/>
                <a:ext cx="209316" cy="47472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CF1FF087-D668-8B3D-D5C6-CD84E6920EB4}"/>
                  </a:ext>
                </a:extLst>
              </p:cNvPr>
              <p:cNvCxnSpPr>
                <a:cxnSpLocks/>
                <a:stCxn id="76" idx="3"/>
                <a:endCxn id="77" idx="7"/>
              </p:cNvCxnSpPr>
              <p:nvPr/>
            </p:nvCxnSpPr>
            <p:spPr>
              <a:xfrm flipH="1">
                <a:off x="23933331" y="9077446"/>
                <a:ext cx="426295" cy="505574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4B967C8-9399-0C39-55A1-DF12FD3EFAD5}"/>
                  </a:ext>
                </a:extLst>
              </p:cNvPr>
              <p:cNvSpPr/>
              <p:nvPr/>
            </p:nvSpPr>
            <p:spPr>
              <a:xfrm>
                <a:off x="24994623" y="11037378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061C291-2595-2BD6-5616-94E886995F34}"/>
                  </a:ext>
                </a:extLst>
              </p:cNvPr>
              <p:cNvCxnSpPr>
                <a:cxnSpLocks/>
                <a:stCxn id="118" idx="4"/>
                <a:endCxn id="70" idx="0"/>
              </p:cNvCxnSpPr>
              <p:nvPr/>
            </p:nvCxnSpPr>
            <p:spPr>
              <a:xfrm flipH="1">
                <a:off x="24935555" y="11220258"/>
                <a:ext cx="150508" cy="59024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CCC1DA7-5E5A-9B5A-D3CE-25A2B0321501}"/>
                  </a:ext>
                </a:extLst>
              </p:cNvPr>
              <p:cNvCxnSpPr>
                <a:cxnSpLocks/>
                <a:stCxn id="71" idx="4"/>
                <a:endCxn id="118" idx="0"/>
              </p:cNvCxnSpPr>
              <p:nvPr/>
            </p:nvCxnSpPr>
            <p:spPr>
              <a:xfrm>
                <a:off x="24710066" y="10226815"/>
                <a:ext cx="375997" cy="81056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6B0EFB73-8360-7E1D-07CA-0C048C58EE61}"/>
                  </a:ext>
                </a:extLst>
              </p:cNvPr>
              <p:cNvCxnSpPr>
                <a:cxnSpLocks/>
                <a:stCxn id="128" idx="1"/>
                <a:endCxn id="118" idx="6"/>
              </p:cNvCxnSpPr>
              <p:nvPr/>
            </p:nvCxnSpPr>
            <p:spPr>
              <a:xfrm flipH="1" flipV="1">
                <a:off x="25177503" y="11128818"/>
                <a:ext cx="335522" cy="251111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E82156DA-0911-C42C-4AA3-5BE7DE85623E}"/>
                  </a:ext>
                </a:extLst>
              </p:cNvPr>
              <p:cNvSpPr/>
              <p:nvPr/>
            </p:nvSpPr>
            <p:spPr>
              <a:xfrm>
                <a:off x="25486243" y="11353147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FA3D4516-A263-C1E4-D8A7-1D4141687563}"/>
                  </a:ext>
                </a:extLst>
              </p:cNvPr>
              <p:cNvCxnSpPr>
                <a:cxnSpLocks/>
                <a:stCxn id="128" idx="0"/>
                <a:endCxn id="75" idx="3"/>
              </p:cNvCxnSpPr>
              <p:nvPr/>
            </p:nvCxnSpPr>
            <p:spPr>
              <a:xfrm flipV="1">
                <a:off x="25577683" y="10739571"/>
                <a:ext cx="66039" cy="613576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9D25C21-BBCF-CBE2-022D-7B4F526D1A4F}"/>
                  </a:ext>
                </a:extLst>
              </p:cNvPr>
              <p:cNvCxnSpPr>
                <a:cxnSpLocks/>
                <a:stCxn id="128" idx="3"/>
                <a:endCxn id="70" idx="7"/>
              </p:cNvCxnSpPr>
              <p:nvPr/>
            </p:nvCxnSpPr>
            <p:spPr>
              <a:xfrm flipH="1">
                <a:off x="25064871" y="11509245"/>
                <a:ext cx="448154" cy="35482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730D1484-887E-966B-1870-70C927BAF375}"/>
                  </a:ext>
                </a:extLst>
              </p:cNvPr>
              <p:cNvSpPr/>
              <p:nvPr/>
            </p:nvSpPr>
            <p:spPr>
              <a:xfrm>
                <a:off x="23095349" y="10821158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ED6F1A8-64C5-4FBD-ED28-2425038906F9}"/>
                  </a:ext>
                </a:extLst>
              </p:cNvPr>
              <p:cNvCxnSpPr>
                <a:cxnSpLocks/>
                <a:stCxn id="67" idx="3"/>
                <a:endCxn id="137" idx="0"/>
              </p:cNvCxnSpPr>
              <p:nvPr/>
            </p:nvCxnSpPr>
            <p:spPr>
              <a:xfrm flipH="1">
                <a:off x="23141069" y="10472470"/>
                <a:ext cx="259656" cy="348688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80DAD4F3-F8F8-7D2C-E3E0-1E01FF6A1E98}"/>
                  </a:ext>
                </a:extLst>
              </p:cNvPr>
              <p:cNvCxnSpPr>
                <a:cxnSpLocks/>
                <a:stCxn id="69" idx="3"/>
              </p:cNvCxnSpPr>
              <p:nvPr/>
            </p:nvCxnSpPr>
            <p:spPr>
              <a:xfrm flipH="1">
                <a:off x="23659357" y="11694512"/>
                <a:ext cx="464193" cy="22661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0738F8D5-3D71-2906-6EAA-3F2EF4F6F67E}"/>
                  </a:ext>
                </a:extLst>
              </p:cNvPr>
              <p:cNvCxnSpPr>
                <a:cxnSpLocks/>
                <a:endCxn id="68" idx="6"/>
              </p:cNvCxnSpPr>
              <p:nvPr/>
            </p:nvCxnSpPr>
            <p:spPr>
              <a:xfrm flipH="1" flipV="1">
                <a:off x="26136307" y="11748076"/>
                <a:ext cx="430553" cy="6242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4A08E32B-AB8D-6DFD-A566-6F398B61C6E5}"/>
                  </a:ext>
                </a:extLst>
              </p:cNvPr>
              <p:cNvCxnSpPr>
                <a:cxnSpLocks/>
                <a:stCxn id="78" idx="5"/>
                <a:endCxn id="73" idx="0"/>
              </p:cNvCxnSpPr>
              <p:nvPr/>
            </p:nvCxnSpPr>
            <p:spPr>
              <a:xfrm>
                <a:off x="26963033" y="9010037"/>
                <a:ext cx="455397" cy="1483217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FE53B7B-C883-EACC-CF35-2ED799193B26}"/>
                  </a:ext>
                </a:extLst>
              </p:cNvPr>
              <p:cNvCxnSpPr>
                <a:cxnSpLocks/>
                <a:stCxn id="74" idx="5"/>
                <a:endCxn id="73" idx="1"/>
              </p:cNvCxnSpPr>
              <p:nvPr/>
            </p:nvCxnSpPr>
            <p:spPr>
              <a:xfrm>
                <a:off x="26276996" y="9901140"/>
                <a:ext cx="1012118" cy="645678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42D78407-DECB-7619-CCF4-E830BAB4F148}"/>
                  </a:ext>
                </a:extLst>
              </p:cNvPr>
              <p:cNvSpPr/>
              <p:nvPr/>
            </p:nvSpPr>
            <p:spPr>
              <a:xfrm>
                <a:off x="27725710" y="9386575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7693FC6-61A3-1CED-960A-3E40BE5955E1}"/>
                  </a:ext>
                </a:extLst>
              </p:cNvPr>
              <p:cNvCxnSpPr>
                <a:cxnSpLocks/>
                <a:stCxn id="78" idx="6"/>
                <a:endCxn id="157" idx="1"/>
              </p:cNvCxnSpPr>
              <p:nvPr/>
            </p:nvCxnSpPr>
            <p:spPr>
              <a:xfrm>
                <a:off x="27016597" y="8880721"/>
                <a:ext cx="735895" cy="532636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99119558-F4D2-9018-1B51-2DA24BC87B5D}"/>
                  </a:ext>
                </a:extLst>
              </p:cNvPr>
              <p:cNvCxnSpPr>
                <a:cxnSpLocks/>
                <a:stCxn id="157" idx="4"/>
                <a:endCxn id="73" idx="7"/>
              </p:cNvCxnSpPr>
              <p:nvPr/>
            </p:nvCxnSpPr>
            <p:spPr>
              <a:xfrm flipH="1">
                <a:off x="27547746" y="9569455"/>
                <a:ext cx="269404" cy="97736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713FC9A2-EAB7-E544-3C33-C65B1230B7A9}"/>
                  </a:ext>
                </a:extLst>
              </p:cNvPr>
              <p:cNvCxnSpPr>
                <a:cxnSpLocks/>
                <a:stCxn id="78" idx="1"/>
                <a:endCxn id="167" idx="6"/>
              </p:cNvCxnSpPr>
              <p:nvPr/>
            </p:nvCxnSpPr>
            <p:spPr>
              <a:xfrm flipH="1" flipV="1">
                <a:off x="26169732" y="8605184"/>
                <a:ext cx="534669" cy="146221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40BD1D2E-22B7-7833-7696-A293B9DE7396}"/>
                  </a:ext>
                </a:extLst>
              </p:cNvPr>
              <p:cNvSpPr/>
              <p:nvPr/>
            </p:nvSpPr>
            <p:spPr>
              <a:xfrm>
                <a:off x="26078292" y="8559464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5D846813-DE8E-01C6-4D17-5480C8C2DCA3}"/>
                  </a:ext>
                </a:extLst>
              </p:cNvPr>
              <p:cNvSpPr/>
              <p:nvPr/>
            </p:nvSpPr>
            <p:spPr>
              <a:xfrm>
                <a:off x="26738585" y="10161610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74276BD0-F9DA-0746-A296-15F7E5DDD618}"/>
                  </a:ext>
                </a:extLst>
              </p:cNvPr>
              <p:cNvCxnSpPr>
                <a:cxnSpLocks/>
                <a:stCxn id="170" idx="3"/>
                <a:endCxn id="175" idx="0"/>
              </p:cNvCxnSpPr>
              <p:nvPr/>
            </p:nvCxnSpPr>
            <p:spPr>
              <a:xfrm flipH="1">
                <a:off x="26443612" y="10317708"/>
                <a:ext cx="321755" cy="50816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15FC243-DD34-D4EF-76B2-1B2D6F89B2CC}"/>
                  </a:ext>
                </a:extLst>
              </p:cNvPr>
              <p:cNvSpPr/>
              <p:nvPr/>
            </p:nvSpPr>
            <p:spPr>
              <a:xfrm>
                <a:off x="26411608" y="10825877"/>
                <a:ext cx="64008" cy="640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7FE7864-8E46-DD64-79BB-170C85B1E717}"/>
                  </a:ext>
                </a:extLst>
              </p:cNvPr>
              <p:cNvSpPr txBox="1"/>
              <p:nvPr/>
            </p:nvSpPr>
            <p:spPr>
              <a:xfrm>
                <a:off x="25679400" y="8951972"/>
                <a:ext cx="6286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i="1" dirty="0" err="1"/>
                  <a:t>w</a:t>
                </a:r>
                <a:r>
                  <a:rPr lang="en-US" sz="3200" b="1" i="1" baseline="-25000" dirty="0" err="1"/>
                  <a:t>ij</a:t>
                </a:r>
                <a:endParaRPr lang="en-US" sz="3200" b="1" i="1" baseline="-25000" dirty="0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B0F6A7EE-488E-F511-1116-88D809B0994F}"/>
                  </a:ext>
                </a:extLst>
              </p:cNvPr>
              <p:cNvSpPr txBox="1"/>
              <p:nvPr/>
            </p:nvSpPr>
            <p:spPr>
              <a:xfrm>
                <a:off x="26993944" y="8483025"/>
                <a:ext cx="2856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i="1" dirty="0" err="1"/>
                  <a:t>i</a:t>
                </a:r>
                <a:endParaRPr lang="en-US" sz="3200" b="1" i="1" baseline="-25000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B40F234-F35C-9AB0-9CA8-217AAC0BCFA9}"/>
                  </a:ext>
                </a:extLst>
              </p:cNvPr>
              <p:cNvSpPr txBox="1"/>
              <p:nvPr/>
            </p:nvSpPr>
            <p:spPr>
              <a:xfrm flipH="1">
                <a:off x="26279718" y="9556238"/>
                <a:ext cx="3902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i="1" dirty="0"/>
                  <a:t>j</a:t>
                </a:r>
                <a:endParaRPr lang="en-US" sz="3200" b="1" i="1" baseline="-250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AA0573C-21EF-7F66-8029-ABE1485B6E24}"/>
                    </a:ext>
                  </a:extLst>
                </p:cNvPr>
                <p:cNvSpPr txBox="1"/>
                <p:nvPr/>
              </p:nvSpPr>
              <p:spPr>
                <a:xfrm>
                  <a:off x="23176923" y="17110264"/>
                  <a:ext cx="5190725" cy="20159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5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54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5400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5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54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5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5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5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5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5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𝒔𝒕</m:t>
                                    </m:r>
                                  </m:sub>
                                </m:sSub>
                                <m:r>
                                  <a:rPr lang="en-US" sz="5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5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  <m:r>
                                  <a:rPr lang="en-US" sz="5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5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5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𝒔𝒕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a:rPr lang="en-US" sz="5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5400" b="1" dirty="0"/>
                </a:p>
              </p:txBody>
            </p:sp>
          </mc:Choice>
          <mc:Fallback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AA0573C-21EF-7F66-8029-ABE1485B6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76923" y="17110264"/>
                  <a:ext cx="5190725" cy="2015936"/>
                </a:xfrm>
                <a:prstGeom prst="rect">
                  <a:avLst/>
                </a:prstGeom>
                <a:blipFill>
                  <a:blip r:embed="rId8"/>
                  <a:stretch>
                    <a:fillRect l="-11707" t="-147500" r="-3902" b="-2037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17170D9-81EE-CCB9-711D-BC578DC3A4B0}"/>
                    </a:ext>
                  </a:extLst>
                </p:cNvPr>
                <p:cNvSpPr txBox="1"/>
                <p:nvPr/>
              </p:nvSpPr>
              <p:spPr>
                <a:xfrm>
                  <a:off x="23270573" y="19828014"/>
                  <a:ext cx="4771027" cy="1323439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</m:oMath>
                  </a14:m>
                  <a:r>
                    <a:rPr lang="en-US" sz="2000" dirty="0"/>
                    <a:t>: number of shortest paths </a:t>
                  </a:r>
                </a:p>
                <a:p>
                  <a:r>
                    <a:rPr lang="en-US" sz="2000" dirty="0"/>
                    <a:t>between nodes </a:t>
                  </a:r>
                  <a:r>
                    <a:rPr lang="en-US" sz="2000" i="1" dirty="0"/>
                    <a:t>s</a:t>
                  </a:r>
                  <a:r>
                    <a:rPr lang="en-US" sz="2000" dirty="0"/>
                    <a:t> and </a:t>
                  </a:r>
                  <a:r>
                    <a:rPr lang="en-US" sz="2000" i="1" dirty="0"/>
                    <a:t>t</a:t>
                  </a:r>
                  <a:endParaRPr lang="en-US" sz="2000" i="1" dirty="0">
                    <a:ea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sz="2000" i="1"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000" i="1"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: number of those paths </a:t>
                  </a:r>
                </a:p>
                <a:p>
                  <a:r>
                    <a:rPr lang="en-US" sz="2000" dirty="0"/>
                    <a:t>that include edge </a:t>
                  </a:r>
                  <a:r>
                    <a:rPr lang="en-US" sz="2000" i="1" dirty="0"/>
                    <a:t>e</a:t>
                  </a:r>
                </a:p>
              </p:txBody>
            </p:sp>
          </mc:Choice>
          <mc:Fallback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17170D9-81EE-CCB9-711D-BC578DC3A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70573" y="19828014"/>
                  <a:ext cx="4771027" cy="1323439"/>
                </a:xfrm>
                <a:prstGeom prst="rect">
                  <a:avLst/>
                </a:prstGeom>
                <a:blipFill>
                  <a:blip r:embed="rId9"/>
                  <a:stretch>
                    <a:fillRect l="-1326" t="-1869" b="-6542"/>
                  </a:stretch>
                </a:blipFill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A0A228C-73D4-9E19-3FDA-424A059F4C50}"/>
                </a:ext>
              </a:extLst>
            </p:cNvPr>
            <p:cNvSpPr txBox="1"/>
            <p:nvPr/>
          </p:nvSpPr>
          <p:spPr>
            <a:xfrm>
              <a:off x="21443244" y="22677329"/>
              <a:ext cx="65" cy="13234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2AFF4315-5835-9854-5845-CFBE85698F3A}"/>
                </a:ext>
              </a:extLst>
            </p:cNvPr>
            <p:cNvGrpSpPr/>
            <p:nvPr/>
          </p:nvGrpSpPr>
          <p:grpSpPr>
            <a:xfrm>
              <a:off x="23727237" y="30131779"/>
              <a:ext cx="3957936" cy="2558021"/>
              <a:chOff x="24129384" y="22400418"/>
              <a:chExt cx="3957936" cy="2558021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743F8F2-BC43-8FA3-46E3-D8CF39B1B34A}"/>
                  </a:ext>
                </a:extLst>
              </p:cNvPr>
              <p:cNvSpPr/>
              <p:nvPr/>
            </p:nvSpPr>
            <p:spPr>
              <a:xfrm>
                <a:off x="25725120" y="22400418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9E06C1C2-DDA5-10E1-F2B7-2101A5586F57}"/>
                  </a:ext>
                </a:extLst>
              </p:cNvPr>
              <p:cNvSpPr/>
              <p:nvPr/>
            </p:nvSpPr>
            <p:spPr>
              <a:xfrm>
                <a:off x="26189050" y="23210519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14391F1B-9FD5-8E86-A309-023F373E0277}"/>
                  </a:ext>
                </a:extLst>
              </p:cNvPr>
              <p:cNvSpPr/>
              <p:nvPr/>
            </p:nvSpPr>
            <p:spPr>
              <a:xfrm>
                <a:off x="26646845" y="23958144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90CE3B07-7F3E-50E8-9629-BB6CE9CBA52F}"/>
                  </a:ext>
                </a:extLst>
              </p:cNvPr>
              <p:cNvSpPr/>
              <p:nvPr/>
            </p:nvSpPr>
            <p:spPr>
              <a:xfrm>
                <a:off x="27052670" y="24481616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E858DB71-591D-1064-D9AA-2CC8B70950A3}"/>
                  </a:ext>
                </a:extLst>
              </p:cNvPr>
              <p:cNvSpPr/>
              <p:nvPr/>
            </p:nvSpPr>
            <p:spPr>
              <a:xfrm>
                <a:off x="27813000" y="24684119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A102B93-61E9-3A23-9F45-74C11B9346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235550" y="24684119"/>
                <a:ext cx="757839" cy="127968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C0F3EEB7-7AE7-D294-7030-DD2E96D8E86E}"/>
                  </a:ext>
                </a:extLst>
              </p:cNvPr>
              <p:cNvCxnSpPr>
                <a:cxnSpLocks/>
                <a:stCxn id="191" idx="5"/>
              </p:cNvCxnSpPr>
              <p:nvPr/>
            </p:nvCxnSpPr>
            <p:spPr>
              <a:xfrm flipH="1" flipV="1">
                <a:off x="26746200" y="24077990"/>
                <a:ext cx="540617" cy="637773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63B81F8-E38D-EB46-9E2A-29C1BC3685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317169" y="23317200"/>
                <a:ext cx="429031" cy="76200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CAC70D3-A6F8-D519-C12C-88EC53D229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863232" y="22555200"/>
                <a:ext cx="453937" cy="76200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493D3F47-5018-393F-C117-A8924D3BB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37462" y="24010489"/>
                <a:ext cx="662995" cy="433846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CFEAAF9C-6080-50F8-6E3F-D277E27372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129384" y="23169135"/>
                <a:ext cx="208078" cy="84975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23066E16-C2D2-1F28-C302-BC946ACEF55B}"/>
                </a:ext>
              </a:extLst>
            </p:cNvPr>
            <p:cNvSpPr txBox="1"/>
            <p:nvPr/>
          </p:nvSpPr>
          <p:spPr>
            <a:xfrm>
              <a:off x="21445537" y="22689147"/>
              <a:ext cx="250068" cy="13234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 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D5B10D24-EAAB-0942-CD2F-2A7AB22516F0}"/>
                </a:ext>
              </a:extLst>
            </p:cNvPr>
            <p:cNvSpPr txBox="1"/>
            <p:nvPr/>
          </p:nvSpPr>
          <p:spPr>
            <a:xfrm>
              <a:off x="24086862" y="27389455"/>
              <a:ext cx="32600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/>
                <a:t>C</a:t>
              </a:r>
              <a:r>
                <a:rPr lang="en-US" sz="1800" i="1" baseline="-25000" dirty="0"/>
                <a:t>i</a:t>
              </a:r>
              <a:r>
                <a:rPr lang="en-US" sz="1800" i="1" dirty="0"/>
                <a:t> : </a:t>
              </a:r>
              <a:r>
                <a:rPr lang="en-US" sz="1800" dirty="0"/>
                <a:t>fitting error of segment </a:t>
              </a:r>
              <a:endParaRPr lang="en-US" sz="1800" i="1" dirty="0"/>
            </a:p>
            <a:p>
              <a:r>
                <a:rPr lang="en-US" sz="1800" i="1" dirty="0"/>
                <a:t>k: </a:t>
              </a:r>
              <a:r>
                <a:rPr lang="en-US" sz="1800" dirty="0"/>
                <a:t>number of change points</a:t>
              </a:r>
              <a:endParaRPr lang="en-US" sz="1800" i="1" dirty="0"/>
            </a:p>
            <a:p>
              <a:r>
                <a:rPr lang="en-US" sz="1800" i="1" dirty="0"/>
                <a:t>β: </a:t>
              </a:r>
              <a:r>
                <a:rPr lang="en-US" sz="1800" dirty="0"/>
                <a:t>penalty for over segmentation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5B7BDB9E-1ABA-838F-612A-FB7A1CC4DED6}"/>
                </a:ext>
              </a:extLst>
            </p:cNvPr>
            <p:cNvSpPr txBox="1"/>
            <p:nvPr/>
          </p:nvSpPr>
          <p:spPr>
            <a:xfrm>
              <a:off x="16495444" y="12397221"/>
              <a:ext cx="27443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Edge weight: 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46AFFA3-B944-7E02-E68A-8EB214377E30}"/>
                </a:ext>
              </a:extLst>
            </p:cNvPr>
            <p:cNvSpPr txBox="1"/>
            <p:nvPr/>
          </p:nvSpPr>
          <p:spPr>
            <a:xfrm>
              <a:off x="24205254" y="31622345"/>
              <a:ext cx="393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/>
                <a:t>e</a:t>
              </a:r>
              <a:r>
                <a:rPr lang="en-US" sz="2000" i="1" baseline="-25000" dirty="0"/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DB281ED-252B-1BAD-1C14-52FA707D21C7}"/>
                </a:ext>
              </a:extLst>
            </p:cNvPr>
            <p:cNvSpPr txBox="1"/>
            <p:nvPr/>
          </p:nvSpPr>
          <p:spPr>
            <a:xfrm>
              <a:off x="23888737" y="31013400"/>
              <a:ext cx="393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/>
                <a:t>e</a:t>
              </a:r>
              <a:r>
                <a:rPr lang="en-US" sz="2000" i="1" baseline="-25000" dirty="0"/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25DC0FA-6057-1DBD-D801-98BE49E43034}"/>
                </a:ext>
              </a:extLst>
            </p:cNvPr>
            <p:cNvCxnSpPr>
              <a:cxnSpLocks/>
            </p:cNvCxnSpPr>
            <p:nvPr/>
          </p:nvCxnSpPr>
          <p:spPr>
            <a:xfrm>
              <a:off x="23194162" y="31292259"/>
              <a:ext cx="755760" cy="48469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AE6D576-759F-5371-A96D-4A6398DEA7A0}"/>
                </a:ext>
              </a:extLst>
            </p:cNvPr>
            <p:cNvSpPr txBox="1"/>
            <p:nvPr/>
          </p:nvSpPr>
          <p:spPr>
            <a:xfrm>
              <a:off x="23544140" y="31188815"/>
              <a:ext cx="6293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sz="2000" dirty="0"/>
                <a:t>θ</a:t>
              </a:r>
              <a:endParaRPr lang="en-US" sz="2000" dirty="0"/>
            </a:p>
          </p:txBody>
        </p:sp>
        <p:sp>
          <p:nvSpPr>
            <p:cNvPr id="284" name="Arc 283">
              <a:extLst>
                <a:ext uri="{FF2B5EF4-FFF2-40B4-BE49-F238E27FC236}">
                  <a16:creationId xmlns:a16="http://schemas.microsoft.com/office/drawing/2014/main" id="{D3561A51-1A15-4538-6813-33FD0C61E47C}"/>
                </a:ext>
              </a:extLst>
            </p:cNvPr>
            <p:cNvSpPr/>
            <p:nvPr/>
          </p:nvSpPr>
          <p:spPr>
            <a:xfrm rot="16042752">
              <a:off x="23486009" y="31076561"/>
              <a:ext cx="631213" cy="688095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EE81696A-4134-12B5-6880-063E4A5643F7}"/>
                    </a:ext>
                  </a:extLst>
                </p:cNvPr>
                <p:cNvSpPr txBox="1"/>
                <p:nvPr/>
              </p:nvSpPr>
              <p:spPr>
                <a:xfrm>
                  <a:off x="22784391" y="32613599"/>
                  <a:ext cx="4781937" cy="10586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 </m:t>
                                    </m:r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EE81696A-4134-12B5-6880-063E4A564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4391" y="32613599"/>
                  <a:ext cx="4781937" cy="1058623"/>
                </a:xfrm>
                <a:prstGeom prst="rect">
                  <a:avLst/>
                </a:prstGeom>
                <a:blipFill>
                  <a:blip r:embed="rId10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4" name="Text Box 192">
              <a:extLst>
                <a:ext uri="{FF2B5EF4-FFF2-40B4-BE49-F238E27FC236}">
                  <a16:creationId xmlns:a16="http://schemas.microsoft.com/office/drawing/2014/main" id="{59F647C9-A57D-881C-385D-A0FA0CA89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2448" y="35225920"/>
              <a:ext cx="6293974" cy="31788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This work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Global transport importance (EBC)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Change-point thresholding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Geometric chain extraction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D4E39B97-1E70-4D18-F095-14C7822266FB}"/>
                </a:ext>
              </a:extLst>
            </p:cNvPr>
            <p:cNvSpPr txBox="1"/>
            <p:nvPr/>
          </p:nvSpPr>
          <p:spPr>
            <a:xfrm>
              <a:off x="15518768" y="7620000"/>
              <a:ext cx="1304735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We combine weighted edge betweenness centrality, change-point </a:t>
              </a:r>
            </a:p>
            <a:p>
              <a:r>
                <a:rPr lang="en-US" sz="3600" b="1" dirty="0"/>
                <a:t>detection, and geometric chain extraction to identify force-bearing </a:t>
              </a:r>
            </a:p>
            <a:p>
              <a:r>
                <a:rPr lang="en-US" sz="3600" b="1" dirty="0"/>
                <a:t>structures in granular piles.</a:t>
              </a:r>
            </a:p>
            <a:p>
              <a:endParaRPr lang="en-US" sz="3600" dirty="0"/>
            </a:p>
          </p:txBody>
        </p: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32254D60-21E0-642E-F3CF-716390B74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83914" y="23317200"/>
              <a:ext cx="4816308" cy="2987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9E8EB363-A892-85B1-B87A-CF5E6590CD28}"/>
                    </a:ext>
                  </a:extLst>
                </p:cNvPr>
                <p:cNvSpPr txBox="1"/>
                <p:nvPr/>
              </p:nvSpPr>
              <p:spPr>
                <a:xfrm>
                  <a:off x="24058130" y="26118950"/>
                  <a:ext cx="3427462" cy="1145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9E8EB363-A892-85B1-B87A-CF5E6590CD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8130" y="26118950"/>
                  <a:ext cx="3427462" cy="1145635"/>
                </a:xfrm>
                <a:prstGeom prst="rect">
                  <a:avLst/>
                </a:prstGeom>
                <a:blipFill>
                  <a:blip r:embed="rId12"/>
                  <a:stretch>
                    <a:fillRect l="-2222" t="-123913" b="-181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69" name="Picture 1068">
            <a:extLst>
              <a:ext uri="{FF2B5EF4-FFF2-40B4-BE49-F238E27FC236}">
                <a16:creationId xmlns:a16="http://schemas.microsoft.com/office/drawing/2014/main" id="{55D157F5-5D10-A258-7A66-4B914DCF8F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5709" y="21205781"/>
            <a:ext cx="6709978" cy="3807738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4EDD1DC1-08F1-5F9B-8D74-7218B90790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249" y="21157333"/>
            <a:ext cx="6462152" cy="4217267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597E6169-6EFA-23CF-B248-48C1F63326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826" y="17503156"/>
            <a:ext cx="8061695" cy="4118302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80EC1A8D-3546-A63D-244F-08791375C6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300" y="19305328"/>
            <a:ext cx="1460500" cy="3543300"/>
          </a:xfrm>
          <a:prstGeom prst="rect">
            <a:avLst/>
          </a:prstGeom>
        </p:spPr>
      </p:pic>
      <p:pic>
        <p:nvPicPr>
          <p:cNvPr id="1081" name="Picture 1080">
            <a:extLst>
              <a:ext uri="{FF2B5EF4-FFF2-40B4-BE49-F238E27FC236}">
                <a16:creationId xmlns:a16="http://schemas.microsoft.com/office/drawing/2014/main" id="{277B923F-8C79-8A87-F49B-8F3ABC5DC4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709" y="22092234"/>
            <a:ext cx="3251200" cy="3251200"/>
          </a:xfrm>
          <a:prstGeom prst="rect">
            <a:avLst/>
          </a:prstGeom>
        </p:spPr>
      </p:pic>
      <p:pic>
        <p:nvPicPr>
          <p:cNvPr id="1083" name="Picture 1082">
            <a:extLst>
              <a:ext uri="{FF2B5EF4-FFF2-40B4-BE49-F238E27FC236}">
                <a16:creationId xmlns:a16="http://schemas.microsoft.com/office/drawing/2014/main" id="{7D49C0B8-2AD8-F52E-F701-F8374C2B88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491" y="22066594"/>
            <a:ext cx="3251200" cy="3251200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20963305-96D3-4216-AE5A-8F3D575F7D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246" y="22092234"/>
            <a:ext cx="3251200" cy="3251200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78DC8C68-0362-A520-CE4B-5C84E6FADA4D}"/>
              </a:ext>
            </a:extLst>
          </p:cNvPr>
          <p:cNvSpPr txBox="1"/>
          <p:nvPr/>
        </p:nvSpPr>
        <p:spPr>
          <a:xfrm>
            <a:off x="10957202" y="23194078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929BB546-2FD6-302E-2F84-16736D01380E}"/>
              </a:ext>
            </a:extLst>
          </p:cNvPr>
          <p:cNvSpPr txBox="1"/>
          <p:nvPr/>
        </p:nvSpPr>
        <p:spPr>
          <a:xfrm>
            <a:off x="7356913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=0.5 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A55EBF2C-3DC4-F0C8-FEC0-A7804FFFA646}"/>
              </a:ext>
            </a:extLst>
          </p:cNvPr>
          <p:cNvSpPr txBox="1"/>
          <p:nvPr/>
        </p:nvSpPr>
        <p:spPr>
          <a:xfrm>
            <a:off x="3859945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pic>
        <p:nvPicPr>
          <p:cNvPr id="1090" name="Picture 1089">
            <a:extLst>
              <a:ext uri="{FF2B5EF4-FFF2-40B4-BE49-F238E27FC236}">
                <a16:creationId xmlns:a16="http://schemas.microsoft.com/office/drawing/2014/main" id="{A8E67D0A-713E-49B5-9F04-65776FED78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729" y="29366401"/>
            <a:ext cx="9880305" cy="7313362"/>
          </a:xfrm>
          <a:prstGeom prst="rect">
            <a:avLst/>
          </a:prstGeom>
        </p:spPr>
      </p:pic>
      <p:sp>
        <p:nvSpPr>
          <p:cNvPr id="1091" name="Text Box 180">
            <a:extLst>
              <a:ext uri="{FF2B5EF4-FFF2-40B4-BE49-F238E27FC236}">
                <a16:creationId xmlns:a16="http://schemas.microsoft.com/office/drawing/2014/main" id="{62EA1641-A82F-C270-8403-7DCF2CD3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098" y="37260701"/>
            <a:ext cx="128016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3.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Effect of friction on pile height and angle of repose</a:t>
            </a:r>
            <a:r>
              <a:rPr lang="en-US" sz="2800" dirty="0">
                <a:latin typeface="Calibri" pitchFamily="34" charset="0"/>
              </a:rPr>
              <a:t>. Larger friction coefficients correspond to higher, steeper piles.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90CA75A3-EEDA-5FF5-2A65-9489104B9642}"/>
              </a:ext>
            </a:extLst>
          </p:cNvPr>
          <p:cNvSpPr/>
          <p:nvPr/>
        </p:nvSpPr>
        <p:spPr>
          <a:xfrm>
            <a:off x="1540099" y="28443036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PILE MORPHOLOGY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5AA6C9A-BAA2-EDA0-20EE-A4603F3BBF41}"/>
              </a:ext>
            </a:extLst>
          </p:cNvPr>
          <p:cNvSpPr txBox="1"/>
          <p:nvPr/>
        </p:nvSpPr>
        <p:spPr>
          <a:xfrm>
            <a:off x="15267568" y="27848306"/>
            <a:ext cx="1394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Figure 5. Different perspectives of extracted force chains </a:t>
            </a:r>
            <a:r>
              <a:rPr lang="en-US" sz="2800" dirty="0"/>
              <a:t>colored by log10(EBC) against a full set of background force chains. Stronger EBC is darker in color, background chains in gray.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E516EC78-81E5-2F35-CE37-D277D471043F}"/>
              </a:ext>
            </a:extLst>
          </p:cNvPr>
          <p:cNvSpPr txBox="1"/>
          <p:nvPr/>
        </p:nvSpPr>
        <p:spPr>
          <a:xfrm>
            <a:off x="17694650" y="25298400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AFF9BF5-AFBC-947F-F3FA-6DA164E1A60A}"/>
              </a:ext>
            </a:extLst>
          </p:cNvPr>
          <p:cNvSpPr txBox="1"/>
          <p:nvPr/>
        </p:nvSpPr>
        <p:spPr>
          <a:xfrm>
            <a:off x="24404628" y="25298400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pic>
        <p:nvPicPr>
          <p:cNvPr id="1105" name="Picture 1104">
            <a:extLst>
              <a:ext uri="{FF2B5EF4-FFF2-40B4-BE49-F238E27FC236}">
                <a16:creationId xmlns:a16="http://schemas.microsoft.com/office/drawing/2014/main" id="{5F2A478B-00D6-7A31-52CE-68E38AC0476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2813" y="26063696"/>
            <a:ext cx="914400" cy="914400"/>
          </a:xfrm>
          <a:prstGeom prst="rect">
            <a:avLst/>
          </a:prstGeom>
        </p:spPr>
      </p:pic>
      <p:pic>
        <p:nvPicPr>
          <p:cNvPr id="1108" name="Picture 1107">
            <a:extLst>
              <a:ext uri="{FF2B5EF4-FFF2-40B4-BE49-F238E27FC236}">
                <a16:creationId xmlns:a16="http://schemas.microsoft.com/office/drawing/2014/main" id="{6B7E37F1-E927-FA38-CC12-368D1B625A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684" y="26058650"/>
            <a:ext cx="914400" cy="914400"/>
          </a:xfrm>
          <a:prstGeom prst="rect">
            <a:avLst/>
          </a:prstGeom>
        </p:spPr>
      </p:pic>
      <p:graphicFrame>
        <p:nvGraphicFramePr>
          <p:cNvPr id="1114" name="Table 1113">
            <a:extLst>
              <a:ext uri="{FF2B5EF4-FFF2-40B4-BE49-F238E27FC236}">
                <a16:creationId xmlns:a16="http://schemas.microsoft.com/office/drawing/2014/main" id="{A0D6760B-C220-810A-410D-1092DC282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37259"/>
              </p:ext>
            </p:extLst>
          </p:nvPr>
        </p:nvGraphicFramePr>
        <p:xfrm>
          <a:off x="15986288" y="12352590"/>
          <a:ext cx="12199221" cy="55798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05208">
                  <a:extLst>
                    <a:ext uri="{9D8B030D-6E8A-4147-A177-3AD203B41FA5}">
                      <a16:colId xmlns:a16="http://schemas.microsoft.com/office/drawing/2014/main" val="169723824"/>
                    </a:ext>
                  </a:extLst>
                </a:gridCol>
                <a:gridCol w="2598133">
                  <a:extLst>
                    <a:ext uri="{9D8B030D-6E8A-4147-A177-3AD203B41FA5}">
                      <a16:colId xmlns:a16="http://schemas.microsoft.com/office/drawing/2014/main" val="4226328269"/>
                    </a:ext>
                  </a:extLst>
                </a:gridCol>
                <a:gridCol w="2870982">
                  <a:extLst>
                    <a:ext uri="{9D8B030D-6E8A-4147-A177-3AD203B41FA5}">
                      <a16:colId xmlns:a16="http://schemas.microsoft.com/office/drawing/2014/main" val="4200796953"/>
                    </a:ext>
                  </a:extLst>
                </a:gridCol>
                <a:gridCol w="2624898">
                  <a:extLst>
                    <a:ext uri="{9D8B030D-6E8A-4147-A177-3AD203B41FA5}">
                      <a16:colId xmlns:a16="http://schemas.microsoft.com/office/drawing/2014/main" val="471674143"/>
                    </a:ext>
                  </a:extLst>
                </a:gridCol>
              </a:tblGrid>
              <a:tr h="929973"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Low Friction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Low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High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Change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46675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Chain count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↓57%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102808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Bend angle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20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29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0363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Anchor radius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034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Midpoint radius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574624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Tip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156181"/>
                  </a:ext>
                </a:extLst>
              </a:tr>
            </a:tbl>
          </a:graphicData>
        </a:graphic>
      </p:graphicFrame>
      <p:sp>
        <p:nvSpPr>
          <p:cNvPr id="1124" name="TextBox 1123">
            <a:extLst>
              <a:ext uri="{FF2B5EF4-FFF2-40B4-BE49-F238E27FC236}">
                <a16:creationId xmlns:a16="http://schemas.microsoft.com/office/drawing/2014/main" id="{A9159D96-8DC7-F833-7F38-A0280742CF1D}"/>
              </a:ext>
            </a:extLst>
          </p:cNvPr>
          <p:cNvSpPr txBox="1"/>
          <p:nvPr/>
        </p:nvSpPr>
        <p:spPr>
          <a:xfrm>
            <a:off x="17365109" y="27044792"/>
            <a:ext cx="206146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Scan for interactive 3D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2BD17ED6-349D-FE09-19AC-0334BA193CE6}"/>
              </a:ext>
            </a:extLst>
          </p:cNvPr>
          <p:cNvSpPr txBox="1"/>
          <p:nvPr/>
        </p:nvSpPr>
        <p:spPr>
          <a:xfrm>
            <a:off x="24676247" y="26998777"/>
            <a:ext cx="206146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Scan for interactive 3D</a:t>
            </a: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11797</TotalTime>
  <Words>1017</Words>
  <Application>Microsoft Macintosh PowerPoint</Application>
  <PresentationFormat>Custom</PresentationFormat>
  <Paragraphs>137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-webkit-standard</vt:lpstr>
      <vt:lpstr>Arial</vt:lpstr>
      <vt:lpstr>Calibri</vt:lpstr>
      <vt:lpstr>Cambria Math</vt:lpstr>
      <vt:lpstr>Times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48x48</dc:title>
  <dc:creator>Jay Larson</dc:creator>
  <dc:description>Quality poster printing
www.genigraphics.com
1-800-790-4001</dc:description>
  <cp:lastModifiedBy>FLANAGAN, TATIANA</cp:lastModifiedBy>
  <cp:revision>322</cp:revision>
  <cp:lastPrinted>2013-02-12T02:21:55Z</cp:lastPrinted>
  <dcterms:created xsi:type="dcterms:W3CDTF">2013-02-10T21:14:48Z</dcterms:created>
  <dcterms:modified xsi:type="dcterms:W3CDTF">2026-06-08T21:28:54Z</dcterms:modified>
</cp:coreProperties>
</file>