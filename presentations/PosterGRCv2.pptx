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43891200" cy="43891200"/>
  <p:notesSz cx="7004050" cy="9290050"/>
  <p:defaultTextStyle>
    <a:defPPr>
      <a:defRPr lang="en-US"/>
    </a:defPPr>
    <a:lvl1pPr marL="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24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622" autoAdjust="0"/>
    <p:restoredTop sz="94676" autoAdjust="0"/>
  </p:normalViewPr>
  <p:slideViewPr>
    <p:cSldViewPr>
      <p:cViewPr>
        <p:scale>
          <a:sx n="75" d="100"/>
          <a:sy n="75" d="100"/>
        </p:scale>
        <p:origin x="-9904" y="-2832"/>
      </p:cViewPr>
      <p:guideLst>
        <p:guide orient="horz" pos="13824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42976800" y="0"/>
            <a:ext cx="914400" cy="438912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0" y="0"/>
            <a:ext cx="914400" cy="438912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0" y="0"/>
            <a:ext cx="43891200" cy="5486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0" y="38404800"/>
            <a:ext cx="43891200" cy="5486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Instructions"/>
          <p:cNvSpPr/>
          <p:nvPr userDrawn="1"/>
        </p:nvSpPr>
        <p:spPr>
          <a:xfrm>
            <a:off x="-13716000" y="0"/>
            <a:ext cx="12801600" cy="43891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228600" rIns="228600" bIns="228600" rtlCol="0" anchor="t"/>
          <a:lstStyle>
            <a:defPPr>
              <a:defRPr lang="en-US"/>
            </a:defPPr>
            <a:lvl1pPr marL="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4343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8686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53029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37372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921715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106058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90401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74744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9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Print Size:</a:t>
            </a:r>
            <a:endParaRPr sz="9600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This poster template is 48” high by 48” wide. It can be used to print any poster with a 1:1 aspect ratio.</a:t>
            </a: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9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Placeholders</a:t>
            </a:r>
            <a:r>
              <a:rPr sz="9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The </a:t>
            </a: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various elements included</a:t>
            </a:r>
            <a:r>
              <a:rPr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 this </a:t>
            </a: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are ones</a:t>
            </a:r>
            <a:r>
              <a:rPr lang="en-US" sz="66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we often see in medical, research, and scientific posters.</a:t>
            </a:r>
            <a:r>
              <a:rPr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</a:t>
            </a: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Feel</a:t>
            </a:r>
            <a:r>
              <a:rPr lang="en-US" sz="66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free to edit, move,  add, and delete items, or change the layout to suit your needs. Always check with your conference organizer for specific requirements.</a:t>
            </a: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9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Image</a:t>
            </a:r>
            <a:r>
              <a:rPr lang="en-US" sz="96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Quality</a:t>
            </a:r>
            <a:r>
              <a:rPr lang="en-US" sz="9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You can place digital photos or logo art in your poster file by selecting the </a:t>
            </a:r>
            <a:r>
              <a:rPr lang="en-US" sz="66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Insert, Picture</a:t>
            </a: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command, or by using standard copy &amp; paste. For best results, all graphic elements should be at least </a:t>
            </a:r>
            <a:r>
              <a:rPr lang="en-US" sz="66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150-200 pixels per inch in their final printed size</a:t>
            </a: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. For instance, a 1600 x 1200 pixel</a:t>
            </a:r>
            <a:r>
              <a:rPr lang="en-US" sz="66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photo will usually look fine up to </a:t>
            </a: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8“-10” wide on your printed poster.</a:t>
            </a: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To preview the print quality of images, select a magnification of 100% when previewing your poster. This will give you a good idea of what it will look like in print. If you are laying out a large poster and using half-scale dimensions, be sure to preview your graphics at 200% to see them at their final printed size.</a:t>
            </a: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Please note that graphics from websites (such as the logo on your hospital's or university's home page) will only be 72dpi and not suitable for printing.</a:t>
            </a:r>
          </a:p>
          <a:p>
            <a:pPr lvl="0" algn="ctr">
              <a:spcBef>
                <a:spcPts val="0"/>
              </a:spcBef>
              <a:spcAft>
                <a:spcPts val="2400"/>
              </a:spcAft>
            </a:pPr>
            <a:br>
              <a:rPr lang="en-US" sz="4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</a:br>
            <a:r>
              <a:rPr lang="en-US" sz="4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[This sidebar area does not print.]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44805600" y="0"/>
            <a:ext cx="12801600" cy="43891200"/>
            <a:chOff x="33832800" y="0"/>
            <a:chExt cx="12801600" cy="43891200"/>
          </a:xfrm>
        </p:grpSpPr>
        <p:sp>
          <p:nvSpPr>
            <p:cNvPr id="21" name="Instructions"/>
            <p:cNvSpPr/>
            <p:nvPr userDrawn="1"/>
          </p:nvSpPr>
          <p:spPr>
            <a:xfrm>
              <a:off x="33832800" y="0"/>
              <a:ext cx="12801600" cy="43891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28600" tIns="228600" rIns="228600" bIns="228600" rtlCol="0" anchor="t"/>
            <a:lstStyle>
              <a:defPPr>
                <a:defRPr lang="en-US"/>
              </a:defPPr>
              <a:lvl1pPr marL="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84343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8686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53029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37372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921715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106058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90401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74744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96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Change</a:t>
              </a:r>
              <a:r>
                <a:rPr lang="en-US" sz="9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Color Theme</a:t>
              </a:r>
              <a:r>
                <a:rPr lang="en-US" sz="96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:</a:t>
              </a:r>
              <a:endParaRPr sz="96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66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This template is designed to use the built-in color themes in</a:t>
              </a: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the newer versions of PowerPoint.</a:t>
              </a: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To change the color theme, select the </a:t>
              </a:r>
              <a:r>
                <a:rPr lang="en-US" sz="66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Design</a:t>
              </a: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tab, then select the </a:t>
              </a:r>
              <a:r>
                <a:rPr lang="en-US" sz="66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Colors</a:t>
              </a: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drop-down list.</a:t>
              </a: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The default color theme for this template is “Office”, so you can always return to that after trying some of the alternatives.</a:t>
              </a: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96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Printing Your Poster:</a:t>
              </a: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66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Once your poster file is ready, visit</a:t>
              </a: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</a:t>
              </a:r>
              <a:r>
                <a:rPr lang="en-US" sz="66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www.genigraphics.com</a:t>
              </a: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to order a high-quality, affordable poster print. Every order receives a free design review and we can deliver as fast as next business day within the US and Canada. </a:t>
              </a: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Genigraphics® has been producing output from PowerPoint® longer than anyone in the industry; dating back to when we helped Microsoft® design the PowerPoint® software. </a:t>
              </a:r>
            </a:p>
            <a:p>
              <a:pPr lvl="0">
                <a:spcBef>
                  <a:spcPts val="0"/>
                </a:spcBef>
                <a:spcAft>
                  <a:spcPts val="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US and Canada:  1-800-790-4001</a:t>
              </a:r>
              <a:b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Email: info@genigraphics.com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br>
                <a:rPr lang="en-US" sz="4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4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[This sidebar area does not print.]</a:t>
              </a:r>
            </a:p>
          </p:txBody>
        </p:sp>
        <p:pic>
          <p:nvPicPr>
            <p:cNvPr id="22" name="Picture 21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81342" y="9260274"/>
              <a:ext cx="11904515" cy="10246926"/>
            </a:xfrm>
            <a:prstGeom prst="rect">
              <a:avLst/>
            </a:prstGeom>
          </p:spPr>
        </p:pic>
      </p:grp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00" y="43586400"/>
            <a:ext cx="5297435" cy="1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4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66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1757683"/>
            <a:ext cx="39502080" cy="7315200"/>
          </a:xfrm>
          <a:prstGeom prst="rect">
            <a:avLst/>
          </a:prstGeom>
        </p:spPr>
        <p:txBody>
          <a:bodyPr vert="horz" lIns="438912" tIns="219456" rIns="438912" bIns="219456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10241283"/>
            <a:ext cx="39502080" cy="28966163"/>
          </a:xfrm>
          <a:prstGeom prst="rect">
            <a:avLst/>
          </a:prstGeom>
        </p:spPr>
        <p:txBody>
          <a:bodyPr vert="horz" lIns="438912" tIns="219456" rIns="438912" bIns="219456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4560" y="40680643"/>
            <a:ext cx="10241280" cy="23368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l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6BDF-9D0E-4E2B-85B8-D8F4790360C9}" type="datetimeFigureOut">
              <a:rPr lang="en-US" smtClean="0"/>
              <a:t>6/2/26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96160" y="40680643"/>
            <a:ext cx="13898880" cy="23368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ct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455360" y="40680643"/>
            <a:ext cx="10241280" cy="23368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2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389120" rtl="0" eaLnBrk="1" latinLnBrk="0" hangingPunct="1">
        <a:spcBef>
          <a:spcPct val="0"/>
        </a:spcBef>
        <a:buNone/>
        <a:defRPr sz="8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438912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4389120" rtl="0" eaLnBrk="1" latinLnBrk="0" hangingPunct="1">
        <a:spcBef>
          <a:spcPct val="20000"/>
        </a:spcBef>
        <a:buFont typeface="Arial" pitchFamily="34" charset="0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457200" algn="l" defTabSz="438912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indent="-457200" algn="l" defTabSz="4389120" rtl="0" eaLnBrk="1" latinLnBrk="0" hangingPunct="1">
        <a:spcBef>
          <a:spcPct val="20000"/>
        </a:spcBef>
        <a:buFont typeface="Arial" pitchFamily="34" charset="0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indent="-457200" algn="l" defTabSz="4389120" rtl="0" eaLnBrk="1" latinLnBrk="0" hangingPunct="1">
        <a:spcBef>
          <a:spcPct val="20000"/>
        </a:spcBef>
        <a:buFont typeface="Arial" pitchFamily="34" charset="0"/>
        <a:buChar char="»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ounded Rectangle 182">
            <a:extLst>
              <a:ext uri="{FF2B5EF4-FFF2-40B4-BE49-F238E27FC236}">
                <a16:creationId xmlns:a16="http://schemas.microsoft.com/office/drawing/2014/main" id="{8E639EF6-5907-A8D2-9134-764185398932}"/>
              </a:ext>
            </a:extLst>
          </p:cNvPr>
          <p:cNvSpPr/>
          <p:nvPr/>
        </p:nvSpPr>
        <p:spPr>
          <a:xfrm>
            <a:off x="23080870" y="16515516"/>
            <a:ext cx="5286778" cy="3156257"/>
          </a:xfrm>
          <a:prstGeom prst="roundRect">
            <a:avLst/>
          </a:prstGeom>
          <a:solidFill>
            <a:srgbClr val="F5F8FC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4800" b="1" dirty="0">
              <a:solidFill>
                <a:schemeClr val="tx1"/>
              </a:solidFill>
            </a:endParaRPr>
          </a:p>
          <a:p>
            <a:endParaRPr lang="en-US" sz="4800" b="1" i="1" dirty="0">
              <a:solidFill>
                <a:srgbClr val="002060"/>
              </a:solidFill>
            </a:endParaRPr>
          </a:p>
          <a:p>
            <a:endParaRPr lang="en-US" sz="4800" b="1" i="1" dirty="0">
              <a:solidFill>
                <a:srgbClr val="002060"/>
              </a:solidFill>
            </a:endParaRPr>
          </a:p>
          <a:p>
            <a:endParaRPr lang="en-US" sz="4800" b="1" i="1" dirty="0">
              <a:solidFill>
                <a:srgbClr val="002060"/>
              </a:solidFill>
            </a:endParaRPr>
          </a:p>
          <a:p>
            <a:endParaRPr lang="en-US" sz="4800" b="1" i="1" dirty="0">
              <a:solidFill>
                <a:srgbClr val="0070C0"/>
              </a:solidFill>
            </a:endParaRPr>
          </a:p>
        </p:txBody>
      </p:sp>
      <p:sp>
        <p:nvSpPr>
          <p:cNvPr id="4" name="Text Box 122"/>
          <p:cNvSpPr txBox="1">
            <a:spLocks noChangeArrowheads="1"/>
          </p:cNvSpPr>
          <p:nvPr/>
        </p:nvSpPr>
        <p:spPr bwMode="auto">
          <a:xfrm>
            <a:off x="7315200" y="0"/>
            <a:ext cx="29260800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2880" tIns="457200" rIns="182880" bIns="457200" anchor="ctr" anchorCtr="0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8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How Friction Shapes Force Chains in Granular Piles: </a:t>
            </a:r>
          </a:p>
          <a:p>
            <a:pPr algn="ctr" eaLnBrk="1" hangingPunct="1"/>
            <a:r>
              <a:rPr lang="en-US" sz="8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A Network Approach</a:t>
            </a:r>
          </a:p>
        </p:txBody>
      </p:sp>
      <p:sp>
        <p:nvSpPr>
          <p:cNvPr id="5" name="Text Box 123"/>
          <p:cNvSpPr txBox="1">
            <a:spLocks noChangeArrowheads="1"/>
          </p:cNvSpPr>
          <p:nvPr/>
        </p:nvSpPr>
        <p:spPr bwMode="auto">
          <a:xfrm>
            <a:off x="7315200" y="2870536"/>
            <a:ext cx="292608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2880" tIns="182880" rIns="182880" bIns="182880" anchor="ctr" anchorCtr="0"/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48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Tatiana Flanagan &amp; Leonardo Silbert</a:t>
            </a:r>
            <a:endParaRPr lang="en-US" sz="4800" baseline="30000" dirty="0">
              <a:solidFill>
                <a:schemeClr val="accent3">
                  <a:lumMod val="20000"/>
                  <a:lumOff val="80000"/>
                </a:schemeClr>
              </a:solidFill>
              <a:latin typeface="+mn-lt"/>
            </a:endParaRPr>
          </a:p>
          <a:p>
            <a:pPr algn="ctr" eaLnBrk="1" hangingPunct="1"/>
            <a:r>
              <a:rPr lang="en-US" sz="48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Central New Mexico Community College    School of Math, Science, and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798" y="39852600"/>
            <a:ext cx="11060720" cy="30469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Dan </a:t>
            </a:r>
            <a:r>
              <a:rPr lang="en-US" sz="2400" dirty="0" err="1">
                <a:solidFill>
                  <a:srgbClr val="0070C0"/>
                </a:solidFill>
              </a:rPr>
              <a:t>Bolintineanu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B0F0"/>
                </a:solidFill>
              </a:rPr>
              <a:t>Joel Clemmer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70C0"/>
                </a:solidFill>
              </a:rPr>
              <a:t>Gary </a:t>
            </a:r>
            <a:r>
              <a:rPr lang="en-US" sz="2400" dirty="0" err="1">
                <a:solidFill>
                  <a:srgbClr val="0070C0"/>
                </a:solidFill>
              </a:rPr>
              <a:t>Grest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B0F0"/>
                </a:solidFill>
              </a:rPr>
              <a:t>Jeremy Lechman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70C0"/>
                </a:solidFill>
              </a:rPr>
              <a:t>Joe </a:t>
            </a:r>
            <a:r>
              <a:rPr lang="en-US" sz="2400" dirty="0">
                <a:solidFill>
                  <a:srgbClr val="0070C0"/>
                </a:solidFill>
                <a:cs typeface="Calibri" panose="020F0502020204030204" pitchFamily="34" charset="0"/>
              </a:rPr>
              <a:t>Monti</a:t>
            </a:r>
            <a:r>
              <a:rPr lang="en-US" sz="2400" dirty="0">
                <a:cs typeface="Calibri" panose="020F0502020204030204" pitchFamily="34" charset="0"/>
              </a:rPr>
              <a:t>, </a:t>
            </a:r>
            <a:r>
              <a:rPr lang="en-US" sz="2400" dirty="0">
                <a:solidFill>
                  <a:srgbClr val="00B0F0"/>
                </a:solidFill>
                <a:cs typeface="Calibri" panose="020F0502020204030204" pitchFamily="34" charset="0"/>
              </a:rPr>
              <a:t>Scott Roberts</a:t>
            </a:r>
            <a:endParaRPr lang="en-US" sz="2400" baseline="30000" dirty="0">
              <a:solidFill>
                <a:srgbClr val="00B0F0"/>
              </a:solidFill>
              <a:cs typeface="Calibri" panose="020F0502020204030204" pitchFamily="34" charset="0"/>
            </a:endParaRPr>
          </a:p>
          <a:p>
            <a:r>
              <a:rPr lang="en-US" sz="2400" dirty="0">
                <a:cs typeface="Times"/>
              </a:rPr>
              <a:t>Sandia National Laboratories</a:t>
            </a:r>
          </a:p>
          <a:p>
            <a:r>
              <a:rPr lang="en-US" sz="2400" dirty="0">
                <a:solidFill>
                  <a:srgbClr val="2A5AFF"/>
                </a:solidFill>
                <a:cs typeface="Times"/>
              </a:rPr>
              <a:t>Andrew Santos</a:t>
            </a:r>
          </a:p>
          <a:p>
            <a:r>
              <a:rPr lang="en-US" sz="2400" dirty="0">
                <a:cs typeface="Times"/>
              </a:rPr>
              <a:t>NASA</a:t>
            </a:r>
          </a:p>
          <a:p>
            <a:r>
              <a:rPr lang="en-US" sz="2400" dirty="0">
                <a:solidFill>
                  <a:srgbClr val="2A5AFF"/>
                </a:solidFill>
              </a:rPr>
              <a:t>Ishan Srivastava </a:t>
            </a:r>
          </a:p>
          <a:p>
            <a:r>
              <a:rPr lang="en-US" sz="2400" dirty="0"/>
              <a:t>Lawrence Berkeley National Laboratory</a:t>
            </a:r>
            <a:endParaRPr lang="en-US" sz="2400" dirty="0">
              <a:cs typeface="Times"/>
            </a:endParaRPr>
          </a:p>
          <a:p>
            <a:r>
              <a:rPr lang="en-US" sz="2400" dirty="0">
                <a:solidFill>
                  <a:srgbClr val="2A5AFF"/>
                </a:solidFill>
                <a:cs typeface="Times"/>
              </a:rPr>
              <a:t>Mike Salerno</a:t>
            </a:r>
          </a:p>
          <a:p>
            <a:r>
              <a:rPr lang="en-US" sz="2400" dirty="0">
                <a:cs typeface="Times"/>
              </a:rPr>
              <a:t>Johns Hopkins APL</a:t>
            </a:r>
            <a:endParaRPr lang="en-US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1828801" y="38862001"/>
            <a:ext cx="64692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Acknowledgements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666721" y="39997708"/>
            <a:ext cx="25831800" cy="2926080"/>
          </a:xfrm>
          <a:prstGeom prst="rect">
            <a:avLst/>
          </a:prstGeom>
          <a:noFill/>
        </p:spPr>
        <p:txBody>
          <a:bodyPr wrap="square" tIns="91440" bIns="91440" numCol="1" spcCol="457200" rtlCol="0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Brandes, Ulrik. "A faster algorithm for betweenness centrality." Journal of mathematical sociology 25.2 (2001): 163-177.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Killick, Rebecca, et al. "Optimal detection of changepoints with a linear computational cost." Journal of the American Statistical Association 107.500 (2012): 1590-1598.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Peters, J. F., et al. "Characterization of force chains in granular material." Physical Review E—Statistical, Nonlinear, and Soft Matter Physics 72.4 (2005): 041307.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Santos, Andrew, et al. "Granular packings with sliding, rolling, and twisting friction." Physical Review E 102.3 (2020): 032903.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Tordesillas, Antoinette, et al. "Force cycles and force chains." Physical Review E—Statistical, Nonlinear, and Soft Matter Physics 81.1 (2010): 011302.</a:t>
            </a:r>
          </a:p>
          <a:p>
            <a:r>
              <a:rPr lang="en-US" sz="2400" dirty="0"/>
              <a:t> 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27" name="TextBox 26"/>
          <p:cNvSpPr txBox="1"/>
          <p:nvPr/>
        </p:nvSpPr>
        <p:spPr>
          <a:xfrm>
            <a:off x="15666720" y="38862001"/>
            <a:ext cx="36897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References</a:t>
            </a:r>
          </a:p>
        </p:txBody>
      </p:sp>
      <p:sp>
        <p:nvSpPr>
          <p:cNvPr id="10" name="Text Box 189"/>
          <p:cNvSpPr txBox="1">
            <a:spLocks noChangeArrowheads="1"/>
          </p:cNvSpPr>
          <p:nvPr/>
        </p:nvSpPr>
        <p:spPr bwMode="auto">
          <a:xfrm>
            <a:off x="1828800" y="7315200"/>
            <a:ext cx="12801600" cy="675588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82880" tIns="182880" rIns="182880" bIns="18288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7726" marR="11091">
              <a:lnSpc>
                <a:spcPct val="111400"/>
              </a:lnSpc>
              <a:spcBef>
                <a:spcPts val="721"/>
              </a:spcBef>
            </a:pPr>
            <a:r>
              <a:rPr lang="en-US" sz="3600" dirty="0">
                <a:solidFill>
                  <a:srgbClr val="231F20"/>
                </a:solidFill>
                <a:latin typeface="+mn-lt"/>
                <a:cs typeface="Arial"/>
              </a:rPr>
              <a:t>Granular packings of grains represent a class of complex systems as the self-organization between the constituent particles develops to maintain pile stability. How the grains organize within the pile depends on many factors, such as particle shape, particle softness, and particle smoothness. </a:t>
            </a:r>
          </a:p>
          <a:p>
            <a:pPr marL="27726" marR="11091">
              <a:lnSpc>
                <a:spcPct val="111400"/>
              </a:lnSpc>
              <a:spcBef>
                <a:spcPts val="721"/>
              </a:spcBef>
            </a:pPr>
            <a:r>
              <a:rPr lang="en-US" sz="3600" dirty="0">
                <a:solidFill>
                  <a:srgbClr val="231F20"/>
                </a:solidFill>
                <a:latin typeface="+mn-lt"/>
                <a:cs typeface="Arial"/>
              </a:rPr>
              <a:t>Here, we focus on the role of particle friction for hard spherical beads poured under gravity using DEM computer simulations. </a:t>
            </a:r>
          </a:p>
          <a:p>
            <a:pPr marL="27726" marR="11091">
              <a:lnSpc>
                <a:spcPct val="111400"/>
              </a:lnSpc>
              <a:spcBef>
                <a:spcPts val="721"/>
              </a:spcBef>
            </a:pPr>
            <a:endParaRPr lang="en-US" sz="3600" dirty="0">
              <a:solidFill>
                <a:srgbClr val="231F20"/>
              </a:solidFill>
              <a:latin typeface="+mn-lt"/>
              <a:cs typeface="Arial"/>
            </a:endParaRPr>
          </a:p>
          <a:p>
            <a:pPr marL="27726" marR="11091">
              <a:lnSpc>
                <a:spcPct val="111400"/>
              </a:lnSpc>
              <a:spcBef>
                <a:spcPts val="721"/>
              </a:spcBef>
            </a:pPr>
            <a:r>
              <a:rPr lang="en-US" sz="3600" b="1" dirty="0">
                <a:solidFill>
                  <a:srgbClr val="231F20"/>
                </a:solidFill>
                <a:latin typeface="+mn-lt"/>
                <a:cs typeface="Arial"/>
              </a:rPr>
              <a:t>We investigate how sliding, rolling, and twisting friction reorganize the force-chain backbone that supports granular piles.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6400800"/>
            <a:ext cx="128016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Background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798" y="14099360"/>
            <a:ext cx="128016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LAMMPS Simulation</a:t>
            </a:r>
          </a:p>
        </p:txBody>
      </p:sp>
      <p:sp>
        <p:nvSpPr>
          <p:cNvPr id="13" name="Text Box 192"/>
          <p:cNvSpPr txBox="1">
            <a:spLocks noChangeArrowheads="1"/>
          </p:cNvSpPr>
          <p:nvPr/>
        </p:nvSpPr>
        <p:spPr bwMode="auto">
          <a:xfrm>
            <a:off x="15621000" y="10820400"/>
            <a:ext cx="6858000" cy="2585323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82880" tIns="182880" rIns="182880" bIns="18288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itchFamily="34" charset="0"/>
              </a:rPr>
              <a:t>Granular contacts represented as an undirected graph G=(V,E).  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endParaRPr lang="en-US" sz="3600" b="1" i="1" baseline="-25000" dirty="0">
              <a:latin typeface="Calibri" pitchFamily="34" charset="0"/>
            </a:endParaRP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endParaRPr lang="en-US" sz="3600" b="1" i="1" baseline="-25000" dirty="0">
              <a:latin typeface="Calibri" pitchFamily="34" charset="0"/>
            </a:endParaRP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endParaRPr lang="en-US" sz="3600" i="1" baseline="-25000" dirty="0">
              <a:latin typeface="Calibri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5544800" y="6400800"/>
            <a:ext cx="128016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Methods </a:t>
            </a:r>
          </a:p>
        </p:txBody>
      </p:sp>
      <p:sp>
        <p:nvSpPr>
          <p:cNvPr id="12" name="Text Box 191"/>
          <p:cNvSpPr txBox="1">
            <a:spLocks noChangeArrowheads="1"/>
          </p:cNvSpPr>
          <p:nvPr/>
        </p:nvSpPr>
        <p:spPr bwMode="auto">
          <a:xfrm>
            <a:off x="29277045" y="7440230"/>
            <a:ext cx="12801600" cy="480131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82880" tIns="182880" rIns="182880" bIns="18288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600" b="1" i="1" dirty="0">
                <a:solidFill>
                  <a:prstClr val="black"/>
                </a:solidFill>
                <a:latin typeface="Calibri" pitchFamily="34" charset="0"/>
              </a:rPr>
              <a:t>Friction broadens the force-chain network while preserving </a:t>
            </a:r>
          </a:p>
          <a:p>
            <a:pPr eaLnBrk="1" hangingPunct="1"/>
            <a:r>
              <a:rPr lang="en-US" sz="3600" b="1" i="1" dirty="0">
                <a:solidFill>
                  <a:prstClr val="black"/>
                </a:solidFill>
                <a:latin typeface="Calibri" pitchFamily="34" charset="0"/>
              </a:rPr>
              <a:t>apex anchoring.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Larger friction coefficients generate larger local bend angles in force chains, more tortuous chains.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Larger friction coefficients push force chains up and towards the edges of the pile at the bottom and middle (</a:t>
            </a:r>
            <a:r>
              <a:rPr lang="en-US" sz="3600" i="1" dirty="0" err="1">
                <a:solidFill>
                  <a:prstClr val="black"/>
                </a:solidFill>
                <a:latin typeface="Calibri" pitchFamily="34" charset="0"/>
              </a:rPr>
              <a:t>r</a:t>
            </a:r>
            <a:r>
              <a:rPr lang="en-US" sz="3600" i="1" baseline="-25000" dirty="0" err="1">
                <a:solidFill>
                  <a:prstClr val="black"/>
                </a:solidFill>
                <a:latin typeface="Calibri" pitchFamily="34" charset="0"/>
              </a:rPr>
              <a:t>anchor</a:t>
            </a:r>
            <a:r>
              <a:rPr lang="en-US" sz="3600" i="1" dirty="0">
                <a:solidFill>
                  <a:prstClr val="black"/>
                </a:solidFill>
                <a:latin typeface="Calibri" pitchFamily="34" charset="0"/>
              </a:rPr>
              <a:t>, </a:t>
            </a:r>
            <a:r>
              <a:rPr lang="en-US" sz="3600" i="1" dirty="0" err="1">
                <a:solidFill>
                  <a:prstClr val="black"/>
                </a:solidFill>
                <a:latin typeface="Calibri" pitchFamily="34" charset="0"/>
              </a:rPr>
              <a:t>r</a:t>
            </a:r>
            <a:r>
              <a:rPr lang="en-US" sz="3600" i="1" baseline="-25000" dirty="0" err="1">
                <a:solidFill>
                  <a:prstClr val="black"/>
                </a:solidFill>
                <a:latin typeface="Calibri" pitchFamily="34" charset="0"/>
              </a:rPr>
              <a:t>mid</a:t>
            </a: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) of the chains. Chains remain anchored at the top (</a:t>
            </a:r>
            <a:r>
              <a:rPr lang="en-US" sz="3600" i="1" dirty="0" err="1">
                <a:solidFill>
                  <a:prstClr val="black"/>
                </a:solidFill>
                <a:latin typeface="Calibri" pitchFamily="34" charset="0"/>
              </a:rPr>
              <a:t>r</a:t>
            </a:r>
            <a:r>
              <a:rPr lang="en-US" sz="3600" i="1" baseline="-25000" dirty="0" err="1">
                <a:solidFill>
                  <a:prstClr val="black"/>
                </a:solidFill>
                <a:latin typeface="Calibri" pitchFamily="34" charset="0"/>
              </a:rPr>
              <a:t>tip</a:t>
            </a: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).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Chain count decreases, suggesting more connectivity.</a:t>
            </a:r>
          </a:p>
        </p:txBody>
      </p:sp>
      <p:sp>
        <p:nvSpPr>
          <p:cNvPr id="14" name="Text Box 193"/>
          <p:cNvSpPr txBox="1">
            <a:spLocks noChangeArrowheads="1"/>
          </p:cNvSpPr>
          <p:nvPr/>
        </p:nvSpPr>
        <p:spPr bwMode="auto">
          <a:xfrm>
            <a:off x="29420421" y="29779813"/>
            <a:ext cx="12801600" cy="8402483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82880" tIns="182880" rIns="182880" bIns="18288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4800" b="1" i="1" dirty="0">
                <a:latin typeface="+mn-lt"/>
              </a:rPr>
              <a:t>Rolling and twisting friction reorganize the force-chain backbone. </a:t>
            </a:r>
          </a:p>
          <a:p>
            <a:r>
              <a:rPr lang="en-US" sz="4800" i="1" dirty="0">
                <a:latin typeface="+mn-lt"/>
              </a:rPr>
              <a:t>Increased friction produces a more anisotropic and spatially distributed force-chain architecture.</a:t>
            </a:r>
            <a:endParaRPr lang="en-US" sz="4800" dirty="0">
              <a:latin typeface="+mn-lt"/>
            </a:endParaRPr>
          </a:p>
          <a:p>
            <a:r>
              <a:rPr lang="en-US" sz="4800" b="1" dirty="0">
                <a:latin typeface="+mn-lt"/>
              </a:rPr>
              <a:t>Higher friction produces: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+mn-lt"/>
              </a:rPr>
              <a:t>taller, steeper piles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+mn-lt"/>
              </a:rPr>
              <a:t>fewer but more connected force chains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+mn-lt"/>
              </a:rPr>
              <a:t>larger bend angles and tortuosity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+mn-lt"/>
              </a:rPr>
              <a:t>outward migration of load-bearing pathways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+mn-lt"/>
              </a:rPr>
              <a:t>Force transmission becomes less centralized and more distributed.</a:t>
            </a:r>
          </a:p>
          <a:p>
            <a:pPr eaLnBrk="1" hangingPunct="1"/>
            <a:endParaRPr lang="en-US" sz="4000" dirty="0">
              <a:latin typeface="+mn-lt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9373020" y="28727400"/>
            <a:ext cx="128016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Conclusions</a:t>
            </a:r>
          </a:p>
        </p:txBody>
      </p:sp>
      <p:sp>
        <p:nvSpPr>
          <p:cNvPr id="11" name="Text Box 190"/>
          <p:cNvSpPr txBox="1">
            <a:spLocks noChangeArrowheads="1"/>
          </p:cNvSpPr>
          <p:nvPr/>
        </p:nvSpPr>
        <p:spPr bwMode="auto">
          <a:xfrm>
            <a:off x="1812699" y="15036273"/>
            <a:ext cx="12801600" cy="621706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82880" tIns="182880" rIns="182880" bIns="18288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0" eaLnBrk="1" hangingPunct="1">
              <a:defRPr/>
            </a:pPr>
            <a:r>
              <a:rPr lang="en-US" sz="3600" b="1" dirty="0">
                <a:solidFill>
                  <a:prstClr val="black"/>
                </a:solidFill>
                <a:latin typeface="Calibri"/>
              </a:rPr>
              <a:t>Friction modes</a:t>
            </a:r>
            <a:r>
              <a:rPr lang="en-US" sz="3600" dirty="0">
                <a:solidFill>
                  <a:prstClr val="black"/>
                </a:solidFill>
                <a:latin typeface="Calibri"/>
              </a:rPr>
              <a:t>. We simulated granular packings with friction across a variation of coefficients that include LAMMPS extended friction modes: rolling and twisting..</a:t>
            </a:r>
          </a:p>
          <a:p>
            <a:pPr lvl="0" eaLnBrk="1" hangingPunct="1">
              <a:defRPr/>
            </a:pPr>
            <a:endParaRPr lang="en-US" sz="36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 Box 192">
            <a:extLst>
              <a:ext uri="{FF2B5EF4-FFF2-40B4-BE49-F238E27FC236}">
                <a16:creationId xmlns:a16="http://schemas.microsoft.com/office/drawing/2014/main" id="{CD5E5724-3056-8D7D-5133-B248D31EF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83421" y="15925800"/>
            <a:ext cx="7206151" cy="646330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82880" tIns="182880" rIns="182880" bIns="18288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571500" eaLnBrk="1" hangingPunct="1">
              <a:buFont typeface="Arial" panose="020B0604020202020204" pitchFamily="34" charset="0"/>
              <a:buChar char="•"/>
              <a:defRPr/>
            </a:pPr>
            <a:r>
              <a:rPr lang="en-US" sz="3600" b="1" dirty="0">
                <a:latin typeface="Calibri" pitchFamily="34" charset="0"/>
              </a:rPr>
              <a:t>EBC </a:t>
            </a:r>
            <a:r>
              <a:rPr lang="en-US" sz="3600" b="1" dirty="0">
                <a:latin typeface="+mn-lt"/>
              </a:rPr>
              <a:t>(Brandes, 2001)</a:t>
            </a: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 quantifies how often a contact lies on force-preferred pathways through the contact network.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  <a:defRPr/>
            </a:pP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High-EBC contacts </a:t>
            </a:r>
          </a:p>
          <a:p>
            <a:pPr lvl="1" indent="0" eaLnBrk="1" hangingPunct="1">
              <a:defRPr/>
            </a:pP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-carry many force-preferred routes </a:t>
            </a:r>
          </a:p>
          <a:p>
            <a:pPr lvl="1" indent="0" eaLnBrk="1" hangingPunct="1">
              <a:defRPr/>
            </a:pP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-connect distant regions</a:t>
            </a:r>
          </a:p>
          <a:p>
            <a:pPr lvl="1" indent="0" eaLnBrk="1" hangingPunct="1">
              <a:defRPr/>
            </a:pP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-critical for stress transmission</a:t>
            </a:r>
          </a:p>
          <a:p>
            <a:pPr lvl="1" indent="0" eaLnBrk="1" hangingPunct="1">
              <a:defRPr/>
            </a:pP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-system-wide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  <a:defRPr/>
            </a:pPr>
            <a:endParaRPr lang="en-US" sz="3600" dirty="0">
              <a:solidFill>
                <a:prstClr val="black"/>
              </a:solidFill>
              <a:latin typeface="Calibri" pitchFamily="34" charset="0"/>
            </a:endParaRPr>
          </a:p>
        </p:txBody>
      </p:sp>
      <p:sp>
        <p:nvSpPr>
          <p:cNvPr id="8" name="Text Box 192">
            <a:extLst>
              <a:ext uri="{FF2B5EF4-FFF2-40B4-BE49-F238E27FC236}">
                <a16:creationId xmlns:a16="http://schemas.microsoft.com/office/drawing/2014/main" id="{8AF2A314-4482-1AC5-F6C8-5A6353A57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21000" y="23345299"/>
            <a:ext cx="6858000" cy="535531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82880" tIns="182880" rIns="182880" bIns="18288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b="1" dirty="0">
                <a:latin typeface="Calibri" pitchFamily="34" charset="0"/>
              </a:rPr>
              <a:t>PELT </a:t>
            </a:r>
            <a:r>
              <a:rPr lang="en-US" sz="3600" dirty="0">
                <a:latin typeface="Calibri" pitchFamily="34" charset="0"/>
              </a:rPr>
              <a:t>(</a:t>
            </a:r>
            <a:r>
              <a:rPr lang="en-US" sz="3600" dirty="0"/>
              <a:t>Killick et al., 2012)</a:t>
            </a:r>
            <a:r>
              <a:rPr lang="en-US" sz="3600" dirty="0">
                <a:solidFill>
                  <a:srgbClr val="000000"/>
                </a:solidFill>
                <a:latin typeface="-webkit-standard"/>
              </a:rPr>
              <a:t> identifies statistically significant changes in the ranked EBC distribution.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000000"/>
              </a:solidFill>
              <a:latin typeface="-webkit-standard"/>
            </a:endParaRP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+mn-lt"/>
              </a:rPr>
              <a:t>The first major change point separates highly important transport edges </a:t>
            </a:r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+mn-lt"/>
              </a:rPr>
              <a:t>from the background contact network.</a:t>
            </a:r>
          </a:p>
        </p:txBody>
      </p:sp>
      <p:sp>
        <p:nvSpPr>
          <p:cNvPr id="9" name="Text Box 192">
            <a:extLst>
              <a:ext uri="{FF2B5EF4-FFF2-40B4-BE49-F238E27FC236}">
                <a16:creationId xmlns:a16="http://schemas.microsoft.com/office/drawing/2014/main" id="{D3F6E06F-D0FF-ED23-EBF7-2DE3D094E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21000" y="29814083"/>
            <a:ext cx="6828698" cy="424731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82880" tIns="182880" rIns="182880" bIns="18288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itchFamily="34" charset="0"/>
              </a:rPr>
              <a:t>Quasi-linear force chains extracted using local bend-angle criterion </a:t>
            </a:r>
            <a:r>
              <a:rPr lang="en-US" sz="2400" dirty="0">
                <a:latin typeface="Calibri" pitchFamily="34" charset="0"/>
              </a:rPr>
              <a:t>(consistent with force-chain alignment criteria in Peters et al., 2005; Tordesillas et al., 2010).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endParaRPr lang="en-US" sz="2400" b="1" i="1" dirty="0">
              <a:highlight>
                <a:srgbClr val="FFFF00"/>
              </a:highlight>
              <a:latin typeface="Calibri" pitchFamily="34" charset="0"/>
            </a:endParaRP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b="1" i="1" dirty="0">
                <a:latin typeface="Calibri" pitchFamily="34" charset="0"/>
              </a:rPr>
              <a:t>Edges connected if </a:t>
            </a:r>
            <a:r>
              <a:rPr lang="en-US" sz="3600" b="1" dirty="0" err="1">
                <a:latin typeface="Calibri" pitchFamily="34" charset="0"/>
              </a:rPr>
              <a:t>θ</a:t>
            </a:r>
            <a:r>
              <a:rPr lang="en-US" sz="3600" b="1" dirty="0">
                <a:latin typeface="Calibri" pitchFamily="34" charset="0"/>
              </a:rPr>
              <a:t> ≤ 45°.     </a:t>
            </a:r>
            <a:r>
              <a:rPr lang="el-GR" sz="3600" b="1" dirty="0">
                <a:latin typeface="Calibri" pitchFamily="34" charset="0"/>
              </a:rPr>
              <a:t>Θ</a:t>
            </a:r>
            <a:r>
              <a:rPr lang="en-US" sz="3600" b="1" dirty="0">
                <a:latin typeface="Calibri" pitchFamily="34" charset="0"/>
              </a:rPr>
              <a:t>:</a:t>
            </a:r>
            <a:r>
              <a:rPr lang="en-US" sz="3600" dirty="0">
                <a:latin typeface="Calibri" pitchFamily="34" charset="0"/>
              </a:rPr>
              <a:t> deviation from straight path. </a:t>
            </a:r>
            <a:endParaRPr lang="en-US" sz="3600" b="1" dirty="0">
              <a:latin typeface="Calibri" pitchFamily="34" charset="0"/>
            </a:endParaRPr>
          </a:p>
        </p:txBody>
      </p:sp>
      <p:sp>
        <p:nvSpPr>
          <p:cNvPr id="16" name="Text Box 192">
            <a:extLst>
              <a:ext uri="{FF2B5EF4-FFF2-40B4-BE49-F238E27FC236}">
                <a16:creationId xmlns:a16="http://schemas.microsoft.com/office/drawing/2014/main" id="{8887804E-6402-4058-8276-77D2D5554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21000" y="35225920"/>
            <a:ext cx="6498588" cy="31788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82880" tIns="182880" rIns="182880" bIns="18288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600" b="1" dirty="0">
                <a:latin typeface="Calibri" pitchFamily="34" charset="0"/>
              </a:rPr>
              <a:t>Traditional 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itchFamily="34" charset="0"/>
              </a:rPr>
              <a:t>Force threshold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itchFamily="34" charset="0"/>
              </a:rPr>
              <a:t>Local alignment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4346A2-989A-295B-D428-8C0DC712F57A}"/>
              </a:ext>
            </a:extLst>
          </p:cNvPr>
          <p:cNvSpPr/>
          <p:nvPr/>
        </p:nvSpPr>
        <p:spPr>
          <a:xfrm>
            <a:off x="15621000" y="9753600"/>
            <a:ext cx="1097280" cy="10972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FC2D78-E122-2F66-FDC2-68D9B8D9B8E7}"/>
              </a:ext>
            </a:extLst>
          </p:cNvPr>
          <p:cNvSpPr/>
          <p:nvPr/>
        </p:nvSpPr>
        <p:spPr>
          <a:xfrm>
            <a:off x="15544800" y="6400800"/>
            <a:ext cx="128778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Methods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F81247-7458-60AE-950A-AFE29D7F40D8}"/>
              </a:ext>
            </a:extLst>
          </p:cNvPr>
          <p:cNvSpPr/>
          <p:nvPr/>
        </p:nvSpPr>
        <p:spPr>
          <a:xfrm>
            <a:off x="15666720" y="14782800"/>
            <a:ext cx="1097280" cy="10972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FBEA75-0B38-EE2A-48EF-BAEF3DE3B86B}"/>
              </a:ext>
            </a:extLst>
          </p:cNvPr>
          <p:cNvSpPr/>
          <p:nvPr/>
        </p:nvSpPr>
        <p:spPr>
          <a:xfrm>
            <a:off x="15623091" y="22219920"/>
            <a:ext cx="1097280" cy="10972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F41436-575A-4420-BB2B-A96D49564B7E}"/>
              </a:ext>
            </a:extLst>
          </p:cNvPr>
          <p:cNvSpPr/>
          <p:nvPr/>
        </p:nvSpPr>
        <p:spPr>
          <a:xfrm>
            <a:off x="15621000" y="27934920"/>
            <a:ext cx="1097280" cy="10972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4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0EF6969C-D5D3-899E-A492-B71218A0E0F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38252400" y="1432559"/>
            <a:ext cx="4465485" cy="20597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B06BB65-C8F4-ED77-A7EE-94E1EA1A3A8E}"/>
              </a:ext>
            </a:extLst>
          </p:cNvPr>
          <p:cNvSpPr txBox="1"/>
          <p:nvPr/>
        </p:nvSpPr>
        <p:spPr>
          <a:xfrm>
            <a:off x="3235005" y="42919947"/>
            <a:ext cx="62155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Sandia National Laboratories is a multi-program laboratory managed and operated by Sandia Corporation,</a:t>
            </a:r>
          </a:p>
          <a:p>
            <a:r>
              <a:rPr lang="en-US" sz="1000" dirty="0"/>
              <a:t>a wholly owned subsidiary of Lockheed Martin Corporation, for the U.S. Department of Energy’s National</a:t>
            </a:r>
          </a:p>
          <a:p>
            <a:r>
              <a:rPr lang="en-US" sz="1000" dirty="0"/>
              <a:t>Nuclear Security Administration under contract DE-AC04-94AL85000.</a:t>
            </a:r>
          </a:p>
        </p:txBody>
      </p:sp>
      <p:pic>
        <p:nvPicPr>
          <p:cNvPr id="23" name="Picture 22" descr="New_DOE_Logo_Black.png">
            <a:extLst>
              <a:ext uri="{FF2B5EF4-FFF2-40B4-BE49-F238E27FC236}">
                <a16:creationId xmlns:a16="http://schemas.microsoft.com/office/drawing/2014/main" id="{42E02148-EA3C-9F3A-4BF9-45FB59CC28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0531" y="43035206"/>
            <a:ext cx="1268505" cy="319240"/>
          </a:xfrm>
          <a:prstGeom prst="rect">
            <a:avLst/>
          </a:prstGeom>
        </p:spPr>
      </p:pic>
      <p:pic>
        <p:nvPicPr>
          <p:cNvPr id="28" name="Picture 27" descr="NNSA Logo_Black.png">
            <a:extLst>
              <a:ext uri="{FF2B5EF4-FFF2-40B4-BE49-F238E27FC236}">
                <a16:creationId xmlns:a16="http://schemas.microsoft.com/office/drawing/2014/main" id="{EC90A910-6DD7-B81B-D2AE-664E5AD0AF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358" y="43035206"/>
            <a:ext cx="1219200" cy="338797"/>
          </a:xfrm>
          <a:prstGeom prst="rect">
            <a:avLst/>
          </a:prstGeom>
        </p:spPr>
      </p:pic>
      <p:pic>
        <p:nvPicPr>
          <p:cNvPr id="29" name="Picture 28" descr="Text&#10;&#10;Description automatically generated">
            <a:extLst>
              <a:ext uri="{FF2B5EF4-FFF2-40B4-BE49-F238E27FC236}">
                <a16:creationId xmlns:a16="http://schemas.microsoft.com/office/drawing/2014/main" id="{804B399D-6C8A-890F-A60E-38FD6611A6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biLevel thresh="75000"/>
          </a:blip>
          <a:stretch>
            <a:fillRect/>
          </a:stretch>
        </p:blipFill>
        <p:spPr>
          <a:xfrm>
            <a:off x="1097115" y="1432559"/>
            <a:ext cx="4465485" cy="2059782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8109C620-85AF-92B1-7F88-1A9B902B6A51}"/>
              </a:ext>
            </a:extLst>
          </p:cNvPr>
          <p:cNvSpPr/>
          <p:nvPr/>
        </p:nvSpPr>
        <p:spPr>
          <a:xfrm>
            <a:off x="16764000" y="14828520"/>
            <a:ext cx="11658600" cy="109728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IDENTIFICATION OF CRITICAL EDGES USING EDGE BETWEENNES CENTRALITY (EBC)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B248717-1B95-E438-003D-3089D13CDD30}"/>
              </a:ext>
            </a:extLst>
          </p:cNvPr>
          <p:cNvSpPr/>
          <p:nvPr/>
        </p:nvSpPr>
        <p:spPr>
          <a:xfrm>
            <a:off x="16764000" y="9829800"/>
            <a:ext cx="11658600" cy="91440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 INVERSE-FORCE WEIGHTED CONTACT NETWORK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013049E-E8B2-23A9-C638-26F2B91281F3}"/>
              </a:ext>
            </a:extLst>
          </p:cNvPr>
          <p:cNvSpPr/>
          <p:nvPr/>
        </p:nvSpPr>
        <p:spPr>
          <a:xfrm>
            <a:off x="16764000" y="22219920"/>
            <a:ext cx="11620500" cy="109728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IDENTIFICATION OF HIGH IMPORTANCE FORCE  CHAINS USING CHANGE POINT DETECTION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81EA69B-A635-1E00-2DF9-FBD5AD2FC370}"/>
              </a:ext>
            </a:extLst>
          </p:cNvPr>
          <p:cNvSpPr/>
          <p:nvPr/>
        </p:nvSpPr>
        <p:spPr>
          <a:xfrm>
            <a:off x="16764000" y="28696919"/>
            <a:ext cx="11620500" cy="109728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FORCE-CHAIN STRUCTURAL CHARACTERIZATION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3B7099E-7CDC-6CA9-D687-2588CF5BA6C1}"/>
              </a:ext>
            </a:extLst>
          </p:cNvPr>
          <p:cNvSpPr/>
          <p:nvPr/>
        </p:nvSpPr>
        <p:spPr>
          <a:xfrm>
            <a:off x="15598140" y="34107120"/>
            <a:ext cx="12824460" cy="109728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TRADITIONAL vs EBC APPROACH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69313A9-855A-9947-5FB7-C99319F02DE5}"/>
                  </a:ext>
                </a:extLst>
              </p:cNvPr>
              <p:cNvSpPr txBox="1"/>
              <p:nvPr/>
            </p:nvSpPr>
            <p:spPr>
              <a:xfrm>
                <a:off x="18753465" y="12115800"/>
                <a:ext cx="4030925" cy="1163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200" b="1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69313A9-855A-9947-5FB7-C99319F02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3465" y="12115800"/>
                <a:ext cx="4030925" cy="1163460"/>
              </a:xfrm>
              <a:prstGeom prst="rect">
                <a:avLst/>
              </a:prstGeom>
              <a:blipFill>
                <a:blip r:embed="rId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60BDA44D-52DE-07A0-6CDF-669D5715E771}"/>
              </a:ext>
            </a:extLst>
          </p:cNvPr>
          <p:cNvSpPr txBox="1"/>
          <p:nvPr/>
        </p:nvSpPr>
        <p:spPr>
          <a:xfrm>
            <a:off x="15727678" y="13430071"/>
            <a:ext cx="94945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Strong contacts correspond to low-cost paths and therefore dominate shortest-path transport.</a:t>
            </a:r>
          </a:p>
        </p:txBody>
      </p: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C4611FD5-3627-3026-6BAD-A913EF1C7EE6}"/>
              </a:ext>
            </a:extLst>
          </p:cNvPr>
          <p:cNvGrpSpPr/>
          <p:nvPr/>
        </p:nvGrpSpPr>
        <p:grpSpPr>
          <a:xfrm>
            <a:off x="23916326" y="11085316"/>
            <a:ext cx="3696233" cy="2936959"/>
            <a:chOff x="23095349" y="8483025"/>
            <a:chExt cx="4813241" cy="3693236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B06972D-050F-EF74-5FF2-7A9957D7A06C}"/>
                </a:ext>
              </a:extLst>
            </p:cNvPr>
            <p:cNvSpPr/>
            <p:nvPr/>
          </p:nvSpPr>
          <p:spPr>
            <a:xfrm>
              <a:off x="23919290" y="10466499"/>
              <a:ext cx="365760" cy="36576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265FD6B-CE3C-9C61-F6E3-9C6933FDC926}"/>
                </a:ext>
              </a:extLst>
            </p:cNvPr>
            <p:cNvSpPr/>
            <p:nvPr/>
          </p:nvSpPr>
          <p:spPr>
            <a:xfrm>
              <a:off x="25269634" y="9045119"/>
              <a:ext cx="365760" cy="36576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A203A39-BBD4-8244-28B9-DE3E457C77E9}"/>
                </a:ext>
              </a:extLst>
            </p:cNvPr>
            <p:cNvSpPr/>
            <p:nvPr/>
          </p:nvSpPr>
          <p:spPr>
            <a:xfrm>
              <a:off x="23224715" y="8735554"/>
              <a:ext cx="365760" cy="36576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8A27F8E-F829-90E2-A06B-873A3F32F65D}"/>
                </a:ext>
              </a:extLst>
            </p:cNvPr>
            <p:cNvSpPr/>
            <p:nvPr/>
          </p:nvSpPr>
          <p:spPr>
            <a:xfrm>
              <a:off x="23347161" y="10160274"/>
              <a:ext cx="365760" cy="36576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C78B8561-2964-3E92-C2A0-9C9AF6C60EC3}"/>
                </a:ext>
              </a:extLst>
            </p:cNvPr>
            <p:cNvSpPr/>
            <p:nvPr/>
          </p:nvSpPr>
          <p:spPr>
            <a:xfrm>
              <a:off x="25770547" y="11565196"/>
              <a:ext cx="365760" cy="36576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FE4D29D-33E4-B5EE-73FB-CD31919DD881}"/>
                </a:ext>
              </a:extLst>
            </p:cNvPr>
            <p:cNvSpPr/>
            <p:nvPr/>
          </p:nvSpPr>
          <p:spPr>
            <a:xfrm>
              <a:off x="24069986" y="11382316"/>
              <a:ext cx="365760" cy="36576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9252A96-BACB-70E7-023B-57F74727B538}"/>
                </a:ext>
              </a:extLst>
            </p:cNvPr>
            <p:cNvSpPr/>
            <p:nvPr/>
          </p:nvSpPr>
          <p:spPr>
            <a:xfrm>
              <a:off x="24752675" y="11810501"/>
              <a:ext cx="365760" cy="36576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2212FB80-D08A-D559-F2E7-E4E83BA5F5CA}"/>
                </a:ext>
              </a:extLst>
            </p:cNvPr>
            <p:cNvSpPr/>
            <p:nvPr/>
          </p:nvSpPr>
          <p:spPr>
            <a:xfrm>
              <a:off x="24527186" y="9861055"/>
              <a:ext cx="365760" cy="36576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96DE0634-1F06-CF1B-70ED-9B8A9D003507}"/>
                </a:ext>
              </a:extLst>
            </p:cNvPr>
            <p:cNvSpPr/>
            <p:nvPr/>
          </p:nvSpPr>
          <p:spPr>
            <a:xfrm>
              <a:off x="27235550" y="10493254"/>
              <a:ext cx="365760" cy="36576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F04F3FBA-9D3C-15F7-DAE9-DC0716EA8676}"/>
                </a:ext>
              </a:extLst>
            </p:cNvPr>
            <p:cNvSpPr/>
            <p:nvPr/>
          </p:nvSpPr>
          <p:spPr>
            <a:xfrm>
              <a:off x="26042849" y="9666993"/>
              <a:ext cx="274320" cy="27432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608986B0-EC74-1148-EA25-AFF8BC90F3EE}"/>
                </a:ext>
              </a:extLst>
            </p:cNvPr>
            <p:cNvSpPr/>
            <p:nvPr/>
          </p:nvSpPr>
          <p:spPr>
            <a:xfrm>
              <a:off x="25590158" y="10427375"/>
              <a:ext cx="365760" cy="36576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5E00E876-89B8-4F49-C0E0-9CD0F2FD03EC}"/>
                </a:ext>
              </a:extLst>
            </p:cNvPr>
            <p:cNvSpPr/>
            <p:nvPr/>
          </p:nvSpPr>
          <p:spPr>
            <a:xfrm>
              <a:off x="24346235" y="8999397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311AC80E-0FF3-61F8-FBD8-5BF96E955EB7}"/>
                </a:ext>
              </a:extLst>
            </p:cNvPr>
            <p:cNvSpPr/>
            <p:nvPr/>
          </p:nvSpPr>
          <p:spPr>
            <a:xfrm>
              <a:off x="23777233" y="9556238"/>
              <a:ext cx="182880" cy="1828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6B41FEF2-8EAA-560D-FF9A-58B13298BA91}"/>
                </a:ext>
              </a:extLst>
            </p:cNvPr>
            <p:cNvSpPr/>
            <p:nvPr/>
          </p:nvSpPr>
          <p:spPr>
            <a:xfrm>
              <a:off x="26650837" y="8697841"/>
              <a:ext cx="365760" cy="36576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282CDB9F-B8E3-FA45-AFF6-4AF7FE642F74}"/>
                </a:ext>
              </a:extLst>
            </p:cNvPr>
            <p:cNvCxnSpPr>
              <a:cxnSpLocks/>
              <a:stCxn id="61" idx="4"/>
              <a:endCxn id="69" idx="0"/>
            </p:cNvCxnSpPr>
            <p:nvPr/>
          </p:nvCxnSpPr>
          <p:spPr>
            <a:xfrm>
              <a:off x="24102170" y="10832259"/>
              <a:ext cx="150696" cy="550057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6634876-7DC0-38A8-43BF-83FB828FBE1C}"/>
                </a:ext>
              </a:extLst>
            </p:cNvPr>
            <p:cNvCxnSpPr>
              <a:cxnSpLocks/>
              <a:stCxn id="71" idx="3"/>
            </p:cNvCxnSpPr>
            <p:nvPr/>
          </p:nvCxnSpPr>
          <p:spPr>
            <a:xfrm flipH="1">
              <a:off x="24250717" y="10173251"/>
              <a:ext cx="330033" cy="348381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B4B7C1DF-39E9-AA1E-6B51-D4A594F20FA5}"/>
                </a:ext>
              </a:extLst>
            </p:cNvPr>
            <p:cNvCxnSpPr>
              <a:cxnSpLocks/>
              <a:stCxn id="67" idx="5"/>
              <a:endCxn id="61" idx="1"/>
            </p:cNvCxnSpPr>
            <p:nvPr/>
          </p:nvCxnSpPr>
          <p:spPr>
            <a:xfrm>
              <a:off x="23659357" y="10472470"/>
              <a:ext cx="313497" cy="47593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4DC02E8D-E07A-AB38-FEE2-157CA28BA5CD}"/>
                </a:ext>
              </a:extLst>
            </p:cNvPr>
            <p:cNvCxnSpPr>
              <a:cxnSpLocks/>
              <a:stCxn id="67" idx="0"/>
              <a:endCxn id="66" idx="4"/>
            </p:cNvCxnSpPr>
            <p:nvPr/>
          </p:nvCxnSpPr>
          <p:spPr>
            <a:xfrm flipH="1" flipV="1">
              <a:off x="23407595" y="9101314"/>
              <a:ext cx="122446" cy="1058960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07A5C2F-7919-609D-2717-5FC39ED5DBC5}"/>
                </a:ext>
              </a:extLst>
            </p:cNvPr>
            <p:cNvCxnSpPr>
              <a:cxnSpLocks/>
              <a:stCxn id="75" idx="1"/>
              <a:endCxn id="71" idx="6"/>
            </p:cNvCxnSpPr>
            <p:nvPr/>
          </p:nvCxnSpPr>
          <p:spPr>
            <a:xfrm flipH="1" flipV="1">
              <a:off x="24892946" y="10043935"/>
              <a:ext cx="750776" cy="437004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41780B23-AC93-BEAE-4877-658CFA620EA3}"/>
                </a:ext>
              </a:extLst>
            </p:cNvPr>
            <p:cNvCxnSpPr>
              <a:cxnSpLocks/>
              <a:stCxn id="68" idx="0"/>
              <a:endCxn id="75" idx="4"/>
            </p:cNvCxnSpPr>
            <p:nvPr/>
          </p:nvCxnSpPr>
          <p:spPr>
            <a:xfrm flipH="1" flipV="1">
              <a:off x="25773038" y="10793135"/>
              <a:ext cx="180389" cy="772061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AC5DA782-DD80-21D0-1D26-983E1D5D9536}"/>
                </a:ext>
              </a:extLst>
            </p:cNvPr>
            <p:cNvCxnSpPr>
              <a:cxnSpLocks/>
              <a:stCxn id="74" idx="3"/>
              <a:endCxn id="75" idx="0"/>
            </p:cNvCxnSpPr>
            <p:nvPr/>
          </p:nvCxnSpPr>
          <p:spPr>
            <a:xfrm flipH="1">
              <a:off x="25773038" y="9901140"/>
              <a:ext cx="309984" cy="526235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E2B726F2-172A-4A9B-0278-7E92FBF0BDC5}"/>
                </a:ext>
              </a:extLst>
            </p:cNvPr>
            <p:cNvCxnSpPr>
              <a:cxnSpLocks/>
              <a:stCxn id="78" idx="3"/>
              <a:endCxn id="74" idx="7"/>
            </p:cNvCxnSpPr>
            <p:nvPr/>
          </p:nvCxnSpPr>
          <p:spPr>
            <a:xfrm flipH="1">
              <a:off x="26276996" y="9010037"/>
              <a:ext cx="427405" cy="697129"/>
            </a:xfrm>
            <a:prstGeom prst="line">
              <a:avLst/>
            </a:prstGeom>
            <a:ln w="762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73376BB7-8291-9484-6AFA-34BEBE3CBC3D}"/>
                </a:ext>
              </a:extLst>
            </p:cNvPr>
            <p:cNvCxnSpPr>
              <a:cxnSpLocks/>
              <a:stCxn id="64" idx="3"/>
              <a:endCxn id="71" idx="7"/>
            </p:cNvCxnSpPr>
            <p:nvPr/>
          </p:nvCxnSpPr>
          <p:spPr>
            <a:xfrm flipH="1">
              <a:off x="24839382" y="9357315"/>
              <a:ext cx="483816" cy="55730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4FEC037D-FC50-2F91-95EB-4FB6EA20DD96}"/>
                </a:ext>
              </a:extLst>
            </p:cNvPr>
            <p:cNvCxnSpPr>
              <a:cxnSpLocks/>
              <a:stCxn id="77" idx="4"/>
              <a:endCxn id="67" idx="7"/>
            </p:cNvCxnSpPr>
            <p:nvPr/>
          </p:nvCxnSpPr>
          <p:spPr>
            <a:xfrm flipH="1">
              <a:off x="23659357" y="9739118"/>
              <a:ext cx="209316" cy="474720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F1FF087-D668-8B3D-D5C6-CD84E6920EB4}"/>
                </a:ext>
              </a:extLst>
            </p:cNvPr>
            <p:cNvCxnSpPr>
              <a:cxnSpLocks/>
              <a:stCxn id="76" idx="3"/>
              <a:endCxn id="77" idx="7"/>
            </p:cNvCxnSpPr>
            <p:nvPr/>
          </p:nvCxnSpPr>
          <p:spPr>
            <a:xfrm flipH="1">
              <a:off x="23933331" y="9077446"/>
              <a:ext cx="426295" cy="505574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34B967C8-9399-0C39-55A1-DF12FD3EFAD5}"/>
                </a:ext>
              </a:extLst>
            </p:cNvPr>
            <p:cNvSpPr/>
            <p:nvPr/>
          </p:nvSpPr>
          <p:spPr>
            <a:xfrm>
              <a:off x="24994623" y="11037378"/>
              <a:ext cx="182880" cy="1828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9061C291-2595-2BD6-5616-94E886995F34}"/>
                </a:ext>
              </a:extLst>
            </p:cNvPr>
            <p:cNvCxnSpPr>
              <a:cxnSpLocks/>
              <a:stCxn id="118" idx="4"/>
              <a:endCxn id="70" idx="0"/>
            </p:cNvCxnSpPr>
            <p:nvPr/>
          </p:nvCxnSpPr>
          <p:spPr>
            <a:xfrm flipH="1">
              <a:off x="24935555" y="11220258"/>
              <a:ext cx="150508" cy="590243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8CCC1DA7-5E5A-9B5A-D3CE-25A2B0321501}"/>
                </a:ext>
              </a:extLst>
            </p:cNvPr>
            <p:cNvCxnSpPr>
              <a:cxnSpLocks/>
              <a:stCxn id="71" idx="4"/>
              <a:endCxn id="118" idx="0"/>
            </p:cNvCxnSpPr>
            <p:nvPr/>
          </p:nvCxnSpPr>
          <p:spPr>
            <a:xfrm>
              <a:off x="24710066" y="10226815"/>
              <a:ext cx="375997" cy="810563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6B0EFB73-8360-7E1D-07CA-0C048C58EE61}"/>
                </a:ext>
              </a:extLst>
            </p:cNvPr>
            <p:cNvCxnSpPr>
              <a:cxnSpLocks/>
              <a:stCxn id="128" idx="1"/>
              <a:endCxn id="118" idx="6"/>
            </p:cNvCxnSpPr>
            <p:nvPr/>
          </p:nvCxnSpPr>
          <p:spPr>
            <a:xfrm flipH="1" flipV="1">
              <a:off x="25177503" y="11128818"/>
              <a:ext cx="335522" cy="251111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E82156DA-0911-C42C-4AA3-5BE7DE85623E}"/>
                </a:ext>
              </a:extLst>
            </p:cNvPr>
            <p:cNvSpPr/>
            <p:nvPr/>
          </p:nvSpPr>
          <p:spPr>
            <a:xfrm>
              <a:off x="25486243" y="11353147"/>
              <a:ext cx="182880" cy="1828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FA3D4516-A263-C1E4-D8A7-1D4141687563}"/>
                </a:ext>
              </a:extLst>
            </p:cNvPr>
            <p:cNvCxnSpPr>
              <a:cxnSpLocks/>
              <a:stCxn id="128" idx="0"/>
              <a:endCxn id="75" idx="3"/>
            </p:cNvCxnSpPr>
            <p:nvPr/>
          </p:nvCxnSpPr>
          <p:spPr>
            <a:xfrm flipV="1">
              <a:off x="25577683" y="10739571"/>
              <a:ext cx="66039" cy="61357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49D25C21-BBCF-CBE2-022D-7B4F526D1A4F}"/>
                </a:ext>
              </a:extLst>
            </p:cNvPr>
            <p:cNvCxnSpPr>
              <a:cxnSpLocks/>
              <a:stCxn id="128" idx="3"/>
              <a:endCxn id="70" idx="7"/>
            </p:cNvCxnSpPr>
            <p:nvPr/>
          </p:nvCxnSpPr>
          <p:spPr>
            <a:xfrm flipH="1">
              <a:off x="25064871" y="11509245"/>
              <a:ext cx="448154" cy="354820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730D1484-887E-966B-1870-70C927BAF375}"/>
                </a:ext>
              </a:extLst>
            </p:cNvPr>
            <p:cNvSpPr/>
            <p:nvPr/>
          </p:nvSpPr>
          <p:spPr>
            <a:xfrm>
              <a:off x="23095349" y="10821158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ED6F1A8-64C5-4FBD-ED28-2425038906F9}"/>
                </a:ext>
              </a:extLst>
            </p:cNvPr>
            <p:cNvCxnSpPr>
              <a:cxnSpLocks/>
              <a:stCxn id="67" idx="3"/>
              <a:endCxn id="137" idx="0"/>
            </p:cNvCxnSpPr>
            <p:nvPr/>
          </p:nvCxnSpPr>
          <p:spPr>
            <a:xfrm flipH="1">
              <a:off x="23141069" y="10472470"/>
              <a:ext cx="259656" cy="34868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80DAD4F3-F8F8-7D2C-E3E0-1E01FF6A1E98}"/>
                </a:ext>
              </a:extLst>
            </p:cNvPr>
            <p:cNvCxnSpPr>
              <a:cxnSpLocks/>
              <a:stCxn id="69" idx="3"/>
            </p:cNvCxnSpPr>
            <p:nvPr/>
          </p:nvCxnSpPr>
          <p:spPr>
            <a:xfrm flipH="1">
              <a:off x="23659357" y="11694512"/>
              <a:ext cx="464193" cy="22661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738F8D5-3D71-2906-6EAA-3F2EF4F6F67E}"/>
                </a:ext>
              </a:extLst>
            </p:cNvPr>
            <p:cNvCxnSpPr>
              <a:cxnSpLocks/>
              <a:endCxn id="68" idx="6"/>
            </p:cNvCxnSpPr>
            <p:nvPr/>
          </p:nvCxnSpPr>
          <p:spPr>
            <a:xfrm flipH="1" flipV="1">
              <a:off x="26136307" y="11748076"/>
              <a:ext cx="430553" cy="62425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4A08E32B-AB8D-6DFD-A566-6F398B61C6E5}"/>
                </a:ext>
              </a:extLst>
            </p:cNvPr>
            <p:cNvCxnSpPr>
              <a:cxnSpLocks/>
              <a:stCxn id="78" idx="5"/>
              <a:endCxn id="73" idx="0"/>
            </p:cNvCxnSpPr>
            <p:nvPr/>
          </p:nvCxnSpPr>
          <p:spPr>
            <a:xfrm>
              <a:off x="26963033" y="9010037"/>
              <a:ext cx="455397" cy="1483217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3FE53B7B-C883-EACC-CF35-2ED799193B26}"/>
                </a:ext>
              </a:extLst>
            </p:cNvPr>
            <p:cNvCxnSpPr>
              <a:cxnSpLocks/>
              <a:stCxn id="74" idx="5"/>
              <a:endCxn id="73" idx="1"/>
            </p:cNvCxnSpPr>
            <p:nvPr/>
          </p:nvCxnSpPr>
          <p:spPr>
            <a:xfrm>
              <a:off x="26276996" y="9901140"/>
              <a:ext cx="1012118" cy="64567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42D78407-DECB-7619-CCF4-E830BAB4F148}"/>
                </a:ext>
              </a:extLst>
            </p:cNvPr>
            <p:cNvSpPr/>
            <p:nvPr/>
          </p:nvSpPr>
          <p:spPr>
            <a:xfrm>
              <a:off x="27725710" y="9386575"/>
              <a:ext cx="182880" cy="1828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E7693FC6-61A3-1CED-960A-3E40BE5955E1}"/>
                </a:ext>
              </a:extLst>
            </p:cNvPr>
            <p:cNvCxnSpPr>
              <a:cxnSpLocks/>
              <a:stCxn id="78" idx="6"/>
              <a:endCxn id="157" idx="1"/>
            </p:cNvCxnSpPr>
            <p:nvPr/>
          </p:nvCxnSpPr>
          <p:spPr>
            <a:xfrm>
              <a:off x="27016597" y="8880721"/>
              <a:ext cx="735895" cy="53263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99119558-F4D2-9018-1B51-2DA24BC87B5D}"/>
                </a:ext>
              </a:extLst>
            </p:cNvPr>
            <p:cNvCxnSpPr>
              <a:cxnSpLocks/>
              <a:stCxn id="157" idx="4"/>
              <a:endCxn id="73" idx="7"/>
            </p:cNvCxnSpPr>
            <p:nvPr/>
          </p:nvCxnSpPr>
          <p:spPr>
            <a:xfrm flipH="1">
              <a:off x="27547746" y="9569455"/>
              <a:ext cx="269404" cy="977363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713FC9A2-EAB7-E544-3C33-C65B1230B7A9}"/>
                </a:ext>
              </a:extLst>
            </p:cNvPr>
            <p:cNvCxnSpPr>
              <a:cxnSpLocks/>
              <a:stCxn id="78" idx="1"/>
              <a:endCxn id="167" idx="6"/>
            </p:cNvCxnSpPr>
            <p:nvPr/>
          </p:nvCxnSpPr>
          <p:spPr>
            <a:xfrm flipH="1" flipV="1">
              <a:off x="26169732" y="8605184"/>
              <a:ext cx="534669" cy="146221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0BD1D2E-22B7-7833-7696-A293B9DE7396}"/>
                </a:ext>
              </a:extLst>
            </p:cNvPr>
            <p:cNvSpPr/>
            <p:nvPr/>
          </p:nvSpPr>
          <p:spPr>
            <a:xfrm>
              <a:off x="26078292" y="8559464"/>
              <a:ext cx="91440" cy="91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5D846813-DE8E-01C6-4D17-5480C8C2DCA3}"/>
                </a:ext>
              </a:extLst>
            </p:cNvPr>
            <p:cNvSpPr/>
            <p:nvPr/>
          </p:nvSpPr>
          <p:spPr>
            <a:xfrm>
              <a:off x="26738585" y="10161610"/>
              <a:ext cx="182880" cy="1828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74276BD0-F9DA-0746-A296-15F7E5DDD618}"/>
                </a:ext>
              </a:extLst>
            </p:cNvPr>
            <p:cNvCxnSpPr>
              <a:cxnSpLocks/>
              <a:stCxn id="170" idx="3"/>
              <a:endCxn id="175" idx="0"/>
            </p:cNvCxnSpPr>
            <p:nvPr/>
          </p:nvCxnSpPr>
          <p:spPr>
            <a:xfrm flipH="1">
              <a:off x="26443612" y="10317708"/>
              <a:ext cx="321755" cy="50816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115FC243-DD34-D4EF-76B2-1B2D6F89B2CC}"/>
                </a:ext>
              </a:extLst>
            </p:cNvPr>
            <p:cNvSpPr/>
            <p:nvPr/>
          </p:nvSpPr>
          <p:spPr>
            <a:xfrm>
              <a:off x="26411608" y="10825877"/>
              <a:ext cx="64008" cy="6400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17FE7864-8E46-DD64-79BB-170C85B1E717}"/>
                </a:ext>
              </a:extLst>
            </p:cNvPr>
            <p:cNvSpPr txBox="1"/>
            <p:nvPr/>
          </p:nvSpPr>
          <p:spPr>
            <a:xfrm>
              <a:off x="25679400" y="8951972"/>
              <a:ext cx="62869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i="1" dirty="0" err="1"/>
                <a:t>w</a:t>
              </a:r>
              <a:r>
                <a:rPr lang="en-US" sz="3200" b="1" i="1" baseline="-25000" dirty="0" err="1"/>
                <a:t>ij</a:t>
              </a:r>
              <a:endParaRPr lang="en-US" sz="3200" b="1" i="1" baseline="-25000" dirty="0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B0F6A7EE-488E-F511-1116-88D809B0994F}"/>
                </a:ext>
              </a:extLst>
            </p:cNvPr>
            <p:cNvSpPr txBox="1"/>
            <p:nvPr/>
          </p:nvSpPr>
          <p:spPr>
            <a:xfrm>
              <a:off x="26993944" y="8483025"/>
              <a:ext cx="2856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i="1" dirty="0" err="1"/>
                <a:t>i</a:t>
              </a:r>
              <a:endParaRPr lang="en-US" sz="3200" b="1" i="1" baseline="-25000" dirty="0"/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EB40F234-F35C-9AB0-9CA8-217AAC0BCFA9}"/>
                </a:ext>
              </a:extLst>
            </p:cNvPr>
            <p:cNvSpPr txBox="1"/>
            <p:nvPr/>
          </p:nvSpPr>
          <p:spPr>
            <a:xfrm flipH="1">
              <a:off x="26279718" y="9556238"/>
              <a:ext cx="39028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i="1" dirty="0"/>
                <a:t>j</a:t>
              </a:r>
              <a:endParaRPr lang="en-US" sz="3200" b="1" i="1" baseline="-250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9AA0573C-21EF-7F66-8029-ABE1485B6E24}"/>
                  </a:ext>
                </a:extLst>
              </p:cNvPr>
              <p:cNvSpPr txBox="1"/>
              <p:nvPr/>
            </p:nvSpPr>
            <p:spPr>
              <a:xfrm>
                <a:off x="23176923" y="17110264"/>
                <a:ext cx="5190725" cy="20159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54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5400" b="1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5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54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5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5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5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sz="5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𝒔𝒕</m:t>
                                  </m:r>
                                </m:sub>
                              </m:sSub>
                              <m:r>
                                <a:rPr lang="en-US" sz="5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5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𝒆</m:t>
                              </m:r>
                              <m:r>
                                <a:rPr lang="en-US" sz="5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5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5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sz="5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𝒔𝒕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sz="54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5400" b="1" dirty="0"/>
              </a:p>
            </p:txBody>
          </p:sp>
        </mc:Choice>
        <mc:Fallback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9AA0573C-21EF-7F66-8029-ABE1485B6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6923" y="17110264"/>
                <a:ext cx="5190725" cy="2015936"/>
              </a:xfrm>
              <a:prstGeom prst="rect">
                <a:avLst/>
              </a:prstGeom>
              <a:blipFill>
                <a:blip r:embed="rId6"/>
                <a:stretch>
                  <a:fillRect l="-11707" t="-147500" r="-3902" b="-2037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717170D9-81EE-CCB9-711D-BC578DC3A4B0}"/>
                  </a:ext>
                </a:extLst>
              </p:cNvPr>
              <p:cNvSpPr txBox="1"/>
              <p:nvPr/>
            </p:nvSpPr>
            <p:spPr>
              <a:xfrm>
                <a:off x="23270573" y="19828014"/>
                <a:ext cx="4771027" cy="1323439"/>
              </a:xfrm>
              <a:prstGeom prst="rect">
                <a:avLst/>
              </a:prstGeom>
              <a:noFill/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i="1">
                            <a:ea typeface="Cambria Math" panose="02040503050406030204" pitchFamily="18" charset="0"/>
                          </a:rPr>
                          <m:t>𝑠𝑡</m:t>
                        </m:r>
                      </m:sub>
                    </m:sSub>
                  </m:oMath>
                </a14:m>
                <a:r>
                  <a:rPr lang="en-US" sz="2000" dirty="0"/>
                  <a:t>: number of shortest paths </a:t>
                </a:r>
              </a:p>
              <a:p>
                <a:r>
                  <a:rPr lang="en-US" sz="2000" dirty="0"/>
                  <a:t>between nodes </a:t>
                </a:r>
                <a:r>
                  <a:rPr lang="en-US" sz="2000" i="1" dirty="0"/>
                  <a:t>s</a:t>
                </a:r>
                <a:r>
                  <a:rPr lang="en-US" sz="2000" dirty="0"/>
                  <a:t> and </a:t>
                </a:r>
                <a:r>
                  <a:rPr lang="en-US" sz="2000" i="1" dirty="0"/>
                  <a:t>t</a:t>
                </a:r>
                <a:endParaRPr lang="en-US" sz="2000" i="1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i="1">
                            <a:ea typeface="Cambria Math" panose="02040503050406030204" pitchFamily="18" charset="0"/>
                          </a:rPr>
                          <m:t>𝑠𝑡</m:t>
                        </m:r>
                      </m:sub>
                    </m:sSub>
                    <m:r>
                      <a:rPr lang="en-US" sz="2000" i="1"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sz="2000" i="1"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: number of those paths </a:t>
                </a:r>
              </a:p>
              <a:p>
                <a:r>
                  <a:rPr lang="en-US" sz="2000" dirty="0"/>
                  <a:t>that include edge </a:t>
                </a:r>
                <a:r>
                  <a:rPr lang="en-US" sz="2000" i="1" dirty="0"/>
                  <a:t>e</a:t>
                </a:r>
              </a:p>
            </p:txBody>
          </p:sp>
        </mc:Choice>
        <mc:Fallback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717170D9-81EE-CCB9-711D-BC578DC3A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70573" y="19828014"/>
                <a:ext cx="4771027" cy="1323439"/>
              </a:xfrm>
              <a:prstGeom prst="rect">
                <a:avLst/>
              </a:prstGeom>
              <a:blipFill>
                <a:blip r:embed="rId7"/>
                <a:stretch>
                  <a:fillRect l="-1058" t="-1869" b="-6542"/>
                </a:stretch>
              </a:blip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1" name="TextBox 230">
            <a:extLst>
              <a:ext uri="{FF2B5EF4-FFF2-40B4-BE49-F238E27FC236}">
                <a16:creationId xmlns:a16="http://schemas.microsoft.com/office/drawing/2014/main" id="{2A0A228C-73D4-9E19-3FDA-424A059F4C50}"/>
              </a:ext>
            </a:extLst>
          </p:cNvPr>
          <p:cNvSpPr txBox="1"/>
          <p:nvPr/>
        </p:nvSpPr>
        <p:spPr>
          <a:xfrm>
            <a:off x="21443244" y="22677329"/>
            <a:ext cx="65" cy="132343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2AFF4315-5835-9854-5845-CFBE85698F3A}"/>
              </a:ext>
            </a:extLst>
          </p:cNvPr>
          <p:cNvGrpSpPr/>
          <p:nvPr/>
        </p:nvGrpSpPr>
        <p:grpSpPr>
          <a:xfrm>
            <a:off x="23727237" y="29335112"/>
            <a:ext cx="3957936" cy="2558021"/>
            <a:chOff x="24129384" y="22400418"/>
            <a:chExt cx="3957936" cy="2558021"/>
          </a:xfrm>
        </p:grpSpPr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1743F8F2-BC43-8FA3-46E3-D8CF39B1B34A}"/>
                </a:ext>
              </a:extLst>
            </p:cNvPr>
            <p:cNvSpPr/>
            <p:nvPr/>
          </p:nvSpPr>
          <p:spPr>
            <a:xfrm>
              <a:off x="25725120" y="22400418"/>
              <a:ext cx="274320" cy="27432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9E06C1C2-DDA5-10E1-F2B7-2101A5586F57}"/>
                </a:ext>
              </a:extLst>
            </p:cNvPr>
            <p:cNvSpPr/>
            <p:nvPr/>
          </p:nvSpPr>
          <p:spPr>
            <a:xfrm>
              <a:off x="26189050" y="23210519"/>
              <a:ext cx="274320" cy="27432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14391F1B-9FD5-8E86-A309-023F373E0277}"/>
                </a:ext>
              </a:extLst>
            </p:cNvPr>
            <p:cNvSpPr/>
            <p:nvPr/>
          </p:nvSpPr>
          <p:spPr>
            <a:xfrm>
              <a:off x="26646845" y="23958144"/>
              <a:ext cx="274320" cy="27432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90CE3B07-7F3E-50E8-9629-BB6CE9CBA52F}"/>
                </a:ext>
              </a:extLst>
            </p:cNvPr>
            <p:cNvSpPr/>
            <p:nvPr/>
          </p:nvSpPr>
          <p:spPr>
            <a:xfrm>
              <a:off x="27052670" y="24481616"/>
              <a:ext cx="274320" cy="27432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E858DB71-591D-1064-D9AA-2CC8B70950A3}"/>
                </a:ext>
              </a:extLst>
            </p:cNvPr>
            <p:cNvSpPr/>
            <p:nvPr/>
          </p:nvSpPr>
          <p:spPr>
            <a:xfrm>
              <a:off x="27813000" y="24684119"/>
              <a:ext cx="274320" cy="27432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3A102B93-61E9-3A23-9F45-74C11B9346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235550" y="24684119"/>
              <a:ext cx="757839" cy="127968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C0F3EEB7-7AE7-D294-7030-DD2E96D8E86E}"/>
                </a:ext>
              </a:extLst>
            </p:cNvPr>
            <p:cNvCxnSpPr>
              <a:cxnSpLocks/>
              <a:stCxn id="191" idx="5"/>
            </p:cNvCxnSpPr>
            <p:nvPr/>
          </p:nvCxnSpPr>
          <p:spPr>
            <a:xfrm flipH="1" flipV="1">
              <a:off x="26746200" y="24077990"/>
              <a:ext cx="540617" cy="637773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E63B81F8-E38D-EB46-9E2A-29C1BC3685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317169" y="23317200"/>
              <a:ext cx="429031" cy="762000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DCAC70D3-A6F8-D519-C12C-88EC53D229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863232" y="22555200"/>
              <a:ext cx="453937" cy="762000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493D3F47-5018-393F-C117-A8924D3BB356}"/>
                </a:ext>
              </a:extLst>
            </p:cNvPr>
            <p:cNvCxnSpPr>
              <a:cxnSpLocks/>
            </p:cNvCxnSpPr>
            <p:nvPr/>
          </p:nvCxnSpPr>
          <p:spPr>
            <a:xfrm>
              <a:off x="24337462" y="24010489"/>
              <a:ext cx="662995" cy="433846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CFEAAF9C-6080-50F8-6E3F-D277E27372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129384" y="23169135"/>
              <a:ext cx="208078" cy="849750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 Box 180"/>
          <p:cNvSpPr txBox="1">
            <a:spLocks noChangeArrowheads="1"/>
          </p:cNvSpPr>
          <p:nvPr/>
        </p:nvSpPr>
        <p:spPr bwMode="auto">
          <a:xfrm>
            <a:off x="1828797" y="25802686"/>
            <a:ext cx="1212873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0" eaLnBrk="1" hangingPunct="1"/>
            <a:r>
              <a:rPr lang="en-US" sz="2800" b="1" dirty="0">
                <a:latin typeface="Calibri" pitchFamily="34" charset="0"/>
              </a:rPr>
              <a:t>Figure 2.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b="1" dirty="0">
                <a:latin typeface="Calibri" pitchFamily="34" charset="0"/>
              </a:rPr>
              <a:t>Sample images of settled piles. </a:t>
            </a:r>
            <a:r>
              <a:rPr lang="en-US" sz="2800" dirty="0">
                <a:latin typeface="Calibri" pitchFamily="34" charset="0"/>
              </a:rPr>
              <a:t>Poured hard particles (D=1.00mm) settle into a stable pile under gravity and different friction coefficients. Low friction, medium friction, high friction -piles. 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Darker colors represent larger force magnitude.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7230B787-049B-2C15-572C-BEDE475F59BD}"/>
              </a:ext>
            </a:extLst>
          </p:cNvPr>
          <p:cNvSpPr/>
          <p:nvPr/>
        </p:nvSpPr>
        <p:spPr>
          <a:xfrm>
            <a:off x="29235400" y="6400800"/>
            <a:ext cx="128016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Force-Chain Geometry and Distribution</a:t>
            </a:r>
          </a:p>
        </p:txBody>
      </p:sp>
      <p:pic>
        <p:nvPicPr>
          <p:cNvPr id="247" name="Picture 246">
            <a:extLst>
              <a:ext uri="{FF2B5EF4-FFF2-40B4-BE49-F238E27FC236}">
                <a16:creationId xmlns:a16="http://schemas.microsoft.com/office/drawing/2014/main" id="{156156B7-96B5-216E-9AA8-D0EA4EA4B3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306" y="16875161"/>
            <a:ext cx="6617864" cy="3044218"/>
          </a:xfrm>
          <a:prstGeom prst="rect">
            <a:avLst/>
          </a:prstGeom>
        </p:spPr>
      </p:pic>
      <p:sp>
        <p:nvSpPr>
          <p:cNvPr id="249" name="Text Box 180">
            <a:extLst>
              <a:ext uri="{FF2B5EF4-FFF2-40B4-BE49-F238E27FC236}">
                <a16:creationId xmlns:a16="http://schemas.microsoft.com/office/drawing/2014/main" id="{2D71BB4B-DD10-507E-8356-1F49B57C3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699" y="19882820"/>
            <a:ext cx="1280159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 dirty="0">
                <a:latin typeface="Calibri" pitchFamily="34" charset="0"/>
              </a:rPr>
              <a:t>Figure 1.</a:t>
            </a:r>
            <a:r>
              <a:rPr lang="en-US" sz="2800" b="1" dirty="0">
                <a:solidFill>
                  <a:prstClr val="black"/>
                </a:solidFill>
                <a:latin typeface="Calibri"/>
              </a:rPr>
              <a:t> Friction Modes (Santos et al., 2021). 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Sliding, rolling, and twisting (left to right) </a:t>
            </a:r>
          </a:p>
          <a:p>
            <a:pPr eaLnBrk="1" hangingPunct="1"/>
            <a:endParaRPr lang="en-US" sz="2800" dirty="0">
              <a:latin typeface="Calibri" pitchFamily="34" charset="0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23066E16-C2D2-1F28-C302-BC946ACEF55B}"/>
              </a:ext>
            </a:extLst>
          </p:cNvPr>
          <p:cNvSpPr txBox="1"/>
          <p:nvPr/>
        </p:nvSpPr>
        <p:spPr>
          <a:xfrm>
            <a:off x="21445537" y="22689147"/>
            <a:ext cx="250068" cy="132343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9E8EB363-A892-85B1-B87A-CF5E6590CD28}"/>
                  </a:ext>
                </a:extLst>
              </p:cNvPr>
              <p:cNvSpPr txBox="1"/>
              <p:nvPr/>
            </p:nvSpPr>
            <p:spPr>
              <a:xfrm>
                <a:off x="23779014" y="26697973"/>
                <a:ext cx="3427462" cy="11456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nary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9E8EB363-A892-85B1-B87A-CF5E6590C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9014" y="26697973"/>
                <a:ext cx="3427462" cy="1145635"/>
              </a:xfrm>
              <a:prstGeom prst="rect">
                <a:avLst/>
              </a:prstGeom>
              <a:blipFill>
                <a:blip r:embed="rId9"/>
                <a:stretch>
                  <a:fillRect l="-2214" t="-125275" b="-183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8" name="TextBox 257">
            <a:extLst>
              <a:ext uri="{FF2B5EF4-FFF2-40B4-BE49-F238E27FC236}">
                <a16:creationId xmlns:a16="http://schemas.microsoft.com/office/drawing/2014/main" id="{D5B10D24-EAAB-0942-CD2F-2A7AB22516F0}"/>
              </a:ext>
            </a:extLst>
          </p:cNvPr>
          <p:cNvSpPr txBox="1"/>
          <p:nvPr/>
        </p:nvSpPr>
        <p:spPr>
          <a:xfrm>
            <a:off x="23966283" y="27724437"/>
            <a:ext cx="3260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/>
              <a:t>C</a:t>
            </a:r>
            <a:r>
              <a:rPr lang="en-US" sz="1800" i="1" baseline="-25000" dirty="0"/>
              <a:t>i</a:t>
            </a:r>
            <a:r>
              <a:rPr lang="en-US" sz="1800" i="1" dirty="0"/>
              <a:t> : </a:t>
            </a:r>
            <a:r>
              <a:rPr lang="en-US" sz="1800" dirty="0"/>
              <a:t>fitting error of segment </a:t>
            </a:r>
            <a:endParaRPr lang="en-US" sz="1800" i="1" dirty="0"/>
          </a:p>
          <a:p>
            <a:r>
              <a:rPr lang="en-US" sz="1800" i="1" dirty="0"/>
              <a:t>k: </a:t>
            </a:r>
            <a:r>
              <a:rPr lang="en-US" sz="1800" dirty="0"/>
              <a:t>number of change points</a:t>
            </a:r>
            <a:endParaRPr lang="en-US" sz="1800" i="1" dirty="0"/>
          </a:p>
          <a:p>
            <a:r>
              <a:rPr lang="en-US" sz="1800" i="1" dirty="0"/>
              <a:t>β: </a:t>
            </a:r>
            <a:r>
              <a:rPr lang="en-US" sz="1800" dirty="0"/>
              <a:t>penalty for over segmentation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5B7BDB9E-1ABA-838F-612A-FB7A1CC4DED6}"/>
              </a:ext>
            </a:extLst>
          </p:cNvPr>
          <p:cNvSpPr txBox="1"/>
          <p:nvPr/>
        </p:nvSpPr>
        <p:spPr>
          <a:xfrm>
            <a:off x="16495444" y="12397221"/>
            <a:ext cx="2744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Edge weight: 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B46AFFA3-B944-7E02-E68A-8EB214377E30}"/>
              </a:ext>
            </a:extLst>
          </p:cNvPr>
          <p:cNvSpPr txBox="1"/>
          <p:nvPr/>
        </p:nvSpPr>
        <p:spPr>
          <a:xfrm>
            <a:off x="24205254" y="30877747"/>
            <a:ext cx="393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e</a:t>
            </a:r>
            <a:r>
              <a:rPr lang="en-US" sz="2000" i="1" baseline="-25000" dirty="0"/>
              <a:t>1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6DB281ED-252B-1BAD-1C14-52FA707D21C7}"/>
              </a:ext>
            </a:extLst>
          </p:cNvPr>
          <p:cNvSpPr txBox="1"/>
          <p:nvPr/>
        </p:nvSpPr>
        <p:spPr>
          <a:xfrm>
            <a:off x="23888737" y="30268802"/>
            <a:ext cx="393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e</a:t>
            </a:r>
            <a:r>
              <a:rPr lang="en-US" sz="2000" i="1" baseline="-25000" dirty="0"/>
              <a:t>2</a:t>
            </a:r>
          </a:p>
        </p:txBody>
      </p: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E25DC0FA-6057-1DBD-D801-98BE49E43034}"/>
              </a:ext>
            </a:extLst>
          </p:cNvPr>
          <p:cNvCxnSpPr>
            <a:cxnSpLocks/>
          </p:cNvCxnSpPr>
          <p:nvPr/>
        </p:nvCxnSpPr>
        <p:spPr>
          <a:xfrm>
            <a:off x="23194162" y="30518432"/>
            <a:ext cx="755760" cy="484690"/>
          </a:xfrm>
          <a:prstGeom prst="line">
            <a:avLst/>
          </a:prstGeom>
          <a:ln w="2540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Box 277">
            <a:extLst>
              <a:ext uri="{FF2B5EF4-FFF2-40B4-BE49-F238E27FC236}">
                <a16:creationId xmlns:a16="http://schemas.microsoft.com/office/drawing/2014/main" id="{4AE6D576-759F-5371-A96D-4A6398DEA7A0}"/>
              </a:ext>
            </a:extLst>
          </p:cNvPr>
          <p:cNvSpPr txBox="1"/>
          <p:nvPr/>
        </p:nvSpPr>
        <p:spPr>
          <a:xfrm>
            <a:off x="23544140" y="30392148"/>
            <a:ext cx="629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dirty="0"/>
              <a:t>θ</a:t>
            </a:r>
            <a:endParaRPr lang="en-US" sz="2000" dirty="0"/>
          </a:p>
        </p:txBody>
      </p:sp>
      <p:sp>
        <p:nvSpPr>
          <p:cNvPr id="284" name="Arc 283">
            <a:extLst>
              <a:ext uri="{FF2B5EF4-FFF2-40B4-BE49-F238E27FC236}">
                <a16:creationId xmlns:a16="http://schemas.microsoft.com/office/drawing/2014/main" id="{D3561A51-1A15-4538-6813-33FD0C61E47C}"/>
              </a:ext>
            </a:extLst>
          </p:cNvPr>
          <p:cNvSpPr/>
          <p:nvPr/>
        </p:nvSpPr>
        <p:spPr>
          <a:xfrm rot="16042752">
            <a:off x="23486009" y="30302734"/>
            <a:ext cx="631213" cy="688095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Rectangle 3">
            <a:extLst>
              <a:ext uri="{FF2B5EF4-FFF2-40B4-BE49-F238E27FC236}">
                <a16:creationId xmlns:a16="http://schemas.microsoft.com/office/drawing/2014/main" id="{7FED68DB-F179-0E64-F070-BB2AB9D09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389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Saved: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edges_with_neff_knee_pelt_labels.csv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knee_backbone_edges_only.csv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pelt_backbone_edges_only.csv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 Saved figures: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threshold_comparison_rank_plot.png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threshold_comparison_logB_plot.png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knee_detection_diagnostic.png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threshold_cumulative_importance.png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knee_backbone_force_vs_B.png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3CC4373E-A3EF-9532-0FD6-76A871F50C9B}"/>
              </a:ext>
            </a:extLst>
          </p:cNvPr>
          <p:cNvSpPr txBox="1"/>
          <p:nvPr/>
        </p:nvSpPr>
        <p:spPr>
          <a:xfrm>
            <a:off x="22958043" y="25509557"/>
            <a:ext cx="5346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Threshold using PELT.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EE81696A-4134-12B5-6880-063E4A5643F7}"/>
                  </a:ext>
                </a:extLst>
              </p:cNvPr>
              <p:cNvSpPr txBox="1"/>
              <p:nvPr/>
            </p:nvSpPr>
            <p:spPr>
              <a:xfrm>
                <a:off x="22784391" y="32613599"/>
                <a:ext cx="4781937" cy="10586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 </m:t>
                                  </m:r>
                                  <m:sSub>
                                    <m:sSub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b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EE81696A-4134-12B5-6880-063E4A564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84391" y="32613599"/>
                <a:ext cx="4781937" cy="1058623"/>
              </a:xfrm>
              <a:prstGeom prst="rect">
                <a:avLst/>
              </a:prstGeom>
              <a:blipFill>
                <a:blip r:embed="rId10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4" name="Text Box 192">
            <a:extLst>
              <a:ext uri="{FF2B5EF4-FFF2-40B4-BE49-F238E27FC236}">
                <a16:creationId xmlns:a16="http://schemas.microsoft.com/office/drawing/2014/main" id="{59F647C9-A57D-881C-385D-A0FA0CA89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2448" y="35225920"/>
            <a:ext cx="6293974" cy="31788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82880" tIns="182880" rIns="182880" bIns="18288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600" b="1" dirty="0">
                <a:latin typeface="Calibri" pitchFamily="34" charset="0"/>
              </a:rPr>
              <a:t>This work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itchFamily="34" charset="0"/>
              </a:rPr>
              <a:t>Global transport importance (EBC)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itchFamily="34" charset="0"/>
              </a:rPr>
              <a:t>Change-point thresholding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itchFamily="34" charset="0"/>
              </a:rPr>
              <a:t>Geometric chain extraction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D4E39B97-1E70-4D18-F095-14C7822266FB}"/>
              </a:ext>
            </a:extLst>
          </p:cNvPr>
          <p:cNvSpPr txBox="1"/>
          <p:nvPr/>
        </p:nvSpPr>
        <p:spPr>
          <a:xfrm>
            <a:off x="15518768" y="7620000"/>
            <a:ext cx="1304735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We combine weighted edge betweenness centrality, change-point </a:t>
            </a:r>
          </a:p>
          <a:p>
            <a:r>
              <a:rPr lang="en-US" sz="3600" b="1" dirty="0"/>
              <a:t>detection, and geometric chain extraction to identify force-bearing </a:t>
            </a:r>
          </a:p>
          <a:p>
            <a:r>
              <a:rPr lang="en-US" sz="3600" b="1" dirty="0"/>
              <a:t>structures in granular piles.</a:t>
            </a:r>
          </a:p>
          <a:p>
            <a:endParaRPr lang="en-US" sz="3600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32254D60-21E0-642E-F3CF-716390B74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3914" y="23441329"/>
            <a:ext cx="4816308" cy="2987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Picture 1066">
            <a:extLst>
              <a:ext uri="{FF2B5EF4-FFF2-40B4-BE49-F238E27FC236}">
                <a16:creationId xmlns:a16="http://schemas.microsoft.com/office/drawing/2014/main" id="{5FD79467-839B-1051-7FC5-CA8F11A4901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2923" y="17767839"/>
            <a:ext cx="7772400" cy="3787188"/>
          </a:xfrm>
          <a:prstGeom prst="rect">
            <a:avLst/>
          </a:prstGeom>
        </p:spPr>
      </p:pic>
      <p:pic>
        <p:nvPicPr>
          <p:cNvPr id="1069" name="Picture 1068">
            <a:extLst>
              <a:ext uri="{FF2B5EF4-FFF2-40B4-BE49-F238E27FC236}">
                <a16:creationId xmlns:a16="http://schemas.microsoft.com/office/drawing/2014/main" id="{55D157F5-5D10-A258-7A66-4B914DCF8F9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7279" y="21564600"/>
            <a:ext cx="5156326" cy="2926081"/>
          </a:xfrm>
          <a:prstGeom prst="rect">
            <a:avLst/>
          </a:prstGeom>
        </p:spPr>
      </p:pic>
      <p:pic>
        <p:nvPicPr>
          <p:cNvPr id="1071" name="Picture 1070">
            <a:extLst>
              <a:ext uri="{FF2B5EF4-FFF2-40B4-BE49-F238E27FC236}">
                <a16:creationId xmlns:a16="http://schemas.microsoft.com/office/drawing/2014/main" id="{4EDD1DC1-08F1-5F9B-8D74-7218B907903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3679" y="21638509"/>
            <a:ext cx="5156326" cy="3365072"/>
          </a:xfrm>
          <a:prstGeom prst="rect">
            <a:avLst/>
          </a:prstGeom>
        </p:spPr>
      </p:pic>
      <p:pic>
        <p:nvPicPr>
          <p:cNvPr id="1077" name="Picture 1076">
            <a:extLst>
              <a:ext uri="{FF2B5EF4-FFF2-40B4-BE49-F238E27FC236}">
                <a16:creationId xmlns:a16="http://schemas.microsoft.com/office/drawing/2014/main" id="{597E6169-6EFA-23CF-B248-48C1F633260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9268" y="18246833"/>
            <a:ext cx="6438900" cy="3289300"/>
          </a:xfrm>
          <a:prstGeom prst="rect">
            <a:avLst/>
          </a:prstGeom>
        </p:spPr>
      </p:pic>
      <p:pic>
        <p:nvPicPr>
          <p:cNvPr id="1073" name="Picture 1072">
            <a:extLst>
              <a:ext uri="{FF2B5EF4-FFF2-40B4-BE49-F238E27FC236}">
                <a16:creationId xmlns:a16="http://schemas.microsoft.com/office/drawing/2014/main" id="{80EC1A8D-3546-A63D-244F-08791375C67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8251" y="20090147"/>
            <a:ext cx="1460500" cy="3543300"/>
          </a:xfrm>
          <a:prstGeom prst="rect">
            <a:avLst/>
          </a:prstGeom>
        </p:spPr>
      </p:pic>
      <p:pic>
        <p:nvPicPr>
          <p:cNvPr id="1081" name="Picture 1080">
            <a:extLst>
              <a:ext uri="{FF2B5EF4-FFF2-40B4-BE49-F238E27FC236}">
                <a16:creationId xmlns:a16="http://schemas.microsoft.com/office/drawing/2014/main" id="{277B923F-8C79-8A87-F49B-8F3ABC5DC4F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408" y="22092234"/>
            <a:ext cx="3251200" cy="3251200"/>
          </a:xfrm>
          <a:prstGeom prst="rect">
            <a:avLst/>
          </a:prstGeom>
        </p:spPr>
      </p:pic>
      <p:pic>
        <p:nvPicPr>
          <p:cNvPr id="1083" name="Picture 1082">
            <a:extLst>
              <a:ext uri="{FF2B5EF4-FFF2-40B4-BE49-F238E27FC236}">
                <a16:creationId xmlns:a16="http://schemas.microsoft.com/office/drawing/2014/main" id="{7D49C0B8-2AD8-F52E-F701-F8374C2B885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190" y="22066594"/>
            <a:ext cx="3251200" cy="3251200"/>
          </a:xfrm>
          <a:prstGeom prst="rect">
            <a:avLst/>
          </a:prstGeom>
        </p:spPr>
      </p:pic>
      <p:pic>
        <p:nvPicPr>
          <p:cNvPr id="1085" name="Picture 1084">
            <a:extLst>
              <a:ext uri="{FF2B5EF4-FFF2-40B4-BE49-F238E27FC236}">
                <a16:creationId xmlns:a16="http://schemas.microsoft.com/office/drawing/2014/main" id="{20963305-96D3-4216-AE5A-8F3D575F7DF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8945" y="22092234"/>
            <a:ext cx="3251200" cy="3251200"/>
          </a:xfrm>
          <a:prstGeom prst="rect">
            <a:avLst/>
          </a:prstGeom>
        </p:spPr>
      </p:pic>
      <p:sp>
        <p:nvSpPr>
          <p:cNvPr id="1086" name="TextBox 1085">
            <a:extLst>
              <a:ext uri="{FF2B5EF4-FFF2-40B4-BE49-F238E27FC236}">
                <a16:creationId xmlns:a16="http://schemas.microsoft.com/office/drawing/2014/main" id="{78DC8C68-0362-A520-CE4B-5C84E6FADA4D}"/>
              </a:ext>
            </a:extLst>
          </p:cNvPr>
          <p:cNvSpPr txBox="1"/>
          <p:nvPr/>
        </p:nvSpPr>
        <p:spPr>
          <a:xfrm>
            <a:off x="11245901" y="23194078"/>
            <a:ext cx="257051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 err="1"/>
              <a:t>μ</a:t>
            </a:r>
            <a:r>
              <a:rPr lang="en-US" sz="1800" dirty="0"/>
              <a:t>=0.7, </a:t>
            </a:r>
            <a:r>
              <a:rPr lang="en-US" sz="1800" dirty="0" err="1"/>
              <a:t>μ</a:t>
            </a:r>
            <a:r>
              <a:rPr lang="en-US" sz="1800" baseline="-25000" dirty="0" err="1"/>
              <a:t>roll</a:t>
            </a:r>
            <a:r>
              <a:rPr lang="en-US" sz="1800" dirty="0"/>
              <a:t>=0.1, </a:t>
            </a:r>
            <a:r>
              <a:rPr lang="en-US" sz="1800" dirty="0" err="1"/>
              <a:t>μ</a:t>
            </a:r>
            <a:r>
              <a:rPr lang="en-US" sz="1800" baseline="-25000" dirty="0" err="1"/>
              <a:t>twist</a:t>
            </a:r>
            <a:r>
              <a:rPr lang="en-US" sz="1800" dirty="0"/>
              <a:t>=0.1 </a:t>
            </a: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929BB546-2FD6-302E-2F84-16736D01380E}"/>
              </a:ext>
            </a:extLst>
          </p:cNvPr>
          <p:cNvSpPr txBox="1"/>
          <p:nvPr/>
        </p:nvSpPr>
        <p:spPr>
          <a:xfrm>
            <a:off x="7645612" y="23189872"/>
            <a:ext cx="257051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 err="1"/>
              <a:t>μ</a:t>
            </a:r>
            <a:r>
              <a:rPr lang="en-US" sz="1800" dirty="0"/>
              <a:t>=0.7, </a:t>
            </a:r>
            <a:r>
              <a:rPr lang="en-US" sz="1800" dirty="0" err="1"/>
              <a:t>μ</a:t>
            </a:r>
            <a:r>
              <a:rPr lang="en-US" sz="1800" baseline="-25000" dirty="0" err="1"/>
              <a:t>roll</a:t>
            </a:r>
            <a:r>
              <a:rPr lang="en-US" sz="1800" dirty="0"/>
              <a:t>=0.1, </a:t>
            </a:r>
            <a:r>
              <a:rPr lang="en-US" sz="1800" dirty="0" err="1"/>
              <a:t>μ</a:t>
            </a:r>
            <a:r>
              <a:rPr lang="en-US" sz="1800" baseline="-25000" dirty="0" err="1"/>
              <a:t>twist</a:t>
            </a:r>
            <a:r>
              <a:rPr lang="en-US" sz="1800" dirty="0"/>
              <a:t>=0.5 </a:t>
            </a: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A55EBF2C-3DC4-F0C8-FEC0-A7804FFFA646}"/>
              </a:ext>
            </a:extLst>
          </p:cNvPr>
          <p:cNvSpPr txBox="1"/>
          <p:nvPr/>
        </p:nvSpPr>
        <p:spPr>
          <a:xfrm>
            <a:off x="4148644" y="23189872"/>
            <a:ext cx="257051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 err="1"/>
              <a:t>μ</a:t>
            </a:r>
            <a:r>
              <a:rPr lang="en-US" sz="1800" dirty="0"/>
              <a:t>=0.1, </a:t>
            </a:r>
            <a:r>
              <a:rPr lang="en-US" sz="1800" dirty="0" err="1"/>
              <a:t>μ</a:t>
            </a:r>
            <a:r>
              <a:rPr lang="en-US" sz="1800" baseline="-25000" dirty="0" err="1"/>
              <a:t>roll</a:t>
            </a:r>
            <a:r>
              <a:rPr lang="en-US" sz="1800" dirty="0"/>
              <a:t>=0.0, </a:t>
            </a:r>
            <a:r>
              <a:rPr lang="en-US" sz="1800" dirty="0" err="1"/>
              <a:t>μ</a:t>
            </a:r>
            <a:r>
              <a:rPr lang="en-US" sz="1800" baseline="-25000" dirty="0" err="1"/>
              <a:t>twist</a:t>
            </a:r>
            <a:r>
              <a:rPr lang="en-US" sz="1800" dirty="0"/>
              <a:t>=0.0 </a:t>
            </a:r>
          </a:p>
        </p:txBody>
      </p:sp>
      <p:pic>
        <p:nvPicPr>
          <p:cNvPr id="1090" name="Picture 1089">
            <a:extLst>
              <a:ext uri="{FF2B5EF4-FFF2-40B4-BE49-F238E27FC236}">
                <a16:creationId xmlns:a16="http://schemas.microsoft.com/office/drawing/2014/main" id="{A8E67D0A-713E-49B5-9F04-65776FED785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428" y="29366401"/>
            <a:ext cx="9880305" cy="7313362"/>
          </a:xfrm>
          <a:prstGeom prst="rect">
            <a:avLst/>
          </a:prstGeom>
        </p:spPr>
      </p:pic>
      <p:sp>
        <p:nvSpPr>
          <p:cNvPr id="1091" name="Text Box 180">
            <a:extLst>
              <a:ext uri="{FF2B5EF4-FFF2-40B4-BE49-F238E27FC236}">
                <a16:creationId xmlns:a16="http://schemas.microsoft.com/office/drawing/2014/main" id="{62EA1641-A82F-C270-8403-7DCF2CD35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797" y="37260701"/>
            <a:ext cx="1280160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 dirty="0">
                <a:latin typeface="Calibri" pitchFamily="34" charset="0"/>
              </a:rPr>
              <a:t>Figure 3.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b="1" dirty="0">
                <a:latin typeface="Calibri" pitchFamily="34" charset="0"/>
              </a:rPr>
              <a:t>Effect of friction on pile height and angle of repose</a:t>
            </a:r>
            <a:r>
              <a:rPr lang="en-US" sz="2800" dirty="0">
                <a:latin typeface="Calibri" pitchFamily="34" charset="0"/>
              </a:rPr>
              <a:t>. Larger friction coefficients correspond to higher, steeper piles.</a:t>
            </a:r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90CA75A3-EEDA-5FF5-2A65-9489104B9642}"/>
              </a:ext>
            </a:extLst>
          </p:cNvPr>
          <p:cNvSpPr/>
          <p:nvPr/>
        </p:nvSpPr>
        <p:spPr>
          <a:xfrm>
            <a:off x="1828798" y="28443036"/>
            <a:ext cx="128016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PILE MORPHOLOGY</a:t>
            </a:r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C5AA6C9A-BAA2-EDA0-20EE-A4603F3BBF41}"/>
              </a:ext>
            </a:extLst>
          </p:cNvPr>
          <p:cNvSpPr txBox="1"/>
          <p:nvPr/>
        </p:nvSpPr>
        <p:spPr>
          <a:xfrm>
            <a:off x="29420421" y="27101287"/>
            <a:ext cx="1270679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Figure 5. Different perspectives of extracted force chains </a:t>
            </a:r>
            <a:r>
              <a:rPr lang="en-US" sz="2800" dirty="0"/>
              <a:t>colored by log10(EBC) against a full set of background force chains. Stronger EBC is darker in color, background chains (smaller EBC) in gray.</a:t>
            </a:r>
          </a:p>
          <a:p>
            <a:endParaRPr lang="en-US" sz="2800" dirty="0"/>
          </a:p>
        </p:txBody>
      </p:sp>
      <p:sp>
        <p:nvSpPr>
          <p:cNvPr id="1095" name="TextBox 1094">
            <a:extLst>
              <a:ext uri="{FF2B5EF4-FFF2-40B4-BE49-F238E27FC236}">
                <a16:creationId xmlns:a16="http://schemas.microsoft.com/office/drawing/2014/main" id="{E516EC78-81E5-2F35-CE37-D277D471043F}"/>
              </a:ext>
            </a:extLst>
          </p:cNvPr>
          <p:cNvSpPr txBox="1"/>
          <p:nvPr/>
        </p:nvSpPr>
        <p:spPr>
          <a:xfrm>
            <a:off x="31551380" y="24993600"/>
            <a:ext cx="257051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 err="1"/>
              <a:t>μ</a:t>
            </a:r>
            <a:r>
              <a:rPr lang="en-US" sz="1800" dirty="0"/>
              <a:t>=0.1, </a:t>
            </a:r>
            <a:r>
              <a:rPr lang="en-US" sz="1800" dirty="0" err="1"/>
              <a:t>μ</a:t>
            </a:r>
            <a:r>
              <a:rPr lang="en-US" sz="1800" baseline="-25000" dirty="0" err="1"/>
              <a:t>roll</a:t>
            </a:r>
            <a:r>
              <a:rPr lang="en-US" sz="1800" dirty="0"/>
              <a:t>=0.0, </a:t>
            </a:r>
            <a:r>
              <a:rPr lang="en-US" sz="1800" dirty="0" err="1"/>
              <a:t>μ</a:t>
            </a:r>
            <a:r>
              <a:rPr lang="en-US" sz="1800" baseline="-25000" dirty="0" err="1"/>
              <a:t>twist</a:t>
            </a:r>
            <a:r>
              <a:rPr lang="en-US" sz="1800" dirty="0"/>
              <a:t>=0.0 </a:t>
            </a: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EAFF9BF5-AFBC-947F-F3FA-6DA164E1A60A}"/>
              </a:ext>
            </a:extLst>
          </p:cNvPr>
          <p:cNvSpPr txBox="1"/>
          <p:nvPr/>
        </p:nvSpPr>
        <p:spPr>
          <a:xfrm>
            <a:off x="36921383" y="24993600"/>
            <a:ext cx="257051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 err="1"/>
              <a:t>μ</a:t>
            </a:r>
            <a:r>
              <a:rPr lang="en-US" sz="1800" dirty="0"/>
              <a:t>=0.7, </a:t>
            </a:r>
            <a:r>
              <a:rPr lang="en-US" sz="1800" dirty="0" err="1"/>
              <a:t>μ</a:t>
            </a:r>
            <a:r>
              <a:rPr lang="en-US" sz="1800" baseline="-25000" dirty="0" err="1"/>
              <a:t>roll</a:t>
            </a:r>
            <a:r>
              <a:rPr lang="en-US" sz="1800" dirty="0"/>
              <a:t>=0.1, </a:t>
            </a:r>
            <a:r>
              <a:rPr lang="en-US" sz="1800" dirty="0" err="1"/>
              <a:t>μ</a:t>
            </a:r>
            <a:r>
              <a:rPr lang="en-US" sz="1800" baseline="-25000" dirty="0" err="1"/>
              <a:t>twist</a:t>
            </a:r>
            <a:r>
              <a:rPr lang="en-US" sz="1800" dirty="0"/>
              <a:t>=0.1 </a:t>
            </a:r>
          </a:p>
        </p:txBody>
      </p:sp>
      <p:pic>
        <p:nvPicPr>
          <p:cNvPr id="1105" name="Picture 1104">
            <a:extLst>
              <a:ext uri="{FF2B5EF4-FFF2-40B4-BE49-F238E27FC236}">
                <a16:creationId xmlns:a16="http://schemas.microsoft.com/office/drawing/2014/main" id="{5F2A478B-00D6-7A31-52CE-68E38AC0476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7559" y="25683568"/>
            <a:ext cx="914400" cy="914400"/>
          </a:xfrm>
          <a:prstGeom prst="rect">
            <a:avLst/>
          </a:prstGeom>
        </p:spPr>
      </p:pic>
      <p:pic>
        <p:nvPicPr>
          <p:cNvPr id="1108" name="Picture 1107">
            <a:extLst>
              <a:ext uri="{FF2B5EF4-FFF2-40B4-BE49-F238E27FC236}">
                <a16:creationId xmlns:a16="http://schemas.microsoft.com/office/drawing/2014/main" id="{6B7E37F1-E927-FA38-CC12-368D1B625AE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5192" y="25683568"/>
            <a:ext cx="914400" cy="914400"/>
          </a:xfrm>
          <a:prstGeom prst="rect">
            <a:avLst/>
          </a:prstGeom>
        </p:spPr>
      </p:pic>
      <p:graphicFrame>
        <p:nvGraphicFramePr>
          <p:cNvPr id="1114" name="Table 1113">
            <a:extLst>
              <a:ext uri="{FF2B5EF4-FFF2-40B4-BE49-F238E27FC236}">
                <a16:creationId xmlns:a16="http://schemas.microsoft.com/office/drawing/2014/main" id="{A0D6760B-C220-810A-410D-1092DC282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024653"/>
              </p:ext>
            </p:extLst>
          </p:nvPr>
        </p:nvGraphicFramePr>
        <p:xfrm>
          <a:off x="30022800" y="12268200"/>
          <a:ext cx="11332470" cy="557983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13534">
                  <a:extLst>
                    <a:ext uri="{9D8B030D-6E8A-4147-A177-3AD203B41FA5}">
                      <a16:colId xmlns:a16="http://schemas.microsoft.com/office/drawing/2014/main" val="169723824"/>
                    </a:ext>
                  </a:extLst>
                </a:gridCol>
                <a:gridCol w="2413536">
                  <a:extLst>
                    <a:ext uri="{9D8B030D-6E8A-4147-A177-3AD203B41FA5}">
                      <a16:colId xmlns:a16="http://schemas.microsoft.com/office/drawing/2014/main" val="422632826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420079695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71674143"/>
                    </a:ext>
                  </a:extLst>
                </a:gridCol>
              </a:tblGrid>
              <a:tr h="929973"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BBB59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Low Friction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BBB59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</a:rPr>
                        <a:t>Low Friction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High Friction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+mn-lt"/>
                        </a:rPr>
                        <a:t>Change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646675"/>
                  </a:ext>
                </a:extLst>
              </a:tr>
              <a:tr h="929973">
                <a:tc>
                  <a:txBody>
                    <a:bodyPr/>
                    <a:lstStyle/>
                    <a:p>
                      <a:r>
                        <a:rPr lang="en-US" sz="2800" dirty="0"/>
                        <a:t>Chain count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154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↓57%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9102808"/>
                  </a:ext>
                </a:extLst>
              </a:tr>
              <a:tr h="929973">
                <a:tc>
                  <a:txBody>
                    <a:bodyPr/>
                    <a:lstStyle/>
                    <a:p>
                      <a:r>
                        <a:rPr lang="en-US" sz="2800" dirty="0"/>
                        <a:t>Bend angle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20</a:t>
                      </a:r>
                      <a:r>
                        <a:rPr lang="en-US" sz="2800" dirty="0"/>
                        <a:t>°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29</a:t>
                      </a:r>
                      <a:r>
                        <a:rPr lang="en-US" sz="2800" dirty="0"/>
                        <a:t>°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↑45%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803636"/>
                  </a:ext>
                </a:extLst>
              </a:tr>
              <a:tr h="929973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prstClr val="black"/>
                          </a:solidFill>
                        </a:rPr>
                        <a:t>Anchor radius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↑10%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870346"/>
                  </a:ext>
                </a:extLst>
              </a:tr>
              <a:tr h="929973">
                <a:tc>
                  <a:txBody>
                    <a:bodyPr/>
                    <a:lstStyle/>
                    <a:p>
                      <a:pPr marL="0" marR="0" lvl="0" indent="0" algn="l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prstClr val="black"/>
                          </a:solidFill>
                        </a:rPr>
                        <a:t>Midpoint radius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↑14%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4574624"/>
                  </a:ext>
                </a:extLst>
              </a:tr>
              <a:tr h="929973">
                <a:tc>
                  <a:txBody>
                    <a:bodyPr/>
                    <a:lstStyle/>
                    <a:p>
                      <a:pPr marL="0" marR="0" lvl="0" indent="0" algn="l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prstClr val="black"/>
                          </a:solidFill>
                        </a:rPr>
                        <a:t>Tip radius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no change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9156181"/>
                  </a:ext>
                </a:extLst>
              </a:tr>
            </a:tbl>
          </a:graphicData>
        </a:graphic>
      </p:graphicFrame>
      <p:sp>
        <p:nvSpPr>
          <p:cNvPr id="1124" name="TextBox 1123">
            <a:extLst>
              <a:ext uri="{FF2B5EF4-FFF2-40B4-BE49-F238E27FC236}">
                <a16:creationId xmlns:a16="http://schemas.microsoft.com/office/drawing/2014/main" id="{A9159D96-8DC7-F833-7F38-A0280742CF1D}"/>
              </a:ext>
            </a:extLst>
          </p:cNvPr>
          <p:cNvSpPr txBox="1"/>
          <p:nvPr/>
        </p:nvSpPr>
        <p:spPr>
          <a:xfrm>
            <a:off x="31576780" y="26648980"/>
            <a:ext cx="229825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Scan for interactive 3D</a:t>
            </a: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2BD17ED6-349D-FE09-19AC-0334BA193CE6}"/>
              </a:ext>
            </a:extLst>
          </p:cNvPr>
          <p:cNvSpPr txBox="1"/>
          <p:nvPr/>
        </p:nvSpPr>
        <p:spPr>
          <a:xfrm>
            <a:off x="37219589" y="26687800"/>
            <a:ext cx="229825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Scan for interactive 3D</a:t>
            </a:r>
          </a:p>
        </p:txBody>
      </p:sp>
    </p:spTree>
    <p:extLst>
      <p:ext uri="{BB962C8B-B14F-4D97-AF65-F5344CB8AC3E}">
        <p14:creationId xmlns:p14="http://schemas.microsoft.com/office/powerpoint/2010/main" val="225125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11769</TotalTime>
  <Words>1105</Words>
  <Application>Microsoft Macintosh PowerPoint</Application>
  <PresentationFormat>Custom</PresentationFormat>
  <Paragraphs>141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-webkit-standard</vt:lpstr>
      <vt:lpstr>Arial</vt:lpstr>
      <vt:lpstr>Calibri</vt:lpstr>
      <vt:lpstr>Cambria Math</vt:lpstr>
      <vt:lpstr>Times</vt:lpstr>
      <vt:lpstr>var(--jp-code-font-family)</vt:lpstr>
      <vt:lpstr>Office Theme</vt:lpstr>
      <vt:lpstr>PowerPoint Presentation</vt:lpstr>
    </vt:vector>
  </TitlesOfParts>
  <Company>Genigraphics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Genigraphics Research Poster Template 48x48</dc:title>
  <dc:creator>Jay Larson</dc:creator>
  <dc:description>Quality poster printing
www.genigraphics.com
1-800-790-4001</dc:description>
  <cp:lastModifiedBy>FLANAGAN, TATIANA</cp:lastModifiedBy>
  <cp:revision>310</cp:revision>
  <cp:lastPrinted>2013-02-12T02:21:55Z</cp:lastPrinted>
  <dcterms:created xsi:type="dcterms:W3CDTF">2013-02-10T21:14:48Z</dcterms:created>
  <dcterms:modified xsi:type="dcterms:W3CDTF">2026-06-08T21:01:02Z</dcterms:modified>
</cp:coreProperties>
</file>