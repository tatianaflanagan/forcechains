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43891200" cy="43891200"/>
  <p:notesSz cx="7004050" cy="9290050"/>
  <p:defaultTextStyle>
    <a:defPPr>
      <a:defRPr lang="en-US"/>
    </a:defPPr>
    <a:lvl1pPr marL="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1pPr>
    <a:lvl2pPr marL="219456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2pPr>
    <a:lvl3pPr marL="438912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3pPr>
    <a:lvl4pPr marL="658368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4pPr>
    <a:lvl5pPr marL="877824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5pPr>
    <a:lvl6pPr marL="1097280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6pPr>
    <a:lvl7pPr marL="1316736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7pPr>
    <a:lvl8pPr marL="1536192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8pPr>
    <a:lvl9pPr marL="17556480" algn="l" defTabSz="4389120" rtl="0" eaLnBrk="1" latinLnBrk="0" hangingPunct="1">
      <a:defRPr sz="86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3824">
          <p15:clr>
            <a:srgbClr val="A4A3A4"/>
          </p15:clr>
        </p15:guide>
        <p15:guide id="2" pos="13824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F7F7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1FECB4D8-DB02-4DC6-A0A2-4F2EBAE1DC90}" styleName="Medium Style 1 - Accent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3">
              <a:tint val="20000"/>
            </a:schemeClr>
          </a:solidFill>
        </a:fill>
      </a:tcStyle>
    </a:band1H>
    <a:band1V>
      <a:tcStyle>
        <a:tcBdr/>
        <a:fill>
          <a:solidFill>
            <a:schemeClr val="accent3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Row>
  </a:tblStyle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Medium Style 2 - Accent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EB344D84-9AFB-497E-A393-DC336BA19D2E}" styleName="Medium Style 3 - Accent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5622" autoAdjust="0"/>
    <p:restoredTop sz="94676" autoAdjust="0"/>
  </p:normalViewPr>
  <p:slideViewPr>
    <p:cSldViewPr>
      <p:cViewPr>
        <p:scale>
          <a:sx n="39" d="100"/>
          <a:sy n="39" d="100"/>
        </p:scale>
        <p:origin x="-1176" y="-2912"/>
      </p:cViewPr>
      <p:guideLst>
        <p:guide orient="horz" pos="13824"/>
        <p:guide pos="13824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Rectangle 14"/>
          <p:cNvSpPr/>
          <p:nvPr userDrawn="1"/>
        </p:nvSpPr>
        <p:spPr>
          <a:xfrm>
            <a:off x="42976800" y="0"/>
            <a:ext cx="914400" cy="438912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6" name="Rectangle 15"/>
          <p:cNvSpPr/>
          <p:nvPr userDrawn="1"/>
        </p:nvSpPr>
        <p:spPr>
          <a:xfrm>
            <a:off x="0" y="0"/>
            <a:ext cx="914400" cy="43891200"/>
          </a:xfrm>
          <a:prstGeom prst="rect">
            <a:avLst/>
          </a:prstGeom>
          <a:solidFill>
            <a:schemeClr val="accent3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7" name="Rectangle 16"/>
          <p:cNvSpPr/>
          <p:nvPr userDrawn="1"/>
        </p:nvSpPr>
        <p:spPr>
          <a:xfrm>
            <a:off x="0" y="0"/>
            <a:ext cx="43891200" cy="5486400"/>
          </a:xfrm>
          <a:prstGeom prst="rect">
            <a:avLst/>
          </a:prstGeom>
          <a:solidFill>
            <a:schemeClr val="accent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8" name="Rectangle 17"/>
          <p:cNvSpPr/>
          <p:nvPr userDrawn="1"/>
        </p:nvSpPr>
        <p:spPr>
          <a:xfrm>
            <a:off x="0" y="38404800"/>
            <a:ext cx="43891200" cy="5486400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19" name="Instructions"/>
          <p:cNvSpPr/>
          <p:nvPr userDrawn="1"/>
        </p:nvSpPr>
        <p:spPr>
          <a:xfrm>
            <a:off x="-13716000" y="0"/>
            <a:ext cx="12801600" cy="43891200"/>
          </a:xfrm>
          <a:prstGeom prst="rect">
            <a:avLst/>
          </a:prstGeom>
          <a:solidFill>
            <a:schemeClr val="bg1">
              <a:lumMod val="8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228600" tIns="228600" rIns="228600" bIns="228600" rtlCol="0" anchor="t"/>
          <a:lstStyle>
            <a:defPPr>
              <a:defRPr lang="en-US"/>
            </a:defPPr>
            <a:lvl1pPr marL="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1843430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368686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5530291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737372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921715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11060582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1290401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14747443" algn="l" defTabSz="3686861" rtl="0" eaLnBrk="1" latinLnBrk="0" hangingPunct="1">
              <a:defRPr sz="7258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9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Print Size:</a:t>
            </a:r>
            <a:endParaRPr sz="9600" dirty="0">
              <a:solidFill>
                <a:srgbClr val="7F7F7F"/>
              </a:solidFill>
              <a:latin typeface="Calibri" pitchFamily="34" charset="0"/>
              <a:cs typeface="Calibri" panose="020F0502020204030204" pitchFamily="34" charset="0"/>
            </a:endParaRP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This poster template is 48” high by 48” wide. It can be used to print any poster with a 1:1 aspect ratio.</a:t>
            </a: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9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Placeholders</a:t>
            </a:r>
            <a:r>
              <a:rPr sz="9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The </a:t>
            </a: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various elements included</a:t>
            </a:r>
            <a:r>
              <a:rPr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in this </a:t>
            </a: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poster are ones</a:t>
            </a:r>
            <a:r>
              <a:rPr lang="en-US" sz="66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we often see in medical, research, and scientific posters.</a:t>
            </a:r>
            <a:r>
              <a:rPr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</a:t>
            </a: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Feel</a:t>
            </a:r>
            <a:r>
              <a:rPr lang="en-US" sz="66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free to edit, move,  add, and delete items, or change the layout to suit your needs. Always check with your conference organizer for specific requirements.</a:t>
            </a: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9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Image</a:t>
            </a:r>
            <a:r>
              <a:rPr lang="en-US" sz="96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Quality</a:t>
            </a:r>
            <a:r>
              <a:rPr lang="en-US" sz="9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:</a:t>
            </a: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You can place digital photos or logo art in your poster file by selecting the </a:t>
            </a:r>
            <a:r>
              <a:rPr lang="en-US" sz="66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Insert, Picture</a:t>
            </a: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command, or by using standard copy &amp; paste. For best results, all graphic elements should be at least </a:t>
            </a:r>
            <a:r>
              <a:rPr lang="en-US" sz="6600" b="1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150-200 pixels per inch in their final printed size</a:t>
            </a: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. For instance, a 1600 x 1200 pixel</a:t>
            </a:r>
            <a:r>
              <a:rPr lang="en-US" sz="6600" baseline="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 photo will usually look fine up to </a:t>
            </a: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8“-10” wide on your printed poster.</a:t>
            </a: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To preview the print quality of images, select a magnification of 100% when previewing your poster. This will give you a good idea of what it will look like in print. If you are laying out a large poster and using half-scale dimensions, be sure to preview your graphics at 200% to see them at their final printed size.</a:t>
            </a:r>
          </a:p>
          <a:p>
            <a:pPr lvl="0">
              <a:spcBef>
                <a:spcPts val="0"/>
              </a:spcBef>
              <a:spcAft>
                <a:spcPts val="2400"/>
              </a:spcAft>
            </a:pPr>
            <a:r>
              <a:rPr lang="en-US" sz="66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Please note that graphics from websites (such as the logo on your hospital's or university's home page) will only be 72dpi and not suitable for printing.</a:t>
            </a:r>
          </a:p>
          <a:p>
            <a:pPr lvl="0" algn="ctr">
              <a:spcBef>
                <a:spcPts val="0"/>
              </a:spcBef>
              <a:spcAft>
                <a:spcPts val="2400"/>
              </a:spcAft>
            </a:pPr>
            <a:br>
              <a:rPr lang="en-US" sz="4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</a:br>
            <a:r>
              <a:rPr lang="en-US" sz="4800" dirty="0">
                <a:solidFill>
                  <a:srgbClr val="7F7F7F"/>
                </a:solidFill>
                <a:latin typeface="Calibri" pitchFamily="34" charset="0"/>
                <a:cs typeface="Calibri" panose="020F0502020204030204" pitchFamily="34" charset="0"/>
              </a:rPr>
              <a:t>[This sidebar area does not print.]</a:t>
            </a:r>
          </a:p>
        </p:txBody>
      </p:sp>
      <p:grpSp>
        <p:nvGrpSpPr>
          <p:cNvPr id="20" name="Group 19"/>
          <p:cNvGrpSpPr/>
          <p:nvPr userDrawn="1"/>
        </p:nvGrpSpPr>
        <p:grpSpPr>
          <a:xfrm>
            <a:off x="44805600" y="0"/>
            <a:ext cx="12801600" cy="43891200"/>
            <a:chOff x="33832800" y="0"/>
            <a:chExt cx="12801600" cy="43891200"/>
          </a:xfrm>
        </p:grpSpPr>
        <p:sp>
          <p:nvSpPr>
            <p:cNvPr id="21" name="Instructions"/>
            <p:cNvSpPr/>
            <p:nvPr userDrawn="1"/>
          </p:nvSpPr>
          <p:spPr>
            <a:xfrm>
              <a:off x="33832800" y="0"/>
              <a:ext cx="12801600" cy="43891200"/>
            </a:xfrm>
            <a:prstGeom prst="rect">
              <a:avLst/>
            </a:prstGeom>
            <a:solidFill>
              <a:schemeClr val="bg1">
                <a:lumMod val="85000"/>
              </a:schemeClr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228600" tIns="228600" rIns="228600" bIns="228600" rtlCol="0" anchor="t"/>
            <a:lstStyle>
              <a:defPPr>
                <a:defRPr lang="en-US"/>
              </a:defPPr>
              <a:lvl1pPr marL="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1843430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368686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5530291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737372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921715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11060582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1290401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14747443" algn="l" defTabSz="3686861" rtl="0" eaLnBrk="1" latinLnBrk="0" hangingPunct="1">
                <a:defRPr sz="7258"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96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Change</a:t>
              </a:r>
              <a:r>
                <a:rPr lang="en-US" sz="9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Color Theme</a:t>
              </a:r>
              <a:r>
                <a:rPr lang="en-US" sz="96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:</a:t>
              </a:r>
              <a:endParaRPr sz="960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66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This template is designed to use the built-in color themes in</a:t>
              </a: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the newer versions of PowerPoint.</a:t>
              </a: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To change the color theme, select the </a:t>
              </a:r>
              <a:r>
                <a:rPr lang="en-US" sz="66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Design</a:t>
              </a: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tab, then select the </a:t>
              </a:r>
              <a:r>
                <a:rPr lang="en-US" sz="66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Colors</a:t>
              </a: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drop-down list.</a:t>
              </a: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The default color theme for this template is “Office”, so you can always return to that after trying some of the alternatives.</a:t>
              </a: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96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Printing Your Poster:</a:t>
              </a: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66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Once your poster file is ready, visit</a:t>
              </a: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</a:t>
              </a:r>
              <a:r>
                <a:rPr lang="en-US" sz="6600" b="1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www.genigraphics.com</a:t>
              </a: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 to order a high-quality, affordable poster print. Every order receives a free design review and we can deliver as fast as next business day within the US and Canada. </a:t>
              </a:r>
            </a:p>
            <a:p>
              <a:pPr lvl="0">
                <a:spcBef>
                  <a:spcPts val="0"/>
                </a:spcBef>
                <a:spcAft>
                  <a:spcPts val="2400"/>
                </a:spcAft>
              </a:pP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Genigraphics® has been producing output from PowerPoint® longer than anyone in the industry; dating back to when we helped Microsoft® design the PowerPoint® software. </a:t>
              </a:r>
            </a:p>
            <a:p>
              <a:pPr lvl="0">
                <a:spcBef>
                  <a:spcPts val="0"/>
                </a:spcBef>
                <a:spcAft>
                  <a:spcPts val="0"/>
                </a:spcAft>
              </a:pPr>
              <a:endParaRPr lang="en-US" sz="6600" baseline="0" dirty="0">
                <a:solidFill>
                  <a:schemeClr val="bg1">
                    <a:lumMod val="50000"/>
                  </a:schemeClr>
                </a:solidFill>
                <a:latin typeface="Calibri" pitchFamily="34" charset="0"/>
                <a:cs typeface="Calibri" panose="020F0502020204030204" pitchFamily="34" charset="0"/>
              </a:endParaRP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US and Canada:  1-800-790-4001</a:t>
              </a:r>
              <a:b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6600" baseline="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Email: info@genigraphics.com</a:t>
              </a:r>
            </a:p>
            <a:p>
              <a:pPr lvl="0" algn="ctr">
                <a:spcBef>
                  <a:spcPts val="0"/>
                </a:spcBef>
                <a:spcAft>
                  <a:spcPts val="0"/>
                </a:spcAft>
              </a:pPr>
              <a:br>
                <a:rPr lang="en-US" sz="4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</a:br>
              <a:r>
                <a:rPr lang="en-US" sz="4800" dirty="0">
                  <a:solidFill>
                    <a:schemeClr val="bg1">
                      <a:lumMod val="50000"/>
                    </a:schemeClr>
                  </a:solidFill>
                  <a:latin typeface="Calibri" pitchFamily="34" charset="0"/>
                  <a:cs typeface="Calibri" panose="020F0502020204030204" pitchFamily="34" charset="0"/>
                </a:rPr>
                <a:t>[This sidebar area does not print.]</a:t>
              </a:r>
            </a:p>
          </p:txBody>
        </p:sp>
        <p:pic>
          <p:nvPicPr>
            <p:cNvPr id="22" name="Picture 21"/>
            <p:cNvPicPr>
              <a:picLocks noChangeAspect="1"/>
            </p:cNvPicPr>
            <p:nvPr userDrawn="1"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34281342" y="9260274"/>
              <a:ext cx="11904515" cy="10246926"/>
            </a:xfrm>
            <a:prstGeom prst="rect">
              <a:avLst/>
            </a:prstGeom>
          </p:spPr>
        </p:pic>
      </p:grpSp>
      <p:pic>
        <p:nvPicPr>
          <p:cNvPr id="2" name="Picture 1"/>
          <p:cNvPicPr>
            <a:picLocks noChangeAspect="1"/>
          </p:cNvPicPr>
          <p:nvPr userDrawn="1"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404800" y="43586400"/>
            <a:ext cx="5297435" cy="18592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1294480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85D6BDF-9D0E-4E2B-85B8-D8F4790360C9}" type="datetimeFigureOut">
              <a:rPr lang="en-US" smtClean="0"/>
              <a:t>6/3/26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3166510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194560" y="1757683"/>
            <a:ext cx="39502080" cy="7315200"/>
          </a:xfrm>
          <a:prstGeom prst="rect">
            <a:avLst/>
          </a:prstGeom>
        </p:spPr>
        <p:txBody>
          <a:bodyPr vert="horz" lIns="438912" tIns="219456" rIns="438912" bIns="219456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2194560" y="10241283"/>
            <a:ext cx="39502080" cy="28966163"/>
          </a:xfrm>
          <a:prstGeom prst="rect">
            <a:avLst/>
          </a:prstGeom>
        </p:spPr>
        <p:txBody>
          <a:bodyPr vert="horz" lIns="438912" tIns="219456" rIns="438912" bIns="219456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2194560" y="40680643"/>
            <a:ext cx="10241280" cy="23368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l">
              <a:defRPr sz="5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85D6BDF-9D0E-4E2B-85B8-D8F4790360C9}" type="datetimeFigureOut">
              <a:rPr lang="en-US" smtClean="0"/>
              <a:t>6/2/26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4996160" y="40680643"/>
            <a:ext cx="13898880" cy="23368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ctr">
              <a:defRPr sz="5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31455360" y="40680643"/>
            <a:ext cx="10241280" cy="2336800"/>
          </a:xfrm>
          <a:prstGeom prst="rect">
            <a:avLst/>
          </a:prstGeom>
        </p:spPr>
        <p:txBody>
          <a:bodyPr vert="horz" lIns="438912" tIns="219456" rIns="438912" bIns="219456" rtlCol="0" anchor="ctr"/>
          <a:lstStyle>
            <a:lvl1pPr algn="r">
              <a:defRPr sz="58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BB075EA-769C-4ECD-B48E-D6FCDC24F876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232218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txStyles>
    <p:titleStyle>
      <a:lvl1pPr algn="ctr" defTabSz="4389120" rtl="0" eaLnBrk="1" latinLnBrk="0" hangingPunct="1">
        <a:spcBef>
          <a:spcPct val="0"/>
        </a:spcBef>
        <a:buNone/>
        <a:defRPr sz="80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57200" indent="-457200" algn="l" defTabSz="4389120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1pPr>
      <a:lvl2pPr marL="914400" indent="-457200" algn="l" defTabSz="4389120" rtl="0" eaLnBrk="1" latinLnBrk="0" hangingPunct="1">
        <a:spcBef>
          <a:spcPct val="20000"/>
        </a:spcBef>
        <a:buFont typeface="Arial" pitchFamily="34" charset="0"/>
        <a:buChar char="–"/>
        <a:defRPr sz="3600" kern="1200">
          <a:solidFill>
            <a:schemeClr val="tx1"/>
          </a:solidFill>
          <a:latin typeface="+mn-lt"/>
          <a:ea typeface="+mn-ea"/>
          <a:cs typeface="+mn-cs"/>
        </a:defRPr>
      </a:lvl2pPr>
      <a:lvl3pPr marL="1371600" indent="-457200" algn="l" defTabSz="4389120" rtl="0" eaLnBrk="1" latinLnBrk="0" hangingPunct="1">
        <a:spcBef>
          <a:spcPct val="20000"/>
        </a:spcBef>
        <a:buFont typeface="Arial" pitchFamily="34" charset="0"/>
        <a:buChar char="•"/>
        <a:defRPr sz="36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800" indent="-457200" algn="l" defTabSz="4389120" rtl="0" eaLnBrk="1" latinLnBrk="0" hangingPunct="1">
        <a:spcBef>
          <a:spcPct val="20000"/>
        </a:spcBef>
        <a:buFont typeface="Arial" pitchFamily="34" charset="0"/>
        <a:buChar char="–"/>
        <a:defRPr sz="3600" kern="1200">
          <a:solidFill>
            <a:schemeClr val="tx1"/>
          </a:solidFill>
          <a:latin typeface="+mn-lt"/>
          <a:ea typeface="+mn-ea"/>
          <a:cs typeface="+mn-cs"/>
        </a:defRPr>
      </a:lvl4pPr>
      <a:lvl5pPr marL="2286000" indent="-457200" algn="l" defTabSz="4389120" rtl="0" eaLnBrk="1" latinLnBrk="0" hangingPunct="1">
        <a:spcBef>
          <a:spcPct val="20000"/>
        </a:spcBef>
        <a:buFont typeface="Arial" pitchFamily="34" charset="0"/>
        <a:buChar char="»"/>
        <a:defRPr sz="360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spcBef>
          <a:spcPct val="20000"/>
        </a:spcBef>
        <a:buFont typeface="Arial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9.png"/><Relationship Id="rId13" Type="http://schemas.openxmlformats.org/officeDocument/2006/relationships/image" Target="../media/image14.png"/><Relationship Id="rId18" Type="http://schemas.openxmlformats.org/officeDocument/2006/relationships/image" Target="../media/image19.png"/><Relationship Id="rId3" Type="http://schemas.openxmlformats.org/officeDocument/2006/relationships/image" Target="../media/image4.png"/><Relationship Id="rId21" Type="http://schemas.openxmlformats.org/officeDocument/2006/relationships/image" Target="../media/image22.png"/><Relationship Id="rId7" Type="http://schemas.openxmlformats.org/officeDocument/2006/relationships/image" Target="../media/image8.png"/><Relationship Id="rId12" Type="http://schemas.openxmlformats.org/officeDocument/2006/relationships/image" Target="../media/image13.png"/><Relationship Id="rId17" Type="http://schemas.openxmlformats.org/officeDocument/2006/relationships/image" Target="../media/image18.png"/><Relationship Id="rId2" Type="http://schemas.openxmlformats.org/officeDocument/2006/relationships/image" Target="../media/image3.png"/><Relationship Id="rId16" Type="http://schemas.openxmlformats.org/officeDocument/2006/relationships/image" Target="../media/image17.png"/><Relationship Id="rId20" Type="http://schemas.openxmlformats.org/officeDocument/2006/relationships/image" Target="../media/image2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.png"/><Relationship Id="rId11" Type="http://schemas.openxmlformats.org/officeDocument/2006/relationships/image" Target="../media/image12.png"/><Relationship Id="rId5" Type="http://schemas.openxmlformats.org/officeDocument/2006/relationships/image" Target="../media/image6.png"/><Relationship Id="rId15" Type="http://schemas.openxmlformats.org/officeDocument/2006/relationships/image" Target="../media/image16.png"/><Relationship Id="rId10" Type="http://schemas.openxmlformats.org/officeDocument/2006/relationships/image" Target="../media/image11.png"/><Relationship Id="rId19" Type="http://schemas.openxmlformats.org/officeDocument/2006/relationships/image" Target="../media/image20.png"/><Relationship Id="rId4" Type="http://schemas.openxmlformats.org/officeDocument/2006/relationships/image" Target="../media/image5.png"/><Relationship Id="rId9" Type="http://schemas.openxmlformats.org/officeDocument/2006/relationships/image" Target="../media/image10.png"/><Relationship Id="rId14" Type="http://schemas.openxmlformats.org/officeDocument/2006/relationships/image" Target="../media/image15.png"/><Relationship Id="rId22" Type="http://schemas.openxmlformats.org/officeDocument/2006/relationships/image" Target="../media/image2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67" name="Picture 1066">
            <a:extLst>
              <a:ext uri="{FF2B5EF4-FFF2-40B4-BE49-F238E27FC236}">
                <a16:creationId xmlns:a16="http://schemas.microsoft.com/office/drawing/2014/main" id="{5FD79467-839B-1051-7FC5-CA8F11A490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707509" y="18135600"/>
            <a:ext cx="8687732" cy="4233194"/>
          </a:xfrm>
          <a:prstGeom prst="rect">
            <a:avLst/>
          </a:prstGeom>
        </p:spPr>
      </p:pic>
      <p:sp>
        <p:nvSpPr>
          <p:cNvPr id="4" name="Text Box 122"/>
          <p:cNvSpPr txBox="1">
            <a:spLocks noChangeArrowheads="1"/>
          </p:cNvSpPr>
          <p:nvPr/>
        </p:nvSpPr>
        <p:spPr bwMode="auto">
          <a:xfrm>
            <a:off x="7315200" y="0"/>
            <a:ext cx="29260800" cy="3631763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2880" tIns="457200" rIns="182880" bIns="457200" anchor="ctr" anchorCtr="0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8800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How Friction Shapes Force Chains in Granular Piles: </a:t>
            </a:r>
          </a:p>
          <a:p>
            <a:pPr algn="ctr" eaLnBrk="1" hangingPunct="1"/>
            <a:r>
              <a:rPr lang="en-US" sz="8800" b="1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A Network Approach</a:t>
            </a:r>
          </a:p>
        </p:txBody>
      </p:sp>
      <p:sp>
        <p:nvSpPr>
          <p:cNvPr id="5" name="Text Box 123"/>
          <p:cNvSpPr txBox="1">
            <a:spLocks noChangeArrowheads="1"/>
          </p:cNvSpPr>
          <p:nvPr/>
        </p:nvSpPr>
        <p:spPr bwMode="auto">
          <a:xfrm>
            <a:off x="7315200" y="2870536"/>
            <a:ext cx="29260800" cy="228600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lIns="182880" tIns="182880" rIns="182880" bIns="182880" anchor="ctr" anchorCtr="0"/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algn="ctr" eaLnBrk="1" hangingPunct="1"/>
            <a:r>
              <a:rPr lang="en-US" sz="4800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Tatiana Flanagan &amp; Leonardo Silbert</a:t>
            </a:r>
            <a:endParaRPr lang="en-US" sz="4800" baseline="30000" dirty="0">
              <a:solidFill>
                <a:schemeClr val="accent3">
                  <a:lumMod val="20000"/>
                  <a:lumOff val="80000"/>
                </a:schemeClr>
              </a:solidFill>
              <a:latin typeface="+mn-lt"/>
            </a:endParaRPr>
          </a:p>
          <a:p>
            <a:pPr algn="ctr" eaLnBrk="1" hangingPunct="1"/>
            <a:r>
              <a:rPr lang="en-US" sz="4800" dirty="0">
                <a:solidFill>
                  <a:schemeClr val="accent3">
                    <a:lumMod val="20000"/>
                    <a:lumOff val="80000"/>
                  </a:schemeClr>
                </a:solidFill>
                <a:latin typeface="+mn-lt"/>
              </a:rPr>
              <a:t>Central New Mexico Community College    School of Math, Science, and Engineering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28798" y="39547799"/>
            <a:ext cx="11060720" cy="3046988"/>
          </a:xfrm>
          <a:prstGeom prst="rect">
            <a:avLst/>
          </a:prstGeom>
          <a:solidFill>
            <a:schemeClr val="accent1">
              <a:lumMod val="40000"/>
              <a:lumOff val="60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2400" dirty="0">
                <a:solidFill>
                  <a:srgbClr val="0070C0"/>
                </a:solidFill>
              </a:rPr>
              <a:t>Dan </a:t>
            </a:r>
            <a:r>
              <a:rPr lang="en-US" sz="2400" dirty="0" err="1">
                <a:solidFill>
                  <a:srgbClr val="0070C0"/>
                </a:solidFill>
              </a:rPr>
              <a:t>Bolintineanu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00B0F0"/>
                </a:solidFill>
              </a:rPr>
              <a:t>Joel Clemmer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0070C0"/>
                </a:solidFill>
              </a:rPr>
              <a:t>Gary </a:t>
            </a:r>
            <a:r>
              <a:rPr lang="en-US" sz="2400" dirty="0" err="1">
                <a:solidFill>
                  <a:srgbClr val="0070C0"/>
                </a:solidFill>
              </a:rPr>
              <a:t>Grest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00B0F0"/>
                </a:solidFill>
              </a:rPr>
              <a:t>Jeremy Lechman</a:t>
            </a:r>
            <a:r>
              <a:rPr lang="en-US" sz="2400" dirty="0"/>
              <a:t>, </a:t>
            </a:r>
            <a:r>
              <a:rPr lang="en-US" sz="2400" dirty="0">
                <a:solidFill>
                  <a:srgbClr val="0070C0"/>
                </a:solidFill>
              </a:rPr>
              <a:t>Joe </a:t>
            </a:r>
            <a:r>
              <a:rPr lang="en-US" sz="2400" dirty="0">
                <a:solidFill>
                  <a:srgbClr val="0070C0"/>
                </a:solidFill>
                <a:cs typeface="Calibri" panose="020F0502020204030204" pitchFamily="34" charset="0"/>
              </a:rPr>
              <a:t>Monti</a:t>
            </a:r>
            <a:r>
              <a:rPr lang="en-US" sz="2400" dirty="0">
                <a:cs typeface="Calibri" panose="020F0502020204030204" pitchFamily="34" charset="0"/>
              </a:rPr>
              <a:t>, </a:t>
            </a:r>
            <a:r>
              <a:rPr lang="en-US" sz="2400" dirty="0">
                <a:solidFill>
                  <a:srgbClr val="00B0F0"/>
                </a:solidFill>
                <a:cs typeface="Calibri" panose="020F0502020204030204" pitchFamily="34" charset="0"/>
              </a:rPr>
              <a:t>Scott Roberts</a:t>
            </a:r>
            <a:endParaRPr lang="en-US" sz="2400" baseline="30000" dirty="0">
              <a:solidFill>
                <a:srgbClr val="00B0F0"/>
              </a:solidFill>
              <a:cs typeface="Calibri" panose="020F0502020204030204" pitchFamily="34" charset="0"/>
            </a:endParaRPr>
          </a:p>
          <a:p>
            <a:r>
              <a:rPr lang="en-US" sz="2400" dirty="0">
                <a:cs typeface="Times"/>
              </a:rPr>
              <a:t>Sandia National Laboratories</a:t>
            </a:r>
          </a:p>
          <a:p>
            <a:r>
              <a:rPr lang="en-US" sz="2400" dirty="0">
                <a:solidFill>
                  <a:srgbClr val="2A5AFF"/>
                </a:solidFill>
                <a:cs typeface="Times"/>
              </a:rPr>
              <a:t>Andrew Santos</a:t>
            </a:r>
          </a:p>
          <a:p>
            <a:r>
              <a:rPr lang="en-US" sz="2400" dirty="0">
                <a:cs typeface="Times"/>
              </a:rPr>
              <a:t>NASA</a:t>
            </a:r>
          </a:p>
          <a:p>
            <a:r>
              <a:rPr lang="en-US" sz="2400" dirty="0">
                <a:solidFill>
                  <a:srgbClr val="2A5AFF"/>
                </a:solidFill>
              </a:rPr>
              <a:t>Ishan Srivastava </a:t>
            </a:r>
          </a:p>
          <a:p>
            <a:r>
              <a:rPr lang="en-US" sz="2400" dirty="0"/>
              <a:t>Lawrence Berkeley National Laboratory</a:t>
            </a:r>
            <a:endParaRPr lang="en-US" sz="2400" dirty="0">
              <a:cs typeface="Times"/>
            </a:endParaRPr>
          </a:p>
          <a:p>
            <a:r>
              <a:rPr lang="en-US" sz="2400" dirty="0">
                <a:solidFill>
                  <a:srgbClr val="2A5AFF"/>
                </a:solidFill>
                <a:cs typeface="Times"/>
              </a:rPr>
              <a:t>Mike Salerno</a:t>
            </a:r>
          </a:p>
          <a:p>
            <a:r>
              <a:rPr lang="en-US" sz="2400" dirty="0">
                <a:cs typeface="Times"/>
              </a:rPr>
              <a:t>Johns Hopkins APL</a:t>
            </a:r>
            <a:endParaRPr lang="en-US" sz="2400" dirty="0"/>
          </a:p>
        </p:txBody>
      </p:sp>
      <p:sp>
        <p:nvSpPr>
          <p:cNvPr id="25" name="TextBox 24"/>
          <p:cNvSpPr txBox="1"/>
          <p:nvPr/>
        </p:nvSpPr>
        <p:spPr>
          <a:xfrm>
            <a:off x="1828801" y="38557200"/>
            <a:ext cx="6469207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/>
              <a:t>Acknowledgements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666721" y="39692907"/>
            <a:ext cx="25831800" cy="2926080"/>
          </a:xfrm>
          <a:prstGeom prst="rect">
            <a:avLst/>
          </a:prstGeom>
          <a:noFill/>
        </p:spPr>
        <p:txBody>
          <a:bodyPr wrap="square" tIns="91440" bIns="91440" numCol="1" spcCol="457200" rtlCol="0"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en-US" sz="2400" dirty="0"/>
              <a:t>Brandes, Ulrik. "A faster algorithm for betweenness centrality." Journal of mathematical sociology 25.2 (2001): 163-177.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Killick, Rebecca, et al. "Optimal detection of changepoints with a linear computational cost." Journal of the American Statistical Association 107.500 (2012): 1590-1598.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Peters, J. F., et al. "Characterization of force chains in granular material." Physical Review E—Statistical, Nonlinear, and Soft Matter Physics 72.4 (2005): 041307.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Santos, Andrew, et al. "Granular packings with sliding, rolling, and twisting friction." Physical Review E 102.3 (2020): 032903. 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2400" dirty="0"/>
              <a:t>Tordesillas, Antoinette, et al. "Force cycles and force chains." Physical Review E—Statistical, Nonlinear, and Soft Matter Physics 81.1 (2010): 011302.</a:t>
            </a:r>
          </a:p>
          <a:p>
            <a:r>
              <a:rPr lang="en-US" sz="2400" dirty="0"/>
              <a:t>  </a:t>
            </a:r>
          </a:p>
          <a:p>
            <a:pPr marL="457200" indent="-457200">
              <a:buFont typeface="+mj-lt"/>
              <a:buAutoNum type="arabicPeriod"/>
            </a:pPr>
            <a:endParaRPr lang="en-US" sz="2400" dirty="0"/>
          </a:p>
        </p:txBody>
      </p:sp>
      <p:sp>
        <p:nvSpPr>
          <p:cNvPr id="27" name="TextBox 26"/>
          <p:cNvSpPr txBox="1"/>
          <p:nvPr/>
        </p:nvSpPr>
        <p:spPr>
          <a:xfrm>
            <a:off x="15666720" y="38557200"/>
            <a:ext cx="3689793" cy="1015663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6000" b="1" dirty="0"/>
              <a:t>References</a:t>
            </a:r>
          </a:p>
        </p:txBody>
      </p:sp>
      <p:sp>
        <p:nvSpPr>
          <p:cNvPr id="10" name="Text Box 189"/>
          <p:cNvSpPr txBox="1">
            <a:spLocks noChangeArrowheads="1"/>
          </p:cNvSpPr>
          <p:nvPr/>
        </p:nvSpPr>
        <p:spPr bwMode="auto">
          <a:xfrm>
            <a:off x="1540101" y="7315200"/>
            <a:ext cx="12801600" cy="6051208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82880" tIns="182880" rIns="182880" bIns="18288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marL="27726" marR="11091">
              <a:lnSpc>
                <a:spcPct val="111400"/>
              </a:lnSpc>
              <a:spcBef>
                <a:spcPts val="721"/>
              </a:spcBef>
            </a:pPr>
            <a:r>
              <a:rPr lang="en-US" sz="3600" dirty="0">
                <a:solidFill>
                  <a:srgbClr val="231F20"/>
                </a:solidFill>
                <a:latin typeface="+mn-lt"/>
                <a:cs typeface="Arial"/>
              </a:rPr>
              <a:t>Granular packings of grains represent a class of complex systems as the self-organization between the constituent particles develops to maintain pile stability. How the grains organize within the pile depends on many factors, such as particle shape, particle softness, and particle smoothness. </a:t>
            </a:r>
          </a:p>
          <a:p>
            <a:pPr marL="27726" marR="11091">
              <a:lnSpc>
                <a:spcPct val="111400"/>
              </a:lnSpc>
              <a:spcBef>
                <a:spcPts val="721"/>
              </a:spcBef>
            </a:pPr>
            <a:r>
              <a:rPr lang="en-US" sz="3600" dirty="0">
                <a:solidFill>
                  <a:srgbClr val="231F20"/>
                </a:solidFill>
                <a:latin typeface="+mn-lt"/>
                <a:cs typeface="Arial"/>
              </a:rPr>
              <a:t>Here, we focus on the role of particle friction for hard spherical beads poured under gravity using DEM computer simulations. </a:t>
            </a:r>
          </a:p>
          <a:p>
            <a:pPr marL="27726" marR="11091">
              <a:lnSpc>
                <a:spcPct val="111400"/>
              </a:lnSpc>
              <a:spcBef>
                <a:spcPts val="721"/>
              </a:spcBef>
            </a:pPr>
            <a:r>
              <a:rPr lang="en-US" sz="3600" b="1" dirty="0">
                <a:solidFill>
                  <a:srgbClr val="231F20"/>
                </a:solidFill>
                <a:latin typeface="+mn-lt"/>
                <a:cs typeface="Arial"/>
              </a:rPr>
              <a:t>We investigate how sliding, rolling, and twisting friction reorganize the force-chain backbone that supports granular piles.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540101" y="6400800"/>
            <a:ext cx="1280160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Background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540099" y="14099360"/>
            <a:ext cx="1280160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LAMMPS Simulation</a:t>
            </a:r>
          </a:p>
        </p:txBody>
      </p:sp>
      <p:sp>
        <p:nvSpPr>
          <p:cNvPr id="12" name="Text Box 191"/>
          <p:cNvSpPr txBox="1">
            <a:spLocks noChangeArrowheads="1"/>
          </p:cNvSpPr>
          <p:nvPr/>
        </p:nvSpPr>
        <p:spPr bwMode="auto">
          <a:xfrm>
            <a:off x="15124192" y="7391400"/>
            <a:ext cx="13944600" cy="4801314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82880" tIns="182880" rIns="182880" bIns="182880">
            <a:sp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3600" b="1" i="1" dirty="0">
                <a:solidFill>
                  <a:prstClr val="black"/>
                </a:solidFill>
                <a:latin typeface="Calibri" pitchFamily="34" charset="0"/>
              </a:rPr>
              <a:t>Friction broadens the force-chain network while preserving </a:t>
            </a:r>
          </a:p>
          <a:p>
            <a:pPr eaLnBrk="1" hangingPunct="1"/>
            <a:r>
              <a:rPr lang="en-US" sz="3600" b="1" i="1" dirty="0">
                <a:solidFill>
                  <a:prstClr val="black"/>
                </a:solidFill>
                <a:latin typeface="Calibri" pitchFamily="34" charset="0"/>
              </a:rPr>
              <a:t>apex anchoring.</a:t>
            </a:r>
          </a:p>
          <a:p>
            <a:pPr marL="571500" indent="-5715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prstClr val="black"/>
                </a:solidFill>
                <a:latin typeface="Calibri" pitchFamily="34" charset="0"/>
              </a:rPr>
              <a:t>Larger friction coefficients generate larger local bend angles in force chains, more tortuous chains.</a:t>
            </a:r>
          </a:p>
          <a:p>
            <a:pPr marL="457200" indent="-4572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prstClr val="black"/>
                </a:solidFill>
                <a:latin typeface="Calibri" pitchFamily="34" charset="0"/>
              </a:rPr>
              <a:t>Larger friction coefficients push force chains up and towards the edges of the pile at the bottom and middle (</a:t>
            </a:r>
            <a:r>
              <a:rPr lang="en-US" sz="3600" i="1" dirty="0" err="1">
                <a:solidFill>
                  <a:prstClr val="black"/>
                </a:solidFill>
                <a:latin typeface="Calibri" pitchFamily="34" charset="0"/>
              </a:rPr>
              <a:t>r</a:t>
            </a:r>
            <a:r>
              <a:rPr lang="en-US" sz="3600" i="1" baseline="-25000" dirty="0" err="1">
                <a:solidFill>
                  <a:prstClr val="black"/>
                </a:solidFill>
                <a:latin typeface="Calibri" pitchFamily="34" charset="0"/>
              </a:rPr>
              <a:t>anchor</a:t>
            </a:r>
            <a:r>
              <a:rPr lang="en-US" sz="3600" i="1" dirty="0">
                <a:solidFill>
                  <a:prstClr val="black"/>
                </a:solidFill>
                <a:latin typeface="Calibri" pitchFamily="34" charset="0"/>
              </a:rPr>
              <a:t>, </a:t>
            </a:r>
            <a:r>
              <a:rPr lang="en-US" sz="3600" i="1" dirty="0" err="1">
                <a:solidFill>
                  <a:prstClr val="black"/>
                </a:solidFill>
                <a:latin typeface="Calibri" pitchFamily="34" charset="0"/>
              </a:rPr>
              <a:t>r</a:t>
            </a:r>
            <a:r>
              <a:rPr lang="en-US" sz="3600" i="1" baseline="-25000" dirty="0" err="1">
                <a:solidFill>
                  <a:prstClr val="black"/>
                </a:solidFill>
                <a:latin typeface="Calibri" pitchFamily="34" charset="0"/>
              </a:rPr>
              <a:t>mid</a:t>
            </a:r>
            <a:r>
              <a:rPr lang="en-US" sz="3600" dirty="0">
                <a:solidFill>
                  <a:prstClr val="black"/>
                </a:solidFill>
                <a:latin typeface="Calibri" pitchFamily="34" charset="0"/>
              </a:rPr>
              <a:t>) of the chains. Chains remain anchored at the top (</a:t>
            </a:r>
            <a:r>
              <a:rPr lang="en-US" sz="3600" i="1" dirty="0" err="1">
                <a:solidFill>
                  <a:prstClr val="black"/>
                </a:solidFill>
                <a:latin typeface="Calibri" pitchFamily="34" charset="0"/>
              </a:rPr>
              <a:t>r</a:t>
            </a:r>
            <a:r>
              <a:rPr lang="en-US" sz="3600" i="1" baseline="-25000" dirty="0" err="1">
                <a:solidFill>
                  <a:prstClr val="black"/>
                </a:solidFill>
                <a:latin typeface="Calibri" pitchFamily="34" charset="0"/>
              </a:rPr>
              <a:t>tip</a:t>
            </a:r>
            <a:r>
              <a:rPr lang="en-US" sz="3600" dirty="0">
                <a:solidFill>
                  <a:prstClr val="black"/>
                </a:solidFill>
                <a:latin typeface="Calibri" pitchFamily="34" charset="0"/>
              </a:rPr>
              <a:t>).</a:t>
            </a:r>
          </a:p>
          <a:p>
            <a:pPr marL="457200" indent="-457200" eaLnBrk="1" hangingPunct="1">
              <a:buFont typeface="Arial" panose="020B0604020202020204" pitchFamily="34" charset="0"/>
              <a:buChar char="•"/>
            </a:pPr>
            <a:r>
              <a:rPr lang="en-US" sz="3600" dirty="0">
                <a:solidFill>
                  <a:prstClr val="black"/>
                </a:solidFill>
                <a:latin typeface="Calibri" pitchFamily="34" charset="0"/>
              </a:rPr>
              <a:t>Chain count decreases, suggesting more connectivity.</a:t>
            </a:r>
          </a:p>
        </p:txBody>
      </p:sp>
      <p:sp>
        <p:nvSpPr>
          <p:cNvPr id="14" name="Text Box 193"/>
          <p:cNvSpPr txBox="1">
            <a:spLocks noChangeArrowheads="1"/>
          </p:cNvSpPr>
          <p:nvPr/>
        </p:nvSpPr>
        <p:spPr bwMode="auto">
          <a:xfrm>
            <a:off x="15267568" y="30480959"/>
            <a:ext cx="13944600" cy="7695241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82880" tIns="182880" rIns="182880" bIns="182880">
            <a:no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r>
              <a:rPr lang="en-US" sz="4800" b="1" i="1" dirty="0">
                <a:latin typeface="+mn-lt"/>
              </a:rPr>
              <a:t>Friction reorganizes the force-chain backbone. </a:t>
            </a:r>
          </a:p>
          <a:p>
            <a:r>
              <a:rPr lang="en-US" sz="4800" i="1" dirty="0">
                <a:latin typeface="+mn-lt"/>
              </a:rPr>
              <a:t>Increased friction produces a more anisotropic and spatially distributed force-chain architecture.</a:t>
            </a:r>
            <a:endParaRPr lang="en-US" sz="4800" dirty="0">
              <a:latin typeface="+mn-lt"/>
            </a:endParaRPr>
          </a:p>
          <a:p>
            <a:r>
              <a:rPr lang="en-US" sz="4800" b="1" i="1" dirty="0">
                <a:latin typeface="+mn-lt"/>
              </a:rPr>
              <a:t>Higher friction produces: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>
                <a:latin typeface="+mn-lt"/>
              </a:rPr>
              <a:t>taller, steeper piles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>
                <a:latin typeface="+mn-lt"/>
              </a:rPr>
              <a:t>fewer but more connected force chains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>
                <a:latin typeface="+mn-lt"/>
              </a:rPr>
              <a:t>larger bend angles 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>
                <a:latin typeface="+mn-lt"/>
              </a:rPr>
              <a:t>outward migration of load-bearing pathways</a:t>
            </a:r>
          </a:p>
          <a:p>
            <a:pPr marL="571500" indent="-571500">
              <a:buFont typeface="Arial" panose="020B0604020202020204" pitchFamily="34" charset="0"/>
              <a:buChar char="•"/>
            </a:pPr>
            <a:r>
              <a:rPr lang="en-US" sz="4800" dirty="0">
                <a:latin typeface="+mn-lt"/>
              </a:rPr>
              <a:t>Force transmission becomes less centralized and more distributed.</a:t>
            </a:r>
          </a:p>
          <a:p>
            <a:pPr eaLnBrk="1" hangingPunct="1"/>
            <a:endParaRPr lang="en-US" sz="4000" dirty="0">
              <a:latin typeface="+mn-lt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15220167" y="29413200"/>
            <a:ext cx="1394460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Conclusions</a:t>
            </a:r>
          </a:p>
        </p:txBody>
      </p:sp>
      <p:sp>
        <p:nvSpPr>
          <p:cNvPr id="11" name="Text Box 190"/>
          <p:cNvSpPr txBox="1">
            <a:spLocks noChangeArrowheads="1"/>
          </p:cNvSpPr>
          <p:nvPr/>
        </p:nvSpPr>
        <p:spPr bwMode="auto">
          <a:xfrm>
            <a:off x="1524000" y="15036273"/>
            <a:ext cx="12801600" cy="6217062"/>
          </a:xfrm>
          <a:prstGeom prst="rect">
            <a:avLst/>
          </a:prstGeom>
          <a:solidFill>
            <a:schemeClr val="bg1"/>
          </a:solidFill>
          <a:ln w="12700">
            <a:solidFill>
              <a:schemeClr val="accent1">
                <a:lumMod val="75000"/>
              </a:schemeClr>
            </a:solidFill>
          </a:ln>
          <a:effectLst/>
        </p:spPr>
        <p:txBody>
          <a:bodyPr lIns="182880" tIns="182880" rIns="182880" bIns="182880">
            <a:noAutofit/>
          </a:bodyPr>
          <a:lstStyle>
            <a:lvl1pPr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0" eaLnBrk="1" hangingPunct="1">
              <a:defRPr/>
            </a:pPr>
            <a:r>
              <a:rPr lang="en-US" sz="3600" b="1" dirty="0">
                <a:solidFill>
                  <a:prstClr val="black"/>
                </a:solidFill>
                <a:latin typeface="Calibri"/>
              </a:rPr>
              <a:t>Friction modes</a:t>
            </a:r>
            <a:r>
              <a:rPr lang="en-US" sz="3600" dirty="0">
                <a:solidFill>
                  <a:prstClr val="black"/>
                </a:solidFill>
                <a:latin typeface="Calibri"/>
              </a:rPr>
              <a:t>. We simulated granular packings with friction across a variation of coefficients that include LAMMPS extended friction modes: rolling and twisting..</a:t>
            </a:r>
          </a:p>
          <a:p>
            <a:pPr lvl="0" eaLnBrk="1" hangingPunct="1">
              <a:defRPr/>
            </a:pPr>
            <a:endParaRPr lang="en-US" sz="3600" dirty="0">
              <a:solidFill>
                <a:prstClr val="black"/>
              </a:solidFill>
              <a:latin typeface="Calibri"/>
            </a:endParaRPr>
          </a:p>
        </p:txBody>
      </p:sp>
      <p:pic>
        <p:nvPicPr>
          <p:cNvPr id="6" name="Picture 5" descr="Text&#10;&#10;Description automatically generated">
            <a:extLst>
              <a:ext uri="{FF2B5EF4-FFF2-40B4-BE49-F238E27FC236}">
                <a16:creationId xmlns:a16="http://schemas.microsoft.com/office/drawing/2014/main" id="{0EF6969C-D5D3-899E-A492-B71218A0E0F8}"/>
              </a:ext>
            </a:extLst>
          </p:cNvPr>
          <p:cNvPicPr>
            <a:picLocks noChangeAspect="1"/>
          </p:cNvPicPr>
          <p:nvPr/>
        </p:nvPicPr>
        <p:blipFill>
          <a:blip r:embed="rId3">
            <a:biLevel thresh="75000"/>
          </a:blip>
          <a:stretch>
            <a:fillRect/>
          </a:stretch>
        </p:blipFill>
        <p:spPr>
          <a:xfrm>
            <a:off x="38252400" y="1432559"/>
            <a:ext cx="4465485" cy="2059782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BB06BB65-C8F4-ED77-A7EE-94E1EA1A3A8E}"/>
              </a:ext>
            </a:extLst>
          </p:cNvPr>
          <p:cNvSpPr txBox="1"/>
          <p:nvPr/>
        </p:nvSpPr>
        <p:spPr>
          <a:xfrm>
            <a:off x="3235005" y="42919947"/>
            <a:ext cx="6215526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000" dirty="0"/>
              <a:t>Sandia National Laboratories is a multi-program laboratory managed and operated by Sandia Corporation,</a:t>
            </a:r>
          </a:p>
          <a:p>
            <a:r>
              <a:rPr lang="en-US" sz="1000" dirty="0"/>
              <a:t>a wholly owned subsidiary of Lockheed Martin Corporation, for the U.S. Department of Energy’s National</a:t>
            </a:r>
          </a:p>
          <a:p>
            <a:r>
              <a:rPr lang="en-US" sz="1000" dirty="0"/>
              <a:t>Nuclear Security Administration under contract DE-AC04-94AL85000.</a:t>
            </a:r>
          </a:p>
        </p:txBody>
      </p:sp>
      <p:pic>
        <p:nvPicPr>
          <p:cNvPr id="23" name="Picture 22" descr="New_DOE_Logo_Black.png">
            <a:extLst>
              <a:ext uri="{FF2B5EF4-FFF2-40B4-BE49-F238E27FC236}">
                <a16:creationId xmlns:a16="http://schemas.microsoft.com/office/drawing/2014/main" id="{42E02148-EA3C-9F3A-4BF9-45FB59CC284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50531" y="43035206"/>
            <a:ext cx="1268505" cy="319240"/>
          </a:xfrm>
          <a:prstGeom prst="rect">
            <a:avLst/>
          </a:prstGeom>
        </p:spPr>
      </p:pic>
      <p:pic>
        <p:nvPicPr>
          <p:cNvPr id="28" name="Picture 27" descr="NNSA Logo_Black.png">
            <a:extLst>
              <a:ext uri="{FF2B5EF4-FFF2-40B4-BE49-F238E27FC236}">
                <a16:creationId xmlns:a16="http://schemas.microsoft.com/office/drawing/2014/main" id="{EC90A910-6DD7-B81B-D2AE-664E5AD0AF83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864358" y="43035206"/>
            <a:ext cx="1219200" cy="338797"/>
          </a:xfrm>
          <a:prstGeom prst="rect">
            <a:avLst/>
          </a:prstGeom>
        </p:spPr>
      </p:pic>
      <p:pic>
        <p:nvPicPr>
          <p:cNvPr id="29" name="Picture 28" descr="Text&#10;&#10;Description automatically generated">
            <a:extLst>
              <a:ext uri="{FF2B5EF4-FFF2-40B4-BE49-F238E27FC236}">
                <a16:creationId xmlns:a16="http://schemas.microsoft.com/office/drawing/2014/main" id="{804B399D-6C8A-890F-A60E-38FD6611A688}"/>
              </a:ext>
            </a:extLst>
          </p:cNvPr>
          <p:cNvPicPr>
            <a:picLocks noChangeAspect="1"/>
          </p:cNvPicPr>
          <p:nvPr/>
        </p:nvPicPr>
        <p:blipFill>
          <a:blip r:embed="rId3">
            <a:alphaModFix/>
            <a:biLevel thresh="75000"/>
          </a:blip>
          <a:stretch>
            <a:fillRect/>
          </a:stretch>
        </p:blipFill>
        <p:spPr>
          <a:xfrm>
            <a:off x="1097115" y="1432559"/>
            <a:ext cx="4465485" cy="2059782"/>
          </a:xfrm>
          <a:prstGeom prst="rect">
            <a:avLst/>
          </a:prstGeom>
        </p:spPr>
      </p:pic>
      <p:sp>
        <p:nvSpPr>
          <p:cNvPr id="51" name="Text Box 180"/>
          <p:cNvSpPr txBox="1">
            <a:spLocks noChangeArrowheads="1"/>
          </p:cNvSpPr>
          <p:nvPr/>
        </p:nvSpPr>
        <p:spPr bwMode="auto">
          <a:xfrm>
            <a:off x="1540098" y="25802686"/>
            <a:ext cx="12128735" cy="181588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lvl="0" eaLnBrk="1" hangingPunct="1"/>
            <a:r>
              <a:rPr lang="en-US" sz="2800" b="1" dirty="0">
                <a:latin typeface="Calibri" pitchFamily="34" charset="0"/>
              </a:rPr>
              <a:t>Figure 2.</a:t>
            </a:r>
            <a:r>
              <a:rPr lang="en-US" sz="2800" dirty="0">
                <a:latin typeface="Calibri" pitchFamily="34" charset="0"/>
              </a:rPr>
              <a:t> </a:t>
            </a:r>
            <a:r>
              <a:rPr lang="en-US" sz="2800" b="1" dirty="0">
                <a:latin typeface="Calibri" pitchFamily="34" charset="0"/>
              </a:rPr>
              <a:t>Sample images of settled piles. </a:t>
            </a:r>
            <a:r>
              <a:rPr lang="en-US" sz="2800" dirty="0">
                <a:latin typeface="Calibri" pitchFamily="34" charset="0"/>
              </a:rPr>
              <a:t>Poured hard particles (D=1.00mm) settle into a stable pile under gravity and different friction coefficients. Low friction, medium friction, high friction -piles. </a:t>
            </a:r>
            <a:r>
              <a:rPr lang="en-US" sz="2800" dirty="0">
                <a:solidFill>
                  <a:prstClr val="black"/>
                </a:solidFill>
                <a:latin typeface="Calibri"/>
              </a:rPr>
              <a:t>Darker colors represent larger force magnitude.</a:t>
            </a:r>
          </a:p>
        </p:txBody>
      </p:sp>
      <p:sp>
        <p:nvSpPr>
          <p:cNvPr id="241" name="Rectangle 240">
            <a:extLst>
              <a:ext uri="{FF2B5EF4-FFF2-40B4-BE49-F238E27FC236}">
                <a16:creationId xmlns:a16="http://schemas.microsoft.com/office/drawing/2014/main" id="{7230B787-049B-2C15-572C-BEDE475F59BD}"/>
              </a:ext>
            </a:extLst>
          </p:cNvPr>
          <p:cNvSpPr/>
          <p:nvPr/>
        </p:nvSpPr>
        <p:spPr>
          <a:xfrm>
            <a:off x="15082547" y="6400800"/>
            <a:ext cx="13941164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Force-Chain Geometry and Distribution</a:t>
            </a:r>
          </a:p>
        </p:txBody>
      </p:sp>
      <p:pic>
        <p:nvPicPr>
          <p:cNvPr id="247" name="Picture 246">
            <a:extLst>
              <a:ext uri="{FF2B5EF4-FFF2-40B4-BE49-F238E27FC236}">
                <a16:creationId xmlns:a16="http://schemas.microsoft.com/office/drawing/2014/main" id="{156156B7-96B5-216E-9AA8-D0EA4EA4B3CA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92607" y="16875161"/>
            <a:ext cx="6617864" cy="3044218"/>
          </a:xfrm>
          <a:prstGeom prst="rect">
            <a:avLst/>
          </a:prstGeom>
        </p:spPr>
      </p:pic>
      <p:sp>
        <p:nvSpPr>
          <p:cNvPr id="249" name="Text Box 180">
            <a:extLst>
              <a:ext uri="{FF2B5EF4-FFF2-40B4-BE49-F238E27FC236}">
                <a16:creationId xmlns:a16="http://schemas.microsoft.com/office/drawing/2014/main" id="{2D71BB4B-DD10-507E-8356-1F49B57C370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24000" y="19882820"/>
            <a:ext cx="12801599" cy="1384995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800" b="1" dirty="0">
                <a:latin typeface="Calibri" pitchFamily="34" charset="0"/>
              </a:rPr>
              <a:t>Figure 1.</a:t>
            </a:r>
            <a:r>
              <a:rPr lang="en-US" sz="2800" b="1" dirty="0">
                <a:solidFill>
                  <a:prstClr val="black"/>
                </a:solidFill>
                <a:latin typeface="Calibri"/>
              </a:rPr>
              <a:t> Friction Modes (Santos et al., 2021). </a:t>
            </a:r>
            <a:r>
              <a:rPr lang="en-US" sz="2800" dirty="0">
                <a:solidFill>
                  <a:prstClr val="black"/>
                </a:solidFill>
                <a:latin typeface="Calibri"/>
              </a:rPr>
              <a:t>Sliding, rolling, and twisting (left to right) </a:t>
            </a:r>
          </a:p>
          <a:p>
            <a:pPr eaLnBrk="1" hangingPunct="1"/>
            <a:endParaRPr lang="en-US" sz="2800" dirty="0">
              <a:latin typeface="Calibri" pitchFamily="34" charset="0"/>
            </a:endParaRPr>
          </a:p>
        </p:txBody>
      </p:sp>
      <p:grpSp>
        <p:nvGrpSpPr>
          <p:cNvPr id="1126" name="Group 1125">
            <a:extLst>
              <a:ext uri="{FF2B5EF4-FFF2-40B4-BE49-F238E27FC236}">
                <a16:creationId xmlns:a16="http://schemas.microsoft.com/office/drawing/2014/main" id="{F381FE7C-E599-40FC-BCE8-31250EAFAD23}"/>
              </a:ext>
            </a:extLst>
          </p:cNvPr>
          <p:cNvGrpSpPr/>
          <p:nvPr/>
        </p:nvGrpSpPr>
        <p:grpSpPr>
          <a:xfrm>
            <a:off x="29700846" y="6400800"/>
            <a:ext cx="13047354" cy="32004000"/>
            <a:chOff x="15518768" y="6400800"/>
            <a:chExt cx="13047354" cy="32004000"/>
          </a:xfrm>
        </p:grpSpPr>
        <p:sp>
          <p:nvSpPr>
            <p:cNvPr id="183" name="Rounded Rectangle 182">
              <a:extLst>
                <a:ext uri="{FF2B5EF4-FFF2-40B4-BE49-F238E27FC236}">
                  <a16:creationId xmlns:a16="http://schemas.microsoft.com/office/drawing/2014/main" id="{8E639EF6-5907-A8D2-9134-764185398932}"/>
                </a:ext>
              </a:extLst>
            </p:cNvPr>
            <p:cNvSpPr/>
            <p:nvPr/>
          </p:nvSpPr>
          <p:spPr>
            <a:xfrm>
              <a:off x="23080870" y="16515516"/>
              <a:ext cx="5286778" cy="3156257"/>
            </a:xfrm>
            <a:prstGeom prst="roundRect">
              <a:avLst/>
            </a:prstGeom>
            <a:solidFill>
              <a:srgbClr val="F5F8FC"/>
            </a:solidFill>
            <a:ln>
              <a:solidFill>
                <a:schemeClr val="tx2">
                  <a:lumMod val="25000"/>
                  <a:lumOff val="75000"/>
                </a:schemeClr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t"/>
            <a:lstStyle/>
            <a:p>
              <a:endParaRPr lang="en-US" sz="4800" b="1" dirty="0">
                <a:solidFill>
                  <a:schemeClr val="tx1"/>
                </a:solidFill>
              </a:endParaRPr>
            </a:p>
            <a:p>
              <a:endParaRPr lang="en-US" sz="4800" b="1" i="1" dirty="0">
                <a:solidFill>
                  <a:srgbClr val="002060"/>
                </a:solidFill>
              </a:endParaRPr>
            </a:p>
            <a:p>
              <a:endParaRPr lang="en-US" sz="4800" b="1" i="1" dirty="0">
                <a:solidFill>
                  <a:srgbClr val="002060"/>
                </a:solidFill>
              </a:endParaRPr>
            </a:p>
            <a:p>
              <a:endParaRPr lang="en-US" sz="4800" b="1" i="1" dirty="0">
                <a:solidFill>
                  <a:srgbClr val="002060"/>
                </a:solidFill>
              </a:endParaRPr>
            </a:p>
            <a:p>
              <a:endParaRPr lang="en-US" sz="4800" b="1" i="1" dirty="0">
                <a:solidFill>
                  <a:srgbClr val="0070C0"/>
                </a:solidFill>
              </a:endParaRPr>
            </a:p>
          </p:txBody>
        </p:sp>
        <p:sp>
          <p:nvSpPr>
            <p:cNvPr id="13" name="Text Box 192"/>
            <p:cNvSpPr txBox="1">
              <a:spLocks noChangeArrowheads="1"/>
            </p:cNvSpPr>
            <p:nvPr/>
          </p:nvSpPr>
          <p:spPr bwMode="auto">
            <a:xfrm>
              <a:off x="15621000" y="10820400"/>
              <a:ext cx="6858000" cy="2585323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82880" tIns="182880" rIns="182880" bIns="18288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Calibri" pitchFamily="34" charset="0"/>
                </a:rPr>
                <a:t>Granular contacts represented as an undirected graph G=(V,E).  </a:t>
              </a:r>
            </a:p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endParaRPr lang="en-US" sz="3600" b="1" i="1" baseline="-25000" dirty="0">
                <a:latin typeface="Calibri" pitchFamily="34" charset="0"/>
              </a:endParaRPr>
            </a:p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endParaRPr lang="en-US" sz="3600" b="1" i="1" baseline="-25000" dirty="0">
                <a:latin typeface="Calibri" pitchFamily="34" charset="0"/>
              </a:endParaRPr>
            </a:p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endParaRPr lang="en-US" sz="3600" i="1" baseline="-25000" dirty="0">
                <a:latin typeface="Calibri" pitchFamily="34" charset="0"/>
              </a:endParaRPr>
            </a:p>
          </p:txBody>
        </p:sp>
        <p:sp>
          <p:nvSpPr>
            <p:cNvPr id="34" name="Rectangle 33"/>
            <p:cNvSpPr/>
            <p:nvPr/>
          </p:nvSpPr>
          <p:spPr>
            <a:xfrm>
              <a:off x="15544800" y="6400800"/>
              <a:ext cx="12801600" cy="9144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Methods </a:t>
              </a:r>
            </a:p>
          </p:txBody>
        </p:sp>
        <p:sp>
          <p:nvSpPr>
            <p:cNvPr id="7" name="Text Box 192">
              <a:extLst>
                <a:ext uri="{FF2B5EF4-FFF2-40B4-BE49-F238E27FC236}">
                  <a16:creationId xmlns:a16="http://schemas.microsoft.com/office/drawing/2014/main" id="{CD5E5724-3056-8D7D-5133-B248D31EFFA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683421" y="15925800"/>
              <a:ext cx="7206151" cy="590931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82880" tIns="182880" rIns="182880" bIns="18288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marL="571500" indent="-571500" eaLnBrk="1" hangingPunct="1">
                <a:buFont typeface="Arial" panose="020B0604020202020204" pitchFamily="34" charset="0"/>
                <a:buChar char="•"/>
                <a:defRPr/>
              </a:pPr>
              <a:r>
                <a:rPr lang="en-US" sz="3600" b="1" dirty="0">
                  <a:latin typeface="Calibri" pitchFamily="34" charset="0"/>
                </a:rPr>
                <a:t>EBC </a:t>
              </a:r>
              <a:r>
                <a:rPr lang="en-US" sz="3600" b="1" dirty="0">
                  <a:latin typeface="+mn-lt"/>
                </a:rPr>
                <a:t>(Brandes, 2001)</a:t>
              </a:r>
              <a:r>
                <a:rPr lang="en-US" sz="3600" dirty="0">
                  <a:solidFill>
                    <a:prstClr val="black"/>
                  </a:solidFill>
                  <a:latin typeface="Calibri" pitchFamily="34" charset="0"/>
                </a:rPr>
                <a:t> quantifies how often a contact lies on force-preferred pathways through the contact network.</a:t>
              </a:r>
            </a:p>
            <a:p>
              <a:pPr marL="571500" indent="-571500" eaLnBrk="1" hangingPunct="1">
                <a:buFont typeface="Arial" panose="020B0604020202020204" pitchFamily="34" charset="0"/>
                <a:buChar char="•"/>
                <a:defRPr/>
              </a:pPr>
              <a:r>
                <a:rPr lang="en-US" sz="3600" dirty="0">
                  <a:solidFill>
                    <a:prstClr val="black"/>
                  </a:solidFill>
                  <a:latin typeface="Calibri" pitchFamily="34" charset="0"/>
                </a:rPr>
                <a:t>High-EBC contacts </a:t>
              </a:r>
            </a:p>
            <a:p>
              <a:pPr lvl="1" indent="0" eaLnBrk="1" hangingPunct="1">
                <a:defRPr/>
              </a:pPr>
              <a:r>
                <a:rPr lang="en-US" sz="3600" dirty="0">
                  <a:solidFill>
                    <a:prstClr val="black"/>
                  </a:solidFill>
                  <a:latin typeface="Calibri" pitchFamily="34" charset="0"/>
                </a:rPr>
                <a:t>-carry many force-preferred routes </a:t>
              </a:r>
            </a:p>
            <a:p>
              <a:pPr lvl="1" indent="0" eaLnBrk="1" hangingPunct="1">
                <a:defRPr/>
              </a:pPr>
              <a:r>
                <a:rPr lang="en-US" sz="3600" dirty="0">
                  <a:solidFill>
                    <a:prstClr val="black"/>
                  </a:solidFill>
                  <a:latin typeface="Calibri" pitchFamily="34" charset="0"/>
                </a:rPr>
                <a:t>-connect distant regions</a:t>
              </a:r>
            </a:p>
            <a:p>
              <a:pPr lvl="1" indent="0" eaLnBrk="1" hangingPunct="1">
                <a:defRPr/>
              </a:pPr>
              <a:r>
                <a:rPr lang="en-US" sz="3600" dirty="0">
                  <a:solidFill>
                    <a:prstClr val="black"/>
                  </a:solidFill>
                  <a:latin typeface="Calibri" pitchFamily="34" charset="0"/>
                </a:rPr>
                <a:t>-critical for stress transmission</a:t>
              </a:r>
            </a:p>
            <a:p>
              <a:pPr lvl="1" indent="0" eaLnBrk="1" hangingPunct="1">
                <a:defRPr/>
              </a:pPr>
              <a:r>
                <a:rPr lang="en-US" sz="3600" dirty="0">
                  <a:solidFill>
                    <a:prstClr val="black"/>
                  </a:solidFill>
                  <a:latin typeface="Calibri" pitchFamily="34" charset="0"/>
                </a:rPr>
                <a:t>-system-wide</a:t>
              </a:r>
            </a:p>
          </p:txBody>
        </p:sp>
        <p:sp>
          <p:nvSpPr>
            <p:cNvPr id="8" name="Text Box 192">
              <a:extLst>
                <a:ext uri="{FF2B5EF4-FFF2-40B4-BE49-F238E27FC236}">
                  <a16:creationId xmlns:a16="http://schemas.microsoft.com/office/drawing/2014/main" id="{8AF2A314-4482-1AC5-F6C8-5A6353A575E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621000" y="23070979"/>
              <a:ext cx="6858000" cy="5355312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82880" tIns="182880" rIns="182880" bIns="18288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r>
                <a:rPr lang="en-US" sz="3600" b="1" dirty="0">
                  <a:latin typeface="Calibri" pitchFamily="34" charset="0"/>
                </a:rPr>
                <a:t>PELT </a:t>
              </a:r>
              <a:r>
                <a:rPr lang="en-US" sz="3600" dirty="0">
                  <a:latin typeface="Calibri" pitchFamily="34" charset="0"/>
                </a:rPr>
                <a:t>(</a:t>
              </a:r>
              <a:r>
                <a:rPr lang="en-US" sz="3600" dirty="0"/>
                <a:t>Killick et al., 2012)</a:t>
              </a:r>
              <a:r>
                <a:rPr lang="en-US" sz="3600" dirty="0">
                  <a:solidFill>
                    <a:srgbClr val="000000"/>
                  </a:solidFill>
                  <a:latin typeface="-webkit-standard"/>
                </a:rPr>
                <a:t> identifies statistically significant changes in the ranked EBC distribution.</a:t>
              </a:r>
            </a:p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r>
                <a:rPr lang="en-US" sz="3600" b="1" i="0" u="none" strike="noStrike" dirty="0">
                  <a:solidFill>
                    <a:srgbClr val="000000"/>
                  </a:solidFill>
                  <a:effectLst/>
                  <a:latin typeface="+mn-lt"/>
                </a:rPr>
                <a:t>The first major change point separates highly important transport edges </a:t>
              </a:r>
              <a:r>
                <a:rPr lang="en-US" sz="3600" b="0" i="0" u="none" strike="noStrike" dirty="0">
                  <a:solidFill>
                    <a:srgbClr val="000000"/>
                  </a:solidFill>
                  <a:effectLst/>
                  <a:latin typeface="+mn-lt"/>
                </a:rPr>
                <a:t>from the background contact network.</a:t>
              </a:r>
            </a:p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endParaRPr lang="en-US" sz="3600" b="0" i="0" u="none" strike="noStrike" dirty="0">
                <a:solidFill>
                  <a:srgbClr val="000000"/>
                </a:solidFill>
                <a:effectLst/>
                <a:latin typeface="+mn-lt"/>
              </a:endParaRPr>
            </a:p>
          </p:txBody>
        </p:sp>
        <p:sp>
          <p:nvSpPr>
            <p:cNvPr id="9" name="Text Box 192">
              <a:extLst>
                <a:ext uri="{FF2B5EF4-FFF2-40B4-BE49-F238E27FC236}">
                  <a16:creationId xmlns:a16="http://schemas.microsoft.com/office/drawing/2014/main" id="{D3F6E06F-D0FF-ED23-EBF7-2DE3D094ECA3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621000" y="29718000"/>
              <a:ext cx="6828698" cy="4247317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wrap="square" lIns="182880" tIns="182880" rIns="182880" bIns="182880">
              <a:sp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Calibri" pitchFamily="34" charset="0"/>
                </a:rPr>
                <a:t>Quasi-linear force chains extracted using local bend-angle criterion </a:t>
              </a:r>
              <a:r>
                <a:rPr lang="en-US" sz="2400" dirty="0">
                  <a:latin typeface="Calibri" pitchFamily="34" charset="0"/>
                </a:rPr>
                <a:t>(consistent with force-chain alignment criteria in Peters et al., 2005; Tordesillas et al., 2010).</a:t>
              </a:r>
            </a:p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endParaRPr lang="en-US" sz="2400" b="1" i="1" dirty="0">
                <a:highlight>
                  <a:srgbClr val="FFFF00"/>
                </a:highlight>
                <a:latin typeface="Calibri" pitchFamily="34" charset="0"/>
              </a:endParaRPr>
            </a:p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r>
                <a:rPr lang="en-US" sz="3600" b="1" i="1" dirty="0">
                  <a:latin typeface="Calibri" pitchFamily="34" charset="0"/>
                </a:rPr>
                <a:t>Edges connected if </a:t>
              </a:r>
              <a:r>
                <a:rPr lang="en-US" sz="3600" b="1" dirty="0" err="1">
                  <a:latin typeface="Calibri" pitchFamily="34" charset="0"/>
                </a:rPr>
                <a:t>θ</a:t>
              </a:r>
              <a:r>
                <a:rPr lang="en-US" sz="3600" b="1" dirty="0">
                  <a:latin typeface="Calibri" pitchFamily="34" charset="0"/>
                </a:rPr>
                <a:t> ≤ 45°.     </a:t>
              </a:r>
              <a:r>
                <a:rPr lang="el-GR" sz="3600" b="1" dirty="0">
                  <a:latin typeface="Calibri" pitchFamily="34" charset="0"/>
                </a:rPr>
                <a:t>Θ</a:t>
              </a:r>
              <a:r>
                <a:rPr lang="en-US" sz="3600" b="1" dirty="0">
                  <a:latin typeface="Calibri" pitchFamily="34" charset="0"/>
                </a:rPr>
                <a:t>:</a:t>
              </a:r>
              <a:r>
                <a:rPr lang="en-US" sz="3600" dirty="0">
                  <a:latin typeface="Calibri" pitchFamily="34" charset="0"/>
                </a:rPr>
                <a:t> deviation from straight path. </a:t>
              </a:r>
              <a:endParaRPr lang="en-US" sz="3600" b="1" dirty="0">
                <a:latin typeface="Calibri" pitchFamily="34" charset="0"/>
              </a:endParaRPr>
            </a:p>
          </p:txBody>
        </p:sp>
        <p:sp>
          <p:nvSpPr>
            <p:cNvPr id="16" name="Text Box 192">
              <a:extLst>
                <a:ext uri="{FF2B5EF4-FFF2-40B4-BE49-F238E27FC236}">
                  <a16:creationId xmlns:a16="http://schemas.microsoft.com/office/drawing/2014/main" id="{8887804E-6402-4058-8276-77D2D5554B50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5621000" y="35225920"/>
              <a:ext cx="6498588" cy="317888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lIns="182880" tIns="182880" rIns="182880" bIns="182880">
              <a:no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3600" b="1" dirty="0">
                  <a:latin typeface="Calibri" pitchFamily="34" charset="0"/>
                </a:rPr>
                <a:t>Traditional </a:t>
              </a:r>
            </a:p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Calibri" pitchFamily="34" charset="0"/>
                </a:rPr>
                <a:t>Force threshold</a:t>
              </a:r>
            </a:p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Calibri" pitchFamily="34" charset="0"/>
                </a:rPr>
                <a:t>Local alignment</a:t>
              </a:r>
            </a:p>
          </p:txBody>
        </p:sp>
        <p:sp>
          <p:nvSpPr>
            <p:cNvPr id="17" name="Rectangle 16">
              <a:extLst>
                <a:ext uri="{FF2B5EF4-FFF2-40B4-BE49-F238E27FC236}">
                  <a16:creationId xmlns:a16="http://schemas.microsoft.com/office/drawing/2014/main" id="{A14346A2-989A-295B-D428-8C0DC712F57A}"/>
                </a:ext>
              </a:extLst>
            </p:cNvPr>
            <p:cNvSpPr/>
            <p:nvPr/>
          </p:nvSpPr>
          <p:spPr>
            <a:xfrm>
              <a:off x="15621000" y="9753600"/>
              <a:ext cx="1097280" cy="109728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1</a:t>
              </a:r>
            </a:p>
          </p:txBody>
        </p:sp>
        <p:sp>
          <p:nvSpPr>
            <p:cNvPr id="18" name="Rectangle 17">
              <a:extLst>
                <a:ext uri="{FF2B5EF4-FFF2-40B4-BE49-F238E27FC236}">
                  <a16:creationId xmlns:a16="http://schemas.microsoft.com/office/drawing/2014/main" id="{4EFC2D78-E122-2F66-FDC2-68D9B8D9B8E7}"/>
                </a:ext>
              </a:extLst>
            </p:cNvPr>
            <p:cNvSpPr/>
            <p:nvPr/>
          </p:nvSpPr>
          <p:spPr>
            <a:xfrm>
              <a:off x="15544800" y="6400800"/>
              <a:ext cx="12877800" cy="91440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Methods </a:t>
              </a:r>
            </a:p>
          </p:txBody>
        </p:sp>
        <p:sp>
          <p:nvSpPr>
            <p:cNvPr id="19" name="Rectangle 18">
              <a:extLst>
                <a:ext uri="{FF2B5EF4-FFF2-40B4-BE49-F238E27FC236}">
                  <a16:creationId xmlns:a16="http://schemas.microsoft.com/office/drawing/2014/main" id="{44F81247-7458-60AE-950A-AFE29D7F40D8}"/>
                </a:ext>
              </a:extLst>
            </p:cNvPr>
            <p:cNvSpPr/>
            <p:nvPr/>
          </p:nvSpPr>
          <p:spPr>
            <a:xfrm>
              <a:off x="15666720" y="14782800"/>
              <a:ext cx="1097280" cy="109728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2</a:t>
              </a:r>
            </a:p>
          </p:txBody>
        </p:sp>
        <p:sp>
          <p:nvSpPr>
            <p:cNvPr id="20" name="Rectangle 19">
              <a:extLst>
                <a:ext uri="{FF2B5EF4-FFF2-40B4-BE49-F238E27FC236}">
                  <a16:creationId xmlns:a16="http://schemas.microsoft.com/office/drawing/2014/main" id="{BBFBEA75-0B38-EE2A-48EF-BAEF3DE3B86B}"/>
                </a:ext>
              </a:extLst>
            </p:cNvPr>
            <p:cNvSpPr/>
            <p:nvPr/>
          </p:nvSpPr>
          <p:spPr>
            <a:xfrm>
              <a:off x="15623091" y="21945600"/>
              <a:ext cx="1097280" cy="109728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3</a:t>
              </a:r>
            </a:p>
          </p:txBody>
        </p:sp>
        <p:sp>
          <p:nvSpPr>
            <p:cNvPr id="21" name="Rectangle 20">
              <a:extLst>
                <a:ext uri="{FF2B5EF4-FFF2-40B4-BE49-F238E27FC236}">
                  <a16:creationId xmlns:a16="http://schemas.microsoft.com/office/drawing/2014/main" id="{86F41436-575A-4420-BB2B-A96D49564B7E}"/>
                </a:ext>
              </a:extLst>
            </p:cNvPr>
            <p:cNvSpPr/>
            <p:nvPr/>
          </p:nvSpPr>
          <p:spPr>
            <a:xfrm>
              <a:off x="15621000" y="28575001"/>
              <a:ext cx="1097280" cy="1097280"/>
            </a:xfrm>
            <a:prstGeom prst="rect">
              <a:avLst/>
            </a:prstGeom>
            <a:solidFill>
              <a:schemeClr val="accent1">
                <a:lumMod val="75000"/>
              </a:schemeClr>
            </a:solidFill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6000" b="1" dirty="0">
                  <a:solidFill>
                    <a:schemeClr val="accent3">
                      <a:lumMod val="20000"/>
                      <a:lumOff val="80000"/>
                    </a:schemeClr>
                  </a:solidFill>
                </a:rPr>
                <a:t>4</a:t>
              </a:r>
            </a:p>
          </p:txBody>
        </p:sp>
        <p:sp>
          <p:nvSpPr>
            <p:cNvPr id="39" name="Rectangle 38">
              <a:extLst>
                <a:ext uri="{FF2B5EF4-FFF2-40B4-BE49-F238E27FC236}">
                  <a16:creationId xmlns:a16="http://schemas.microsoft.com/office/drawing/2014/main" id="{8109C620-85AF-92B1-7F88-1A9B902B6A51}"/>
                </a:ext>
              </a:extLst>
            </p:cNvPr>
            <p:cNvSpPr/>
            <p:nvPr/>
          </p:nvSpPr>
          <p:spPr>
            <a:xfrm>
              <a:off x="16764000" y="14828520"/>
              <a:ext cx="11658600" cy="1097280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4000" b="1" dirty="0">
                  <a:solidFill>
                    <a:schemeClr val="accent5">
                      <a:lumMod val="50000"/>
                    </a:schemeClr>
                  </a:solidFill>
                </a:rPr>
                <a:t>IDENTIFICATION OF CRITICAL EDGES USING EDGE BETWEENNES CENTRALITY (EBC) </a:t>
              </a:r>
            </a:p>
          </p:txBody>
        </p:sp>
        <p:sp>
          <p:nvSpPr>
            <p:cNvPr id="40" name="Rectangle 39">
              <a:extLst>
                <a:ext uri="{FF2B5EF4-FFF2-40B4-BE49-F238E27FC236}">
                  <a16:creationId xmlns:a16="http://schemas.microsoft.com/office/drawing/2014/main" id="{FB248717-1B95-E438-003D-3089D13CDD30}"/>
                </a:ext>
              </a:extLst>
            </p:cNvPr>
            <p:cNvSpPr/>
            <p:nvPr/>
          </p:nvSpPr>
          <p:spPr>
            <a:xfrm>
              <a:off x="16764000" y="9829800"/>
              <a:ext cx="11658600" cy="914400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4000" b="1" dirty="0">
                  <a:solidFill>
                    <a:schemeClr val="accent5">
                      <a:lumMod val="50000"/>
                    </a:schemeClr>
                  </a:solidFill>
                </a:rPr>
                <a:t> INVERSE-FORCE WEIGHTED CONTACT NETWORK</a:t>
              </a:r>
            </a:p>
          </p:txBody>
        </p:sp>
        <p:sp>
          <p:nvSpPr>
            <p:cNvPr id="42" name="Rectangle 41">
              <a:extLst>
                <a:ext uri="{FF2B5EF4-FFF2-40B4-BE49-F238E27FC236}">
                  <a16:creationId xmlns:a16="http://schemas.microsoft.com/office/drawing/2014/main" id="{D013049E-E8B2-23A9-C638-26F2B91281F3}"/>
                </a:ext>
              </a:extLst>
            </p:cNvPr>
            <p:cNvSpPr/>
            <p:nvPr/>
          </p:nvSpPr>
          <p:spPr>
            <a:xfrm>
              <a:off x="16764000" y="21945600"/>
              <a:ext cx="11620500" cy="1097280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4000" b="1" dirty="0">
                  <a:solidFill>
                    <a:schemeClr val="accent5">
                      <a:lumMod val="50000"/>
                    </a:schemeClr>
                  </a:solidFill>
                </a:rPr>
                <a:t>IDENTIFICATION OF HIGH IMPORTANCE FORCE  CHAINS USING CHANGE POINT DETECTION</a:t>
              </a:r>
            </a:p>
          </p:txBody>
        </p:sp>
        <p:sp>
          <p:nvSpPr>
            <p:cNvPr id="43" name="Rectangle 42">
              <a:extLst>
                <a:ext uri="{FF2B5EF4-FFF2-40B4-BE49-F238E27FC236}">
                  <a16:creationId xmlns:a16="http://schemas.microsoft.com/office/drawing/2014/main" id="{981EA69B-A635-1E00-2DF9-FBD5AD2FC370}"/>
                </a:ext>
              </a:extLst>
            </p:cNvPr>
            <p:cNvSpPr/>
            <p:nvPr/>
          </p:nvSpPr>
          <p:spPr>
            <a:xfrm>
              <a:off x="16764000" y="28575000"/>
              <a:ext cx="11620500" cy="1097280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r>
                <a:rPr lang="en-US" sz="4000" b="1" dirty="0">
                  <a:solidFill>
                    <a:schemeClr val="accent5">
                      <a:lumMod val="50000"/>
                    </a:schemeClr>
                  </a:solidFill>
                </a:rPr>
                <a:t>FORCE-CHAIN STRUCTURAL CHARACTERIZATION</a:t>
              </a:r>
            </a:p>
          </p:txBody>
        </p:sp>
        <p:sp>
          <p:nvSpPr>
            <p:cNvPr id="44" name="Rectangle 43">
              <a:extLst>
                <a:ext uri="{FF2B5EF4-FFF2-40B4-BE49-F238E27FC236}">
                  <a16:creationId xmlns:a16="http://schemas.microsoft.com/office/drawing/2014/main" id="{E3B7099E-7CDC-6CA9-D687-2588CF5BA6C1}"/>
                </a:ext>
              </a:extLst>
            </p:cNvPr>
            <p:cNvSpPr/>
            <p:nvPr/>
          </p:nvSpPr>
          <p:spPr>
            <a:xfrm>
              <a:off x="15598140" y="34061400"/>
              <a:ext cx="12824460" cy="1097280"/>
            </a:xfrm>
            <a:prstGeom prst="rect">
              <a:avLst/>
            </a:prstGeom>
            <a:noFill/>
            <a:ln w="12700"/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sz="4000" b="1" dirty="0">
                  <a:solidFill>
                    <a:schemeClr val="accent5">
                      <a:lumMod val="50000"/>
                    </a:schemeClr>
                  </a:solidFill>
                </a:rPr>
                <a:t>TRADITIONAL vs EBC APPROACH</a:t>
              </a:r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69313A9-855A-9947-5FB7-C99319F02DE5}"/>
                    </a:ext>
                  </a:extLst>
                </p:cNvPr>
                <p:cNvSpPr txBox="1"/>
                <p:nvPr/>
              </p:nvSpPr>
              <p:spPr>
                <a:xfrm>
                  <a:off x="18753465" y="12115800"/>
                  <a:ext cx="4030925" cy="1163460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32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3200" b="1" i="1" smtClean="0">
                                <a:latin typeface="Cambria Math" panose="02040503050406030204" pitchFamily="18" charset="0"/>
                              </a:rPr>
                              <m:t>𝒘</m:t>
                            </m:r>
                          </m:e>
                          <m:sub>
                            <m:r>
                              <a:rPr lang="en-US" sz="3200" b="1" i="1" smtClean="0">
                                <a:latin typeface="Cambria Math" panose="02040503050406030204" pitchFamily="18" charset="0"/>
                              </a:rPr>
                              <m:t>𝒊𝒋</m:t>
                            </m:r>
                          </m:sub>
                        </m:sSub>
                        <m:r>
                          <a:rPr lang="en-US" sz="3200" b="1" i="1" smtClean="0">
                            <a:latin typeface="Cambria Math" panose="02040503050406030204" pitchFamily="18" charset="0"/>
                          </a:rPr>
                          <m:t>= </m:t>
                        </m:r>
                        <m:f>
                          <m:fPr>
                            <m:ctrlPr>
                              <a:rPr lang="en-US" sz="3200" b="1" i="1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3200" b="1" i="1" smtClean="0">
                                <a:latin typeface="Cambria Math" panose="02040503050406030204" pitchFamily="18" charset="0"/>
                              </a:rPr>
                              <m:t>𝟏</m:t>
                            </m:r>
                          </m:num>
                          <m:den>
                            <m:sSub>
                              <m:sSubPr>
                                <m:ctrlPr>
                                  <a:rPr lang="en-US" sz="32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sz="3200" b="1" i="1" smtClean="0">
                                    <a:latin typeface="Cambria Math" panose="02040503050406030204" pitchFamily="18" charset="0"/>
                                  </a:rPr>
                                  <m:t>𝑭</m:t>
                                </m:r>
                              </m:e>
                              <m:sub>
                                <m:r>
                                  <a:rPr lang="en-US" sz="3200" b="1" i="1" smtClean="0">
                                    <a:latin typeface="Cambria Math" panose="02040503050406030204" pitchFamily="18" charset="0"/>
                                  </a:rPr>
                                  <m:t>𝒊𝒋</m:t>
                                </m:r>
                              </m:sub>
                            </m:sSub>
                          </m:den>
                        </m:f>
                      </m:oMath>
                    </m:oMathPara>
                  </a14:m>
                  <a:endParaRPr lang="en-US" sz="3200" b="1" dirty="0"/>
                </a:p>
              </p:txBody>
            </p:sp>
          </mc:Choice>
          <mc:Fallback>
            <p:sp>
              <p:nvSpPr>
                <p:cNvPr id="57" name="TextBox 56">
                  <a:extLst>
                    <a:ext uri="{FF2B5EF4-FFF2-40B4-BE49-F238E27FC236}">
                      <a16:creationId xmlns:a16="http://schemas.microsoft.com/office/drawing/2014/main" id="{069313A9-855A-9947-5FB7-C99319F02DE5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8753465" y="12115800"/>
                  <a:ext cx="4030925" cy="1163460"/>
                </a:xfrm>
                <a:prstGeom prst="rect">
                  <a:avLst/>
                </a:prstGeom>
                <a:blipFill>
                  <a:blip r:embed="rId7"/>
                  <a:stretch>
                    <a:fillRect b="-6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60" name="TextBox 59">
              <a:extLst>
                <a:ext uri="{FF2B5EF4-FFF2-40B4-BE49-F238E27FC236}">
                  <a16:creationId xmlns:a16="http://schemas.microsoft.com/office/drawing/2014/main" id="{60BDA44D-52DE-07A0-6CDF-669D5715E771}"/>
                </a:ext>
              </a:extLst>
            </p:cNvPr>
            <p:cNvSpPr txBox="1"/>
            <p:nvPr/>
          </p:nvSpPr>
          <p:spPr>
            <a:xfrm>
              <a:off x="15727678" y="13430071"/>
              <a:ext cx="9494522" cy="1200329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3600" b="1" dirty="0"/>
                <a:t>Strong contacts correspond to low-cost paths and therefore dominate shortest-path transport.</a:t>
              </a:r>
            </a:p>
          </p:txBody>
        </p:sp>
        <p:grpSp>
          <p:nvGrpSpPr>
            <p:cNvPr id="286" name="Group 285">
              <a:extLst>
                <a:ext uri="{FF2B5EF4-FFF2-40B4-BE49-F238E27FC236}">
                  <a16:creationId xmlns:a16="http://schemas.microsoft.com/office/drawing/2014/main" id="{C4611FD5-3627-3026-6BAD-A913EF1C7EE6}"/>
                </a:ext>
              </a:extLst>
            </p:cNvPr>
            <p:cNvGrpSpPr/>
            <p:nvPr/>
          </p:nvGrpSpPr>
          <p:grpSpPr>
            <a:xfrm>
              <a:off x="23916326" y="11085316"/>
              <a:ext cx="3696233" cy="2936959"/>
              <a:chOff x="23095349" y="8483025"/>
              <a:chExt cx="4813241" cy="3693236"/>
            </a:xfrm>
          </p:grpSpPr>
          <p:sp>
            <p:nvSpPr>
              <p:cNvPr id="61" name="Oval 60">
                <a:extLst>
                  <a:ext uri="{FF2B5EF4-FFF2-40B4-BE49-F238E27FC236}">
                    <a16:creationId xmlns:a16="http://schemas.microsoft.com/office/drawing/2014/main" id="{AB06972D-050F-EF74-5FF2-7A9957D7A06C}"/>
                  </a:ext>
                </a:extLst>
              </p:cNvPr>
              <p:cNvSpPr/>
              <p:nvPr/>
            </p:nvSpPr>
            <p:spPr>
              <a:xfrm>
                <a:off x="23919290" y="10466499"/>
                <a:ext cx="365760" cy="36576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4" name="Oval 63">
                <a:extLst>
                  <a:ext uri="{FF2B5EF4-FFF2-40B4-BE49-F238E27FC236}">
                    <a16:creationId xmlns:a16="http://schemas.microsoft.com/office/drawing/2014/main" id="{0265FD6B-CE3C-9C61-F6E3-9C6933FDC926}"/>
                  </a:ext>
                </a:extLst>
              </p:cNvPr>
              <p:cNvSpPr/>
              <p:nvPr/>
            </p:nvSpPr>
            <p:spPr>
              <a:xfrm>
                <a:off x="25269634" y="9045119"/>
                <a:ext cx="365760" cy="36576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6" name="Oval 65">
                <a:extLst>
                  <a:ext uri="{FF2B5EF4-FFF2-40B4-BE49-F238E27FC236}">
                    <a16:creationId xmlns:a16="http://schemas.microsoft.com/office/drawing/2014/main" id="{1A203A39-BBD4-8244-28B9-DE3E457C77E9}"/>
                  </a:ext>
                </a:extLst>
              </p:cNvPr>
              <p:cNvSpPr/>
              <p:nvPr/>
            </p:nvSpPr>
            <p:spPr>
              <a:xfrm>
                <a:off x="23224715" y="8735554"/>
                <a:ext cx="365760" cy="36576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7" name="Oval 66">
                <a:extLst>
                  <a:ext uri="{FF2B5EF4-FFF2-40B4-BE49-F238E27FC236}">
                    <a16:creationId xmlns:a16="http://schemas.microsoft.com/office/drawing/2014/main" id="{58A27F8E-F829-90E2-A06B-873A3F32F65D}"/>
                  </a:ext>
                </a:extLst>
              </p:cNvPr>
              <p:cNvSpPr/>
              <p:nvPr/>
            </p:nvSpPr>
            <p:spPr>
              <a:xfrm>
                <a:off x="23347161" y="10160274"/>
                <a:ext cx="365760" cy="36576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8" name="Oval 67">
                <a:extLst>
                  <a:ext uri="{FF2B5EF4-FFF2-40B4-BE49-F238E27FC236}">
                    <a16:creationId xmlns:a16="http://schemas.microsoft.com/office/drawing/2014/main" id="{C78B8561-2964-3E92-C2A0-9C9AF6C60EC3}"/>
                  </a:ext>
                </a:extLst>
              </p:cNvPr>
              <p:cNvSpPr/>
              <p:nvPr/>
            </p:nvSpPr>
            <p:spPr>
              <a:xfrm>
                <a:off x="25770547" y="11565196"/>
                <a:ext cx="365760" cy="36576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69" name="Oval 68">
                <a:extLst>
                  <a:ext uri="{FF2B5EF4-FFF2-40B4-BE49-F238E27FC236}">
                    <a16:creationId xmlns:a16="http://schemas.microsoft.com/office/drawing/2014/main" id="{3FE4D29D-33E4-B5EE-73FB-CD31919DD881}"/>
                  </a:ext>
                </a:extLst>
              </p:cNvPr>
              <p:cNvSpPr/>
              <p:nvPr/>
            </p:nvSpPr>
            <p:spPr>
              <a:xfrm>
                <a:off x="24069986" y="11382316"/>
                <a:ext cx="365760" cy="36576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0" name="Oval 69">
                <a:extLst>
                  <a:ext uri="{FF2B5EF4-FFF2-40B4-BE49-F238E27FC236}">
                    <a16:creationId xmlns:a16="http://schemas.microsoft.com/office/drawing/2014/main" id="{E9252A96-BACB-70E7-023B-57F74727B538}"/>
                  </a:ext>
                </a:extLst>
              </p:cNvPr>
              <p:cNvSpPr/>
              <p:nvPr/>
            </p:nvSpPr>
            <p:spPr>
              <a:xfrm>
                <a:off x="24752675" y="11810501"/>
                <a:ext cx="365760" cy="36576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1" name="Oval 70">
                <a:extLst>
                  <a:ext uri="{FF2B5EF4-FFF2-40B4-BE49-F238E27FC236}">
                    <a16:creationId xmlns:a16="http://schemas.microsoft.com/office/drawing/2014/main" id="{2212FB80-D08A-D559-F2E7-E4E83BA5F5CA}"/>
                  </a:ext>
                </a:extLst>
              </p:cNvPr>
              <p:cNvSpPr/>
              <p:nvPr/>
            </p:nvSpPr>
            <p:spPr>
              <a:xfrm>
                <a:off x="24527186" y="9861055"/>
                <a:ext cx="365760" cy="36576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3" name="Oval 72">
                <a:extLst>
                  <a:ext uri="{FF2B5EF4-FFF2-40B4-BE49-F238E27FC236}">
                    <a16:creationId xmlns:a16="http://schemas.microsoft.com/office/drawing/2014/main" id="{96DE0634-1F06-CF1B-70ED-9B8A9D003507}"/>
                  </a:ext>
                </a:extLst>
              </p:cNvPr>
              <p:cNvSpPr/>
              <p:nvPr/>
            </p:nvSpPr>
            <p:spPr>
              <a:xfrm>
                <a:off x="27235550" y="10493254"/>
                <a:ext cx="365760" cy="36576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4" name="Oval 73">
                <a:extLst>
                  <a:ext uri="{FF2B5EF4-FFF2-40B4-BE49-F238E27FC236}">
                    <a16:creationId xmlns:a16="http://schemas.microsoft.com/office/drawing/2014/main" id="{F04F3FBA-9D3C-15F7-DAE9-DC0716EA8676}"/>
                  </a:ext>
                </a:extLst>
              </p:cNvPr>
              <p:cNvSpPr/>
              <p:nvPr/>
            </p:nvSpPr>
            <p:spPr>
              <a:xfrm>
                <a:off x="26042849" y="9666993"/>
                <a:ext cx="274320" cy="27432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5" name="Oval 74">
                <a:extLst>
                  <a:ext uri="{FF2B5EF4-FFF2-40B4-BE49-F238E27FC236}">
                    <a16:creationId xmlns:a16="http://schemas.microsoft.com/office/drawing/2014/main" id="{608986B0-EC74-1148-EA25-AFF8BC90F3EE}"/>
                  </a:ext>
                </a:extLst>
              </p:cNvPr>
              <p:cNvSpPr/>
              <p:nvPr/>
            </p:nvSpPr>
            <p:spPr>
              <a:xfrm>
                <a:off x="25590158" y="10427375"/>
                <a:ext cx="365760" cy="36576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6" name="Oval 75">
                <a:extLst>
                  <a:ext uri="{FF2B5EF4-FFF2-40B4-BE49-F238E27FC236}">
                    <a16:creationId xmlns:a16="http://schemas.microsoft.com/office/drawing/2014/main" id="{5E00E876-89B8-4F49-C0E0-9CD0F2FD03EC}"/>
                  </a:ext>
                </a:extLst>
              </p:cNvPr>
              <p:cNvSpPr/>
              <p:nvPr/>
            </p:nvSpPr>
            <p:spPr>
              <a:xfrm>
                <a:off x="24346235" y="8999397"/>
                <a:ext cx="91440" cy="9144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7" name="Oval 76">
                <a:extLst>
                  <a:ext uri="{FF2B5EF4-FFF2-40B4-BE49-F238E27FC236}">
                    <a16:creationId xmlns:a16="http://schemas.microsoft.com/office/drawing/2014/main" id="{311AC80E-0FF3-61F8-FBD8-5BF96E955EB7}"/>
                  </a:ext>
                </a:extLst>
              </p:cNvPr>
              <p:cNvSpPr/>
              <p:nvPr/>
            </p:nvSpPr>
            <p:spPr>
              <a:xfrm>
                <a:off x="23777233" y="9556238"/>
                <a:ext cx="182880" cy="18288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78" name="Oval 77">
                <a:extLst>
                  <a:ext uri="{FF2B5EF4-FFF2-40B4-BE49-F238E27FC236}">
                    <a16:creationId xmlns:a16="http://schemas.microsoft.com/office/drawing/2014/main" id="{6B41FEF2-8EAA-560D-FF9A-58B13298BA91}"/>
                  </a:ext>
                </a:extLst>
              </p:cNvPr>
              <p:cNvSpPr/>
              <p:nvPr/>
            </p:nvSpPr>
            <p:spPr>
              <a:xfrm>
                <a:off x="26650837" y="8697841"/>
                <a:ext cx="365760" cy="36576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80" name="Straight Connector 79">
                <a:extLst>
                  <a:ext uri="{FF2B5EF4-FFF2-40B4-BE49-F238E27FC236}">
                    <a16:creationId xmlns:a16="http://schemas.microsoft.com/office/drawing/2014/main" id="{282CDB9F-B8E3-FA45-AFF6-4AF7FE642F74}"/>
                  </a:ext>
                </a:extLst>
              </p:cNvPr>
              <p:cNvCxnSpPr>
                <a:cxnSpLocks/>
                <a:stCxn id="61" idx="4"/>
                <a:endCxn id="69" idx="0"/>
              </p:cNvCxnSpPr>
              <p:nvPr/>
            </p:nvCxnSpPr>
            <p:spPr>
              <a:xfrm>
                <a:off x="24102170" y="10832259"/>
                <a:ext cx="150696" cy="550057"/>
              </a:xfrm>
              <a:prstGeom prst="line">
                <a:avLst/>
              </a:prstGeom>
              <a:ln w="508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7" name="Straight Connector 86">
                <a:extLst>
                  <a:ext uri="{FF2B5EF4-FFF2-40B4-BE49-F238E27FC236}">
                    <a16:creationId xmlns:a16="http://schemas.microsoft.com/office/drawing/2014/main" id="{C6634876-7DC0-38A8-43BF-83FB828FBE1C}"/>
                  </a:ext>
                </a:extLst>
              </p:cNvPr>
              <p:cNvCxnSpPr>
                <a:cxnSpLocks/>
                <a:stCxn id="71" idx="3"/>
              </p:cNvCxnSpPr>
              <p:nvPr/>
            </p:nvCxnSpPr>
            <p:spPr>
              <a:xfrm flipH="1">
                <a:off x="24250717" y="10173251"/>
                <a:ext cx="330033" cy="348381"/>
              </a:xfrm>
              <a:prstGeom prst="line">
                <a:avLst/>
              </a:prstGeom>
              <a:ln w="508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89" name="Straight Connector 88">
                <a:extLst>
                  <a:ext uri="{FF2B5EF4-FFF2-40B4-BE49-F238E27FC236}">
                    <a16:creationId xmlns:a16="http://schemas.microsoft.com/office/drawing/2014/main" id="{B4B7C1DF-39E9-AA1E-6B51-D4A594F20FA5}"/>
                  </a:ext>
                </a:extLst>
              </p:cNvPr>
              <p:cNvCxnSpPr>
                <a:cxnSpLocks/>
                <a:stCxn id="67" idx="5"/>
                <a:endCxn id="61" idx="1"/>
              </p:cNvCxnSpPr>
              <p:nvPr/>
            </p:nvCxnSpPr>
            <p:spPr>
              <a:xfrm>
                <a:off x="23659357" y="10472470"/>
                <a:ext cx="313497" cy="47593"/>
              </a:xfrm>
              <a:prstGeom prst="line">
                <a:avLst/>
              </a:prstGeom>
              <a:ln w="508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2" name="Straight Connector 91">
                <a:extLst>
                  <a:ext uri="{FF2B5EF4-FFF2-40B4-BE49-F238E27FC236}">
                    <a16:creationId xmlns:a16="http://schemas.microsoft.com/office/drawing/2014/main" id="{4DC02E8D-E07A-AB38-FEE2-157CA28BA5CD}"/>
                  </a:ext>
                </a:extLst>
              </p:cNvPr>
              <p:cNvCxnSpPr>
                <a:cxnSpLocks/>
                <a:stCxn id="67" idx="0"/>
                <a:endCxn id="66" idx="4"/>
              </p:cNvCxnSpPr>
              <p:nvPr/>
            </p:nvCxnSpPr>
            <p:spPr>
              <a:xfrm flipH="1" flipV="1">
                <a:off x="23407595" y="9101314"/>
                <a:ext cx="122446" cy="1058960"/>
              </a:xfrm>
              <a:prstGeom prst="line">
                <a:avLst/>
              </a:prstGeom>
              <a:ln w="508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5" name="Straight Connector 94">
                <a:extLst>
                  <a:ext uri="{FF2B5EF4-FFF2-40B4-BE49-F238E27FC236}">
                    <a16:creationId xmlns:a16="http://schemas.microsoft.com/office/drawing/2014/main" id="{D07A5C2F-7919-609D-2717-5FC39ED5DBC5}"/>
                  </a:ext>
                </a:extLst>
              </p:cNvPr>
              <p:cNvCxnSpPr>
                <a:cxnSpLocks/>
                <a:stCxn id="75" idx="1"/>
                <a:endCxn id="71" idx="6"/>
              </p:cNvCxnSpPr>
              <p:nvPr/>
            </p:nvCxnSpPr>
            <p:spPr>
              <a:xfrm flipH="1" flipV="1">
                <a:off x="24892946" y="10043935"/>
                <a:ext cx="750776" cy="437004"/>
              </a:xfrm>
              <a:prstGeom prst="line">
                <a:avLst/>
              </a:prstGeom>
              <a:ln w="50800"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98" name="Straight Connector 97">
                <a:extLst>
                  <a:ext uri="{FF2B5EF4-FFF2-40B4-BE49-F238E27FC236}">
                    <a16:creationId xmlns:a16="http://schemas.microsoft.com/office/drawing/2014/main" id="{41780B23-AC93-BEAE-4877-658CFA620EA3}"/>
                  </a:ext>
                </a:extLst>
              </p:cNvPr>
              <p:cNvCxnSpPr>
                <a:cxnSpLocks/>
                <a:stCxn id="68" idx="0"/>
                <a:endCxn id="75" idx="4"/>
              </p:cNvCxnSpPr>
              <p:nvPr/>
            </p:nvCxnSpPr>
            <p:spPr>
              <a:xfrm flipH="1" flipV="1">
                <a:off x="25773038" y="10793135"/>
                <a:ext cx="180389" cy="772061"/>
              </a:xfrm>
              <a:prstGeom prst="line">
                <a:avLst/>
              </a:prstGeom>
              <a:ln w="508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3" name="Straight Connector 102">
                <a:extLst>
                  <a:ext uri="{FF2B5EF4-FFF2-40B4-BE49-F238E27FC236}">
                    <a16:creationId xmlns:a16="http://schemas.microsoft.com/office/drawing/2014/main" id="{AC5DA782-DD80-21D0-1D26-983E1D5D9536}"/>
                  </a:ext>
                </a:extLst>
              </p:cNvPr>
              <p:cNvCxnSpPr>
                <a:cxnSpLocks/>
                <a:stCxn id="74" idx="3"/>
                <a:endCxn id="75" idx="0"/>
              </p:cNvCxnSpPr>
              <p:nvPr/>
            </p:nvCxnSpPr>
            <p:spPr>
              <a:xfrm flipH="1">
                <a:off x="25773038" y="9901140"/>
                <a:ext cx="309984" cy="526235"/>
              </a:xfrm>
              <a:prstGeom prst="line">
                <a:avLst/>
              </a:prstGeom>
              <a:ln w="508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06" name="Straight Connector 105">
                <a:extLst>
                  <a:ext uri="{FF2B5EF4-FFF2-40B4-BE49-F238E27FC236}">
                    <a16:creationId xmlns:a16="http://schemas.microsoft.com/office/drawing/2014/main" id="{E2B726F2-172A-4A9B-0278-7E92FBF0BDC5}"/>
                  </a:ext>
                </a:extLst>
              </p:cNvPr>
              <p:cNvCxnSpPr>
                <a:cxnSpLocks/>
                <a:stCxn id="78" idx="3"/>
                <a:endCxn id="74" idx="7"/>
              </p:cNvCxnSpPr>
              <p:nvPr/>
            </p:nvCxnSpPr>
            <p:spPr>
              <a:xfrm flipH="1">
                <a:off x="26276996" y="9010037"/>
                <a:ext cx="427405" cy="697129"/>
              </a:xfrm>
              <a:prstGeom prst="line">
                <a:avLst/>
              </a:prstGeom>
              <a:ln w="762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1" name="Straight Connector 110">
                <a:extLst>
                  <a:ext uri="{FF2B5EF4-FFF2-40B4-BE49-F238E27FC236}">
                    <a16:creationId xmlns:a16="http://schemas.microsoft.com/office/drawing/2014/main" id="{73376BB7-8291-9484-6AFA-34BEBE3CBC3D}"/>
                  </a:ext>
                </a:extLst>
              </p:cNvPr>
              <p:cNvCxnSpPr>
                <a:cxnSpLocks/>
                <a:stCxn id="64" idx="3"/>
                <a:endCxn id="71" idx="7"/>
              </p:cNvCxnSpPr>
              <p:nvPr/>
            </p:nvCxnSpPr>
            <p:spPr>
              <a:xfrm flipH="1">
                <a:off x="24839382" y="9357315"/>
                <a:ext cx="483816" cy="557304"/>
              </a:xfrm>
              <a:prstGeom prst="line">
                <a:avLst/>
              </a:prstGeom>
              <a:ln w="508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4" name="Straight Connector 113">
                <a:extLst>
                  <a:ext uri="{FF2B5EF4-FFF2-40B4-BE49-F238E27FC236}">
                    <a16:creationId xmlns:a16="http://schemas.microsoft.com/office/drawing/2014/main" id="{4FEC037D-FC50-2F91-95EB-4FB6EA20DD96}"/>
                  </a:ext>
                </a:extLst>
              </p:cNvPr>
              <p:cNvCxnSpPr>
                <a:cxnSpLocks/>
                <a:stCxn id="77" idx="4"/>
                <a:endCxn id="67" idx="7"/>
              </p:cNvCxnSpPr>
              <p:nvPr/>
            </p:nvCxnSpPr>
            <p:spPr>
              <a:xfrm flipH="1">
                <a:off x="23659357" y="9739118"/>
                <a:ext cx="209316" cy="474720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16" name="Straight Connector 115">
                <a:extLst>
                  <a:ext uri="{FF2B5EF4-FFF2-40B4-BE49-F238E27FC236}">
                    <a16:creationId xmlns:a16="http://schemas.microsoft.com/office/drawing/2014/main" id="{CF1FF087-D668-8B3D-D5C6-CD84E6920EB4}"/>
                  </a:ext>
                </a:extLst>
              </p:cNvPr>
              <p:cNvCxnSpPr>
                <a:cxnSpLocks/>
                <a:stCxn id="76" idx="3"/>
                <a:endCxn id="77" idx="7"/>
              </p:cNvCxnSpPr>
              <p:nvPr/>
            </p:nvCxnSpPr>
            <p:spPr>
              <a:xfrm flipH="1">
                <a:off x="23933331" y="9077446"/>
                <a:ext cx="426295" cy="505574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18" name="Oval 117">
                <a:extLst>
                  <a:ext uri="{FF2B5EF4-FFF2-40B4-BE49-F238E27FC236}">
                    <a16:creationId xmlns:a16="http://schemas.microsoft.com/office/drawing/2014/main" id="{34B967C8-9399-0C39-55A1-DF12FD3EFAD5}"/>
                  </a:ext>
                </a:extLst>
              </p:cNvPr>
              <p:cNvSpPr/>
              <p:nvPr/>
            </p:nvSpPr>
            <p:spPr>
              <a:xfrm>
                <a:off x="24994623" y="11037378"/>
                <a:ext cx="182880" cy="18288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19" name="Straight Connector 118">
                <a:extLst>
                  <a:ext uri="{FF2B5EF4-FFF2-40B4-BE49-F238E27FC236}">
                    <a16:creationId xmlns:a16="http://schemas.microsoft.com/office/drawing/2014/main" id="{9061C291-2595-2BD6-5616-94E886995F34}"/>
                  </a:ext>
                </a:extLst>
              </p:cNvPr>
              <p:cNvCxnSpPr>
                <a:cxnSpLocks/>
                <a:stCxn id="118" idx="4"/>
                <a:endCxn id="70" idx="0"/>
              </p:cNvCxnSpPr>
              <p:nvPr/>
            </p:nvCxnSpPr>
            <p:spPr>
              <a:xfrm flipH="1">
                <a:off x="24935555" y="11220258"/>
                <a:ext cx="150508" cy="590243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2" name="Straight Connector 121">
                <a:extLst>
                  <a:ext uri="{FF2B5EF4-FFF2-40B4-BE49-F238E27FC236}">
                    <a16:creationId xmlns:a16="http://schemas.microsoft.com/office/drawing/2014/main" id="{8CCC1DA7-5E5A-9B5A-D3CE-25A2B0321501}"/>
                  </a:ext>
                </a:extLst>
              </p:cNvPr>
              <p:cNvCxnSpPr>
                <a:cxnSpLocks/>
                <a:stCxn id="71" idx="4"/>
                <a:endCxn id="118" idx="0"/>
              </p:cNvCxnSpPr>
              <p:nvPr/>
            </p:nvCxnSpPr>
            <p:spPr>
              <a:xfrm>
                <a:off x="24710066" y="10226815"/>
                <a:ext cx="375997" cy="810563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25" name="Straight Connector 124">
                <a:extLst>
                  <a:ext uri="{FF2B5EF4-FFF2-40B4-BE49-F238E27FC236}">
                    <a16:creationId xmlns:a16="http://schemas.microsoft.com/office/drawing/2014/main" id="{6B0EFB73-8360-7E1D-07CA-0C048C58EE61}"/>
                  </a:ext>
                </a:extLst>
              </p:cNvPr>
              <p:cNvCxnSpPr>
                <a:cxnSpLocks/>
                <a:stCxn id="128" idx="1"/>
                <a:endCxn id="118" idx="6"/>
              </p:cNvCxnSpPr>
              <p:nvPr/>
            </p:nvCxnSpPr>
            <p:spPr>
              <a:xfrm flipH="1" flipV="1">
                <a:off x="25177503" y="11128818"/>
                <a:ext cx="335522" cy="251111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28" name="Oval 127">
                <a:extLst>
                  <a:ext uri="{FF2B5EF4-FFF2-40B4-BE49-F238E27FC236}">
                    <a16:creationId xmlns:a16="http://schemas.microsoft.com/office/drawing/2014/main" id="{E82156DA-0911-C42C-4AA3-5BE7DE85623E}"/>
                  </a:ext>
                </a:extLst>
              </p:cNvPr>
              <p:cNvSpPr/>
              <p:nvPr/>
            </p:nvSpPr>
            <p:spPr>
              <a:xfrm>
                <a:off x="25486243" y="11353147"/>
                <a:ext cx="182880" cy="18288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31" name="Straight Connector 130">
                <a:extLst>
                  <a:ext uri="{FF2B5EF4-FFF2-40B4-BE49-F238E27FC236}">
                    <a16:creationId xmlns:a16="http://schemas.microsoft.com/office/drawing/2014/main" id="{FA3D4516-A263-C1E4-D8A7-1D4141687563}"/>
                  </a:ext>
                </a:extLst>
              </p:cNvPr>
              <p:cNvCxnSpPr>
                <a:cxnSpLocks/>
                <a:stCxn id="128" idx="0"/>
                <a:endCxn id="75" idx="3"/>
              </p:cNvCxnSpPr>
              <p:nvPr/>
            </p:nvCxnSpPr>
            <p:spPr>
              <a:xfrm flipV="1">
                <a:off x="25577683" y="10739571"/>
                <a:ext cx="66039" cy="613576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34" name="Straight Connector 133">
                <a:extLst>
                  <a:ext uri="{FF2B5EF4-FFF2-40B4-BE49-F238E27FC236}">
                    <a16:creationId xmlns:a16="http://schemas.microsoft.com/office/drawing/2014/main" id="{49D25C21-BBCF-CBE2-022D-7B4F526D1A4F}"/>
                  </a:ext>
                </a:extLst>
              </p:cNvPr>
              <p:cNvCxnSpPr>
                <a:cxnSpLocks/>
                <a:stCxn id="128" idx="3"/>
                <a:endCxn id="70" idx="7"/>
              </p:cNvCxnSpPr>
              <p:nvPr/>
            </p:nvCxnSpPr>
            <p:spPr>
              <a:xfrm flipH="1">
                <a:off x="25064871" y="11509245"/>
                <a:ext cx="448154" cy="354820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37" name="Oval 136">
                <a:extLst>
                  <a:ext uri="{FF2B5EF4-FFF2-40B4-BE49-F238E27FC236}">
                    <a16:creationId xmlns:a16="http://schemas.microsoft.com/office/drawing/2014/main" id="{730D1484-887E-966B-1870-70C927BAF375}"/>
                  </a:ext>
                </a:extLst>
              </p:cNvPr>
              <p:cNvSpPr/>
              <p:nvPr/>
            </p:nvSpPr>
            <p:spPr>
              <a:xfrm>
                <a:off x="23095349" y="10821158"/>
                <a:ext cx="91440" cy="9144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38" name="Straight Connector 137">
                <a:extLst>
                  <a:ext uri="{FF2B5EF4-FFF2-40B4-BE49-F238E27FC236}">
                    <a16:creationId xmlns:a16="http://schemas.microsoft.com/office/drawing/2014/main" id="{3ED6F1A8-64C5-4FBD-ED28-2425038906F9}"/>
                  </a:ext>
                </a:extLst>
              </p:cNvPr>
              <p:cNvCxnSpPr>
                <a:cxnSpLocks/>
                <a:stCxn id="67" idx="3"/>
                <a:endCxn id="137" idx="0"/>
              </p:cNvCxnSpPr>
              <p:nvPr/>
            </p:nvCxnSpPr>
            <p:spPr>
              <a:xfrm flipH="1">
                <a:off x="23141069" y="10472470"/>
                <a:ext cx="259656" cy="348688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5" name="Straight Connector 144">
                <a:extLst>
                  <a:ext uri="{FF2B5EF4-FFF2-40B4-BE49-F238E27FC236}">
                    <a16:creationId xmlns:a16="http://schemas.microsoft.com/office/drawing/2014/main" id="{80DAD4F3-F8F8-7D2C-E3E0-1E01FF6A1E98}"/>
                  </a:ext>
                </a:extLst>
              </p:cNvPr>
              <p:cNvCxnSpPr>
                <a:cxnSpLocks/>
                <a:stCxn id="69" idx="3"/>
              </p:cNvCxnSpPr>
              <p:nvPr/>
            </p:nvCxnSpPr>
            <p:spPr>
              <a:xfrm flipH="1">
                <a:off x="23659357" y="11694512"/>
                <a:ext cx="464193" cy="226619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48" name="Straight Connector 147">
                <a:extLst>
                  <a:ext uri="{FF2B5EF4-FFF2-40B4-BE49-F238E27FC236}">
                    <a16:creationId xmlns:a16="http://schemas.microsoft.com/office/drawing/2014/main" id="{0738F8D5-3D71-2906-6EAA-3F2EF4F6F67E}"/>
                  </a:ext>
                </a:extLst>
              </p:cNvPr>
              <p:cNvCxnSpPr>
                <a:cxnSpLocks/>
                <a:endCxn id="68" idx="6"/>
              </p:cNvCxnSpPr>
              <p:nvPr/>
            </p:nvCxnSpPr>
            <p:spPr>
              <a:xfrm flipH="1" flipV="1">
                <a:off x="26136307" y="11748076"/>
                <a:ext cx="430553" cy="62425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1" name="Straight Connector 150">
                <a:extLst>
                  <a:ext uri="{FF2B5EF4-FFF2-40B4-BE49-F238E27FC236}">
                    <a16:creationId xmlns:a16="http://schemas.microsoft.com/office/drawing/2014/main" id="{4A08E32B-AB8D-6DFD-A566-6F398B61C6E5}"/>
                  </a:ext>
                </a:extLst>
              </p:cNvPr>
              <p:cNvCxnSpPr>
                <a:cxnSpLocks/>
                <a:stCxn id="78" idx="5"/>
                <a:endCxn id="73" idx="0"/>
              </p:cNvCxnSpPr>
              <p:nvPr/>
            </p:nvCxnSpPr>
            <p:spPr>
              <a:xfrm>
                <a:off x="26963033" y="9010037"/>
                <a:ext cx="455397" cy="1483217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54" name="Straight Connector 153">
                <a:extLst>
                  <a:ext uri="{FF2B5EF4-FFF2-40B4-BE49-F238E27FC236}">
                    <a16:creationId xmlns:a16="http://schemas.microsoft.com/office/drawing/2014/main" id="{3FE53B7B-C883-EACC-CF35-2ED799193B26}"/>
                  </a:ext>
                </a:extLst>
              </p:cNvPr>
              <p:cNvCxnSpPr>
                <a:cxnSpLocks/>
                <a:stCxn id="74" idx="5"/>
                <a:endCxn id="73" idx="1"/>
              </p:cNvCxnSpPr>
              <p:nvPr/>
            </p:nvCxnSpPr>
            <p:spPr>
              <a:xfrm>
                <a:off x="26276996" y="9901140"/>
                <a:ext cx="1012118" cy="645678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57" name="Oval 156">
                <a:extLst>
                  <a:ext uri="{FF2B5EF4-FFF2-40B4-BE49-F238E27FC236}">
                    <a16:creationId xmlns:a16="http://schemas.microsoft.com/office/drawing/2014/main" id="{42D78407-DECB-7619-CCF4-E830BAB4F148}"/>
                  </a:ext>
                </a:extLst>
              </p:cNvPr>
              <p:cNvSpPr/>
              <p:nvPr/>
            </p:nvSpPr>
            <p:spPr>
              <a:xfrm>
                <a:off x="27725710" y="9386575"/>
                <a:ext cx="182880" cy="18288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58" name="Straight Connector 157">
                <a:extLst>
                  <a:ext uri="{FF2B5EF4-FFF2-40B4-BE49-F238E27FC236}">
                    <a16:creationId xmlns:a16="http://schemas.microsoft.com/office/drawing/2014/main" id="{E7693FC6-61A3-1CED-960A-3E40BE5955E1}"/>
                  </a:ext>
                </a:extLst>
              </p:cNvPr>
              <p:cNvCxnSpPr>
                <a:cxnSpLocks/>
                <a:stCxn id="78" idx="6"/>
                <a:endCxn id="157" idx="1"/>
              </p:cNvCxnSpPr>
              <p:nvPr/>
            </p:nvCxnSpPr>
            <p:spPr>
              <a:xfrm>
                <a:off x="27016597" y="8880721"/>
                <a:ext cx="735895" cy="532636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1" name="Straight Connector 160">
                <a:extLst>
                  <a:ext uri="{FF2B5EF4-FFF2-40B4-BE49-F238E27FC236}">
                    <a16:creationId xmlns:a16="http://schemas.microsoft.com/office/drawing/2014/main" id="{99119558-F4D2-9018-1B51-2DA24BC87B5D}"/>
                  </a:ext>
                </a:extLst>
              </p:cNvPr>
              <p:cNvCxnSpPr>
                <a:cxnSpLocks/>
                <a:stCxn id="157" idx="4"/>
                <a:endCxn id="73" idx="7"/>
              </p:cNvCxnSpPr>
              <p:nvPr/>
            </p:nvCxnSpPr>
            <p:spPr>
              <a:xfrm flipH="1">
                <a:off x="27547746" y="9569455"/>
                <a:ext cx="269404" cy="977363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64" name="Straight Connector 163">
                <a:extLst>
                  <a:ext uri="{FF2B5EF4-FFF2-40B4-BE49-F238E27FC236}">
                    <a16:creationId xmlns:a16="http://schemas.microsoft.com/office/drawing/2014/main" id="{713FC9A2-EAB7-E544-3C33-C65B1230B7A9}"/>
                  </a:ext>
                </a:extLst>
              </p:cNvPr>
              <p:cNvCxnSpPr>
                <a:cxnSpLocks/>
                <a:stCxn id="78" idx="1"/>
                <a:endCxn id="167" idx="6"/>
              </p:cNvCxnSpPr>
              <p:nvPr/>
            </p:nvCxnSpPr>
            <p:spPr>
              <a:xfrm flipH="1" flipV="1">
                <a:off x="26169732" y="8605184"/>
                <a:ext cx="534669" cy="146221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7" name="Oval 166">
                <a:extLst>
                  <a:ext uri="{FF2B5EF4-FFF2-40B4-BE49-F238E27FC236}">
                    <a16:creationId xmlns:a16="http://schemas.microsoft.com/office/drawing/2014/main" id="{40BD1D2E-22B7-7833-7696-A293B9DE7396}"/>
                  </a:ext>
                </a:extLst>
              </p:cNvPr>
              <p:cNvSpPr/>
              <p:nvPr/>
            </p:nvSpPr>
            <p:spPr>
              <a:xfrm>
                <a:off x="26078292" y="8559464"/>
                <a:ext cx="91440" cy="9144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0" name="Oval 169">
                <a:extLst>
                  <a:ext uri="{FF2B5EF4-FFF2-40B4-BE49-F238E27FC236}">
                    <a16:creationId xmlns:a16="http://schemas.microsoft.com/office/drawing/2014/main" id="{5D846813-DE8E-01C6-4D17-5480C8C2DCA3}"/>
                  </a:ext>
                </a:extLst>
              </p:cNvPr>
              <p:cNvSpPr/>
              <p:nvPr/>
            </p:nvSpPr>
            <p:spPr>
              <a:xfrm>
                <a:off x="26738585" y="10161610"/>
                <a:ext cx="182880" cy="182880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71" name="Straight Connector 170">
                <a:extLst>
                  <a:ext uri="{FF2B5EF4-FFF2-40B4-BE49-F238E27FC236}">
                    <a16:creationId xmlns:a16="http://schemas.microsoft.com/office/drawing/2014/main" id="{74276BD0-F9DA-0746-A296-15F7E5DDD618}"/>
                  </a:ext>
                </a:extLst>
              </p:cNvPr>
              <p:cNvCxnSpPr>
                <a:cxnSpLocks/>
                <a:stCxn id="170" idx="3"/>
                <a:endCxn id="175" idx="0"/>
              </p:cNvCxnSpPr>
              <p:nvPr/>
            </p:nvCxnSpPr>
            <p:spPr>
              <a:xfrm flipH="1">
                <a:off x="26443612" y="10317708"/>
                <a:ext cx="321755" cy="508169"/>
              </a:xfrm>
              <a:prstGeom prst="line">
                <a:avLst/>
              </a:prstGeom>
              <a:ln w="25400">
                <a:solidFill>
                  <a:schemeClr val="bg1">
                    <a:lumMod val="85000"/>
                  </a:schemeClr>
                </a:solidFill>
                <a:prstDash val="dash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75" name="Oval 174">
                <a:extLst>
                  <a:ext uri="{FF2B5EF4-FFF2-40B4-BE49-F238E27FC236}">
                    <a16:creationId xmlns:a16="http://schemas.microsoft.com/office/drawing/2014/main" id="{115FC243-DD34-D4EF-76B2-1B2D6F89B2CC}"/>
                  </a:ext>
                </a:extLst>
              </p:cNvPr>
              <p:cNvSpPr/>
              <p:nvPr/>
            </p:nvSpPr>
            <p:spPr>
              <a:xfrm>
                <a:off x="26411608" y="10825877"/>
                <a:ext cx="64008" cy="64008"/>
              </a:xfrm>
              <a:prstGeom prst="ellipse">
                <a:avLst/>
              </a:prstGeom>
              <a:solidFill>
                <a:schemeClr val="bg1">
                  <a:lumMod val="85000"/>
                </a:schemeClr>
              </a:solidFill>
              <a:ln>
                <a:solidFill>
                  <a:schemeClr val="bg2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78" name="TextBox 177">
                <a:extLst>
                  <a:ext uri="{FF2B5EF4-FFF2-40B4-BE49-F238E27FC236}">
                    <a16:creationId xmlns:a16="http://schemas.microsoft.com/office/drawing/2014/main" id="{17FE7864-8E46-DD64-79BB-170C85B1E717}"/>
                  </a:ext>
                </a:extLst>
              </p:cNvPr>
              <p:cNvSpPr txBox="1"/>
              <p:nvPr/>
            </p:nvSpPr>
            <p:spPr>
              <a:xfrm>
                <a:off x="25679400" y="8951972"/>
                <a:ext cx="628698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1" i="1" dirty="0" err="1"/>
                  <a:t>w</a:t>
                </a:r>
                <a:r>
                  <a:rPr lang="en-US" sz="3200" b="1" i="1" baseline="-25000" dirty="0" err="1"/>
                  <a:t>ij</a:t>
                </a:r>
                <a:endParaRPr lang="en-US" sz="3200" b="1" i="1" baseline="-25000" dirty="0"/>
              </a:p>
            </p:txBody>
          </p:sp>
          <p:sp>
            <p:nvSpPr>
              <p:cNvPr id="180" name="TextBox 179">
                <a:extLst>
                  <a:ext uri="{FF2B5EF4-FFF2-40B4-BE49-F238E27FC236}">
                    <a16:creationId xmlns:a16="http://schemas.microsoft.com/office/drawing/2014/main" id="{B0F6A7EE-488E-F511-1116-88D809B0994F}"/>
                  </a:ext>
                </a:extLst>
              </p:cNvPr>
              <p:cNvSpPr txBox="1"/>
              <p:nvPr/>
            </p:nvSpPr>
            <p:spPr>
              <a:xfrm>
                <a:off x="26993944" y="8483025"/>
                <a:ext cx="285656" cy="584775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en-US" sz="3200" b="1" i="1" dirty="0" err="1"/>
                  <a:t>i</a:t>
                </a:r>
                <a:endParaRPr lang="en-US" sz="3200" b="1" i="1" baseline="-25000" dirty="0"/>
              </a:p>
            </p:txBody>
          </p:sp>
          <p:sp>
            <p:nvSpPr>
              <p:cNvPr id="181" name="TextBox 180">
                <a:extLst>
                  <a:ext uri="{FF2B5EF4-FFF2-40B4-BE49-F238E27FC236}">
                    <a16:creationId xmlns:a16="http://schemas.microsoft.com/office/drawing/2014/main" id="{EB40F234-F35C-9AB0-9CA8-217AAC0BCFA9}"/>
                  </a:ext>
                </a:extLst>
              </p:cNvPr>
              <p:cNvSpPr txBox="1"/>
              <p:nvPr/>
            </p:nvSpPr>
            <p:spPr>
              <a:xfrm flipH="1">
                <a:off x="26279718" y="9556238"/>
                <a:ext cx="390282" cy="584775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sz="3200" b="1" i="1" dirty="0"/>
                  <a:t>j</a:t>
                </a:r>
                <a:endParaRPr lang="en-US" sz="3200" b="1" i="1" baseline="-25000" dirty="0"/>
              </a:p>
            </p:txBody>
          </p:sp>
        </p:grp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9AA0573C-21EF-7F66-8029-ABE1485B6E24}"/>
                    </a:ext>
                  </a:extLst>
                </p:cNvPr>
                <p:cNvSpPr txBox="1"/>
                <p:nvPr/>
              </p:nvSpPr>
              <p:spPr>
                <a:xfrm>
                  <a:off x="23176923" y="17110264"/>
                  <a:ext cx="5190725" cy="2015936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wrap="square" lIns="0" tIns="0" rIns="0" bIns="0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5400" b="1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5400" b="1" i="1" smtClean="0">
                                <a:latin typeface="Cambria Math" panose="02040503050406030204" pitchFamily="18" charset="0"/>
                              </a:rPr>
                              <m:t>𝑪</m:t>
                            </m:r>
                          </m:e>
                          <m:sub>
                            <m:r>
                              <a:rPr lang="en-US" sz="5400" b="1" i="1" smtClean="0">
                                <a:latin typeface="Cambria Math" panose="02040503050406030204" pitchFamily="18" charset="0"/>
                              </a:rPr>
                              <m:t>𝑩</m:t>
                            </m:r>
                          </m:sub>
                        </m:sSub>
                        <m:r>
                          <a:rPr lang="en-US" sz="5400" b="1" i="1" smtClean="0">
                            <a:latin typeface="Cambria Math" panose="02040503050406030204" pitchFamily="18" charset="0"/>
                          </a:rPr>
                          <m:t>= </m:t>
                        </m:r>
                        <m:nary>
                          <m:naryPr>
                            <m:chr m:val="∑"/>
                            <m:supHide m:val="on"/>
                            <m:ctrlPr>
                              <a:rPr lang="en-US" sz="5400" b="1" i="1" smtClean="0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7"/>
                              </m:rPr>
                              <a:rPr lang="en-US" sz="5400" b="1" i="1" smtClean="0">
                                <a:latin typeface="Cambria Math" panose="02040503050406030204" pitchFamily="18" charset="0"/>
                              </a:rPr>
                              <m:t>𝒔</m:t>
                            </m:r>
                            <m:r>
                              <a:rPr lang="en-US" sz="5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≠</m:t>
                            </m:r>
                            <m:r>
                              <a:rPr lang="en-US" sz="5400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𝒕</m:t>
                            </m:r>
                          </m:sub>
                          <m:sup/>
                          <m:e>
                            <m:f>
                              <m:fPr>
                                <m:ctrlPr>
                                  <a:rPr lang="en-US" sz="5400" b="1" i="1" smtClean="0">
                                    <a:latin typeface="Cambria Math" panose="02040503050406030204" pitchFamily="18" charset="0"/>
                                  </a:rPr>
                                </m:ctrlPr>
                              </m:fPr>
                              <m:num>
                                <m:sSub>
                                  <m:sSubPr>
                                    <m:ctrlPr>
                                      <a:rPr lang="en-US" sz="54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4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en-US" sz="5400" b="1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𝒔𝒕</m:t>
                                    </m:r>
                                  </m:sub>
                                </m:sSub>
                                <m:r>
                                  <a:rPr lang="en-US" sz="5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5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𝒆</m:t>
                                </m:r>
                                <m:r>
                                  <a:rPr lang="en-US" sz="5400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num>
                              <m:den>
                                <m:sSub>
                                  <m:sSubPr>
                                    <m:ctrlPr>
                                      <a:rPr lang="en-US" sz="5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5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𝝈</m:t>
                                    </m:r>
                                  </m:e>
                                  <m:sub>
                                    <m:r>
                                      <a:rPr lang="en-US" sz="5400" b="1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𝒔𝒕</m:t>
                                    </m:r>
                                  </m:sub>
                                </m:sSub>
                              </m:den>
                            </m:f>
                          </m:e>
                        </m:nary>
                        <m:r>
                          <a:rPr lang="en-US" sz="5400" b="1" i="1" smtClean="0">
                            <a:latin typeface="Cambria Math" panose="02040503050406030204" pitchFamily="18" charset="0"/>
                          </a:rPr>
                          <m:t> </m:t>
                        </m:r>
                      </m:oMath>
                    </m:oMathPara>
                  </a14:m>
                  <a:endParaRPr lang="en-US" sz="5400" b="1" dirty="0"/>
                </a:p>
              </p:txBody>
            </p:sp>
          </mc:Choice>
          <mc:Fallback>
            <p:sp>
              <p:nvSpPr>
                <p:cNvPr id="182" name="TextBox 181">
                  <a:extLst>
                    <a:ext uri="{FF2B5EF4-FFF2-40B4-BE49-F238E27FC236}">
                      <a16:creationId xmlns:a16="http://schemas.microsoft.com/office/drawing/2014/main" id="{9AA0573C-21EF-7F66-8029-ABE1485B6E2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176923" y="17110264"/>
                  <a:ext cx="5190725" cy="2015936"/>
                </a:xfrm>
                <a:prstGeom prst="rect">
                  <a:avLst/>
                </a:prstGeom>
                <a:blipFill>
                  <a:blip r:embed="rId8"/>
                  <a:stretch>
                    <a:fillRect l="-11707" t="-147500" r="-3902" b="-203750"/>
                  </a:stretch>
                </a:blipFill>
                <a:ln>
                  <a:noFill/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>
          <mc:Choice xmlns:a14="http://schemas.microsoft.com/office/drawing/2010/main" Requires="a14"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717170D9-81EE-CCB9-711D-BC578DC3A4B0}"/>
                    </a:ext>
                  </a:extLst>
                </p:cNvPr>
                <p:cNvSpPr txBox="1"/>
                <p:nvPr/>
              </p:nvSpPr>
              <p:spPr>
                <a:xfrm>
                  <a:off x="23270573" y="19828014"/>
                  <a:ext cx="4771027" cy="1323439"/>
                </a:xfrm>
                <a:prstGeom prst="rect">
                  <a:avLst/>
                </a:prstGeom>
                <a:noFill/>
                <a:ln>
                  <a:solidFill>
                    <a:schemeClr val="tx2">
                      <a:lumMod val="25000"/>
                      <a:lumOff val="75000"/>
                    </a:schemeClr>
                  </a:solidFill>
                </a:ln>
              </p:spPr>
              <p:txBody>
                <a:bodyPr wrap="square" rtlCol="0">
                  <a:spAutoFit/>
                </a:bodyPr>
                <a:lstStyle/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i="1" smtClean="0"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000" i="1">
                              <a:ea typeface="Cambria Math" panose="02040503050406030204" pitchFamily="18" charset="0"/>
                            </a:rPr>
                            <m:t>𝑠𝑡</m:t>
                          </m:r>
                        </m:sub>
                      </m:sSub>
                    </m:oMath>
                  </a14:m>
                  <a:r>
                    <a:rPr lang="en-US" sz="2000" dirty="0"/>
                    <a:t>: number of shortest paths </a:t>
                  </a:r>
                </a:p>
                <a:p>
                  <a:r>
                    <a:rPr lang="en-US" sz="2000" dirty="0"/>
                    <a:t>between nodes </a:t>
                  </a:r>
                  <a:r>
                    <a:rPr lang="en-US" sz="2000" i="1" dirty="0"/>
                    <a:t>s</a:t>
                  </a:r>
                  <a:r>
                    <a:rPr lang="en-US" sz="2000" dirty="0"/>
                    <a:t> and </a:t>
                  </a:r>
                  <a:r>
                    <a:rPr lang="en-US" sz="2000" i="1" dirty="0"/>
                    <a:t>t</a:t>
                  </a:r>
                  <a:endParaRPr lang="en-US" sz="2000" i="1" dirty="0">
                    <a:ea typeface="Cambria Math" panose="02040503050406030204" pitchFamily="18" charset="0"/>
                  </a:endParaRPr>
                </a:p>
                <a:p>
                  <a14:m>
                    <m:oMath xmlns:m="http://schemas.openxmlformats.org/officeDocument/2006/math">
                      <m:sSub>
                        <m:sSubPr>
                          <m:ctrlPr>
                            <a:rPr lang="en-US" sz="2000" i="1"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i="1">
                              <a:ea typeface="Cambria Math" panose="02040503050406030204" pitchFamily="18" charset="0"/>
                            </a:rPr>
                            <m:t>𝜎</m:t>
                          </m:r>
                        </m:e>
                        <m:sub>
                          <m:r>
                            <a:rPr lang="en-US" sz="2000" i="1">
                              <a:ea typeface="Cambria Math" panose="02040503050406030204" pitchFamily="18" charset="0"/>
                            </a:rPr>
                            <m:t>𝑠𝑡</m:t>
                          </m:r>
                        </m:sub>
                      </m:sSub>
                      <m:r>
                        <a:rPr lang="en-US" sz="2000" i="1">
                          <a:ea typeface="Cambria Math" panose="02040503050406030204" pitchFamily="18" charset="0"/>
                        </a:rPr>
                        <m:t>(</m:t>
                      </m:r>
                      <m:r>
                        <a:rPr lang="en-US" sz="2000" i="1">
                          <a:ea typeface="Cambria Math" panose="02040503050406030204" pitchFamily="18" charset="0"/>
                        </a:rPr>
                        <m:t>𝑒</m:t>
                      </m:r>
                      <m:r>
                        <a:rPr lang="en-US" sz="2000" i="1">
                          <a:ea typeface="Cambria Math" panose="02040503050406030204" pitchFamily="18" charset="0"/>
                        </a:rPr>
                        <m:t>)</m:t>
                      </m:r>
                    </m:oMath>
                  </a14:m>
                  <a:r>
                    <a:rPr lang="en-US" sz="2000" dirty="0"/>
                    <a:t>: number of those paths </a:t>
                  </a:r>
                </a:p>
                <a:p>
                  <a:r>
                    <a:rPr lang="en-US" sz="2000" dirty="0"/>
                    <a:t>that include edge </a:t>
                  </a:r>
                  <a:r>
                    <a:rPr lang="en-US" sz="2000" i="1" dirty="0"/>
                    <a:t>e</a:t>
                  </a:r>
                </a:p>
              </p:txBody>
            </p:sp>
          </mc:Choice>
          <mc:Fallback>
            <p:sp>
              <p:nvSpPr>
                <p:cNvPr id="184" name="TextBox 183">
                  <a:extLst>
                    <a:ext uri="{FF2B5EF4-FFF2-40B4-BE49-F238E27FC236}">
                      <a16:creationId xmlns:a16="http://schemas.microsoft.com/office/drawing/2014/main" id="{717170D9-81EE-CCB9-711D-BC578DC3A4B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3270573" y="19828014"/>
                  <a:ext cx="4771027" cy="1323439"/>
                </a:xfrm>
                <a:prstGeom prst="rect">
                  <a:avLst/>
                </a:prstGeom>
                <a:blipFill>
                  <a:blip r:embed="rId9"/>
                  <a:stretch>
                    <a:fillRect l="-1326" t="-1869" b="-6542"/>
                  </a:stretch>
                </a:blipFill>
                <a:ln>
                  <a:solidFill>
                    <a:schemeClr val="tx2">
                      <a:lumMod val="25000"/>
                      <a:lumOff val="75000"/>
                    </a:schemeClr>
                  </a:solidFill>
                </a:ln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231" name="TextBox 230">
              <a:extLst>
                <a:ext uri="{FF2B5EF4-FFF2-40B4-BE49-F238E27FC236}">
                  <a16:creationId xmlns:a16="http://schemas.microsoft.com/office/drawing/2014/main" id="{2A0A228C-73D4-9E19-3FDA-424A059F4C50}"/>
                </a:ext>
              </a:extLst>
            </p:cNvPr>
            <p:cNvSpPr txBox="1"/>
            <p:nvPr/>
          </p:nvSpPr>
          <p:spPr>
            <a:xfrm>
              <a:off x="21443244" y="22677329"/>
              <a:ext cx="65" cy="13234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endParaRPr lang="en-US" dirty="0"/>
            </a:p>
          </p:txBody>
        </p:sp>
        <p:grpSp>
          <p:nvGrpSpPr>
            <p:cNvPr id="235" name="Group 234">
              <a:extLst>
                <a:ext uri="{FF2B5EF4-FFF2-40B4-BE49-F238E27FC236}">
                  <a16:creationId xmlns:a16="http://schemas.microsoft.com/office/drawing/2014/main" id="{2AFF4315-5835-9854-5845-CFBE85698F3A}"/>
                </a:ext>
              </a:extLst>
            </p:cNvPr>
            <p:cNvGrpSpPr/>
            <p:nvPr/>
          </p:nvGrpSpPr>
          <p:grpSpPr>
            <a:xfrm>
              <a:off x="23727237" y="30131779"/>
              <a:ext cx="3957936" cy="2558021"/>
              <a:chOff x="24129384" y="22400418"/>
              <a:chExt cx="3957936" cy="2558021"/>
            </a:xfrm>
          </p:grpSpPr>
          <p:sp>
            <p:nvSpPr>
              <p:cNvPr id="188" name="Oval 187">
                <a:extLst>
                  <a:ext uri="{FF2B5EF4-FFF2-40B4-BE49-F238E27FC236}">
                    <a16:creationId xmlns:a16="http://schemas.microsoft.com/office/drawing/2014/main" id="{1743F8F2-BC43-8FA3-46E3-D8CF39B1B34A}"/>
                  </a:ext>
                </a:extLst>
              </p:cNvPr>
              <p:cNvSpPr/>
              <p:nvPr/>
            </p:nvSpPr>
            <p:spPr>
              <a:xfrm>
                <a:off x="25725120" y="22400418"/>
                <a:ext cx="274320" cy="27432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89" name="Oval 188">
                <a:extLst>
                  <a:ext uri="{FF2B5EF4-FFF2-40B4-BE49-F238E27FC236}">
                    <a16:creationId xmlns:a16="http://schemas.microsoft.com/office/drawing/2014/main" id="{9E06C1C2-DDA5-10E1-F2B7-2101A5586F57}"/>
                  </a:ext>
                </a:extLst>
              </p:cNvPr>
              <p:cNvSpPr/>
              <p:nvPr/>
            </p:nvSpPr>
            <p:spPr>
              <a:xfrm>
                <a:off x="26189050" y="23210519"/>
                <a:ext cx="274320" cy="27432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0" name="Oval 189">
                <a:extLst>
                  <a:ext uri="{FF2B5EF4-FFF2-40B4-BE49-F238E27FC236}">
                    <a16:creationId xmlns:a16="http://schemas.microsoft.com/office/drawing/2014/main" id="{14391F1B-9FD5-8E86-A309-023F373E0277}"/>
                  </a:ext>
                </a:extLst>
              </p:cNvPr>
              <p:cNvSpPr/>
              <p:nvPr/>
            </p:nvSpPr>
            <p:spPr>
              <a:xfrm>
                <a:off x="26646845" y="23958144"/>
                <a:ext cx="274320" cy="27432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1" name="Oval 190">
                <a:extLst>
                  <a:ext uri="{FF2B5EF4-FFF2-40B4-BE49-F238E27FC236}">
                    <a16:creationId xmlns:a16="http://schemas.microsoft.com/office/drawing/2014/main" id="{90CE3B07-7F3E-50E8-9629-BB6CE9CBA52F}"/>
                  </a:ext>
                </a:extLst>
              </p:cNvPr>
              <p:cNvSpPr/>
              <p:nvPr/>
            </p:nvSpPr>
            <p:spPr>
              <a:xfrm>
                <a:off x="27052670" y="24481616"/>
                <a:ext cx="274320" cy="27432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192" name="Oval 191">
                <a:extLst>
                  <a:ext uri="{FF2B5EF4-FFF2-40B4-BE49-F238E27FC236}">
                    <a16:creationId xmlns:a16="http://schemas.microsoft.com/office/drawing/2014/main" id="{E858DB71-591D-1064-D9AA-2CC8B70950A3}"/>
                  </a:ext>
                </a:extLst>
              </p:cNvPr>
              <p:cNvSpPr/>
              <p:nvPr/>
            </p:nvSpPr>
            <p:spPr>
              <a:xfrm>
                <a:off x="27813000" y="24684119"/>
                <a:ext cx="274320" cy="274320"/>
              </a:xfrm>
              <a:prstGeom prst="ellipse">
                <a:avLst/>
              </a:prstGeom>
              <a:solidFill>
                <a:schemeClr val="bg1">
                  <a:lumMod val="50000"/>
                </a:schemeClr>
              </a:solidFill>
              <a:ln>
                <a:solidFill>
                  <a:schemeClr val="tx1"/>
                </a:solidFill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cxnSp>
            <p:nvCxnSpPr>
              <p:cNvPr id="193" name="Straight Connector 192">
                <a:extLst>
                  <a:ext uri="{FF2B5EF4-FFF2-40B4-BE49-F238E27FC236}">
                    <a16:creationId xmlns:a16="http://schemas.microsoft.com/office/drawing/2014/main" id="{3A102B93-61E9-3A23-9F45-74C11B93465E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7235550" y="24684119"/>
                <a:ext cx="757839" cy="127968"/>
              </a:xfrm>
              <a:prstGeom prst="line">
                <a:avLst/>
              </a:prstGeom>
              <a:ln w="508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5" name="Straight Connector 194">
                <a:extLst>
                  <a:ext uri="{FF2B5EF4-FFF2-40B4-BE49-F238E27FC236}">
                    <a16:creationId xmlns:a16="http://schemas.microsoft.com/office/drawing/2014/main" id="{C0F3EEB7-7AE7-D294-7030-DD2E96D8E86E}"/>
                  </a:ext>
                </a:extLst>
              </p:cNvPr>
              <p:cNvCxnSpPr>
                <a:cxnSpLocks/>
                <a:stCxn id="191" idx="5"/>
              </p:cNvCxnSpPr>
              <p:nvPr/>
            </p:nvCxnSpPr>
            <p:spPr>
              <a:xfrm flipH="1" flipV="1">
                <a:off x="26746200" y="24077990"/>
                <a:ext cx="540617" cy="637773"/>
              </a:xfrm>
              <a:prstGeom prst="line">
                <a:avLst/>
              </a:prstGeom>
              <a:ln w="508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198" name="Straight Connector 197">
                <a:extLst>
                  <a:ext uri="{FF2B5EF4-FFF2-40B4-BE49-F238E27FC236}">
                    <a16:creationId xmlns:a16="http://schemas.microsoft.com/office/drawing/2014/main" id="{E63B81F8-E38D-EB46-9E2A-29C1BC36851D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6317169" y="23317200"/>
                <a:ext cx="429031" cy="762000"/>
              </a:xfrm>
              <a:prstGeom prst="line">
                <a:avLst/>
              </a:prstGeom>
              <a:ln w="508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00" name="Straight Connector 199">
                <a:extLst>
                  <a:ext uri="{FF2B5EF4-FFF2-40B4-BE49-F238E27FC236}">
                    <a16:creationId xmlns:a16="http://schemas.microsoft.com/office/drawing/2014/main" id="{DCAC70D3-A6F8-D519-C12C-88EC53D22964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5863232" y="22555200"/>
                <a:ext cx="453937" cy="762000"/>
              </a:xfrm>
              <a:prstGeom prst="line">
                <a:avLst/>
              </a:prstGeom>
              <a:ln w="508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2" name="Straight Connector 221">
                <a:extLst>
                  <a:ext uri="{FF2B5EF4-FFF2-40B4-BE49-F238E27FC236}">
                    <a16:creationId xmlns:a16="http://schemas.microsoft.com/office/drawing/2014/main" id="{493D3F47-5018-393F-C117-A8924D3BB356}"/>
                  </a:ext>
                </a:extLst>
              </p:cNvPr>
              <p:cNvCxnSpPr>
                <a:cxnSpLocks/>
              </p:cNvCxnSpPr>
              <p:nvPr/>
            </p:nvCxnSpPr>
            <p:spPr>
              <a:xfrm>
                <a:off x="24337462" y="24010489"/>
                <a:ext cx="662995" cy="433846"/>
              </a:xfrm>
              <a:prstGeom prst="line">
                <a:avLst/>
              </a:prstGeom>
              <a:ln w="508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224" name="Straight Connector 223">
                <a:extLst>
                  <a:ext uri="{FF2B5EF4-FFF2-40B4-BE49-F238E27FC236}">
                    <a16:creationId xmlns:a16="http://schemas.microsoft.com/office/drawing/2014/main" id="{CFEAAF9C-6080-50F8-6E3F-D277E27372E5}"/>
                  </a:ext>
                </a:extLst>
              </p:cNvPr>
              <p:cNvCxnSpPr>
                <a:cxnSpLocks/>
              </p:cNvCxnSpPr>
              <p:nvPr/>
            </p:nvCxnSpPr>
            <p:spPr>
              <a:xfrm flipH="1" flipV="1">
                <a:off x="24129384" y="23169135"/>
                <a:ext cx="208078" cy="849750"/>
              </a:xfrm>
              <a:prstGeom prst="line">
                <a:avLst/>
              </a:prstGeom>
              <a:ln w="50800">
                <a:solidFill>
                  <a:schemeClr val="tx2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  <p:sp>
          <p:nvSpPr>
            <p:cNvPr id="252" name="TextBox 251">
              <a:extLst>
                <a:ext uri="{FF2B5EF4-FFF2-40B4-BE49-F238E27FC236}">
                  <a16:creationId xmlns:a16="http://schemas.microsoft.com/office/drawing/2014/main" id="{23066E16-C2D2-1F28-C302-BC946ACEF55B}"/>
                </a:ext>
              </a:extLst>
            </p:cNvPr>
            <p:cNvSpPr txBox="1"/>
            <p:nvPr/>
          </p:nvSpPr>
          <p:spPr>
            <a:xfrm>
              <a:off x="21445537" y="22689147"/>
              <a:ext cx="250068" cy="1323439"/>
            </a:xfrm>
            <a:prstGeom prst="rect">
              <a:avLst/>
            </a:prstGeom>
            <a:noFill/>
          </p:spPr>
          <p:txBody>
            <a:bodyPr wrap="none" lIns="0" tIns="0" rIns="0" bIns="0" rtlCol="0">
              <a:spAutoFit/>
            </a:bodyPr>
            <a:lstStyle/>
            <a:p>
              <a:r>
                <a:rPr lang="en-US" dirty="0"/>
                <a:t> </a:t>
              </a:r>
            </a:p>
          </p:txBody>
        </p:sp>
        <p:sp>
          <p:nvSpPr>
            <p:cNvPr id="258" name="TextBox 257">
              <a:extLst>
                <a:ext uri="{FF2B5EF4-FFF2-40B4-BE49-F238E27FC236}">
                  <a16:creationId xmlns:a16="http://schemas.microsoft.com/office/drawing/2014/main" id="{D5B10D24-EAAB-0942-CD2F-2A7AB22516F0}"/>
                </a:ext>
              </a:extLst>
            </p:cNvPr>
            <p:cNvSpPr txBox="1"/>
            <p:nvPr/>
          </p:nvSpPr>
          <p:spPr>
            <a:xfrm>
              <a:off x="24086862" y="27389455"/>
              <a:ext cx="3260060" cy="92333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800" i="1" dirty="0"/>
                <a:t>C</a:t>
              </a:r>
              <a:r>
                <a:rPr lang="en-US" sz="1800" i="1" baseline="-25000" dirty="0"/>
                <a:t>i</a:t>
              </a:r>
              <a:r>
                <a:rPr lang="en-US" sz="1800" i="1" dirty="0"/>
                <a:t> : </a:t>
              </a:r>
              <a:r>
                <a:rPr lang="en-US" sz="1800" dirty="0"/>
                <a:t>fitting error of segment </a:t>
              </a:r>
              <a:endParaRPr lang="en-US" sz="1800" i="1" dirty="0"/>
            </a:p>
            <a:p>
              <a:r>
                <a:rPr lang="en-US" sz="1800" i="1" dirty="0"/>
                <a:t>k: </a:t>
              </a:r>
              <a:r>
                <a:rPr lang="en-US" sz="1800" dirty="0"/>
                <a:t>number of change points</a:t>
              </a:r>
              <a:endParaRPr lang="en-US" sz="1800" i="1" dirty="0"/>
            </a:p>
            <a:p>
              <a:r>
                <a:rPr lang="en-US" sz="1800" i="1" dirty="0"/>
                <a:t>β: </a:t>
              </a:r>
              <a:r>
                <a:rPr lang="en-US" sz="1800" dirty="0"/>
                <a:t>penalty for over segmentation</a:t>
              </a:r>
            </a:p>
          </p:txBody>
        </p:sp>
        <p:sp>
          <p:nvSpPr>
            <p:cNvPr id="262" name="TextBox 261">
              <a:extLst>
                <a:ext uri="{FF2B5EF4-FFF2-40B4-BE49-F238E27FC236}">
                  <a16:creationId xmlns:a16="http://schemas.microsoft.com/office/drawing/2014/main" id="{5B7BDB9E-1ABA-838F-612A-FB7A1CC4DED6}"/>
                </a:ext>
              </a:extLst>
            </p:cNvPr>
            <p:cNvSpPr txBox="1"/>
            <p:nvPr/>
          </p:nvSpPr>
          <p:spPr>
            <a:xfrm>
              <a:off x="16495444" y="12397221"/>
              <a:ext cx="2744341" cy="646331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/>
                <a:t>Edge weight: </a:t>
              </a:r>
            </a:p>
          </p:txBody>
        </p:sp>
        <p:sp>
          <p:nvSpPr>
            <p:cNvPr id="267" name="TextBox 266">
              <a:extLst>
                <a:ext uri="{FF2B5EF4-FFF2-40B4-BE49-F238E27FC236}">
                  <a16:creationId xmlns:a16="http://schemas.microsoft.com/office/drawing/2014/main" id="{B46AFFA3-B944-7E02-E68A-8EB214377E30}"/>
                </a:ext>
              </a:extLst>
            </p:cNvPr>
            <p:cNvSpPr txBox="1"/>
            <p:nvPr/>
          </p:nvSpPr>
          <p:spPr>
            <a:xfrm>
              <a:off x="24205254" y="31622345"/>
              <a:ext cx="39305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 dirty="0"/>
                <a:t>e</a:t>
              </a:r>
              <a:r>
                <a:rPr lang="en-US" sz="2000" i="1" baseline="-25000" dirty="0"/>
                <a:t>1</a:t>
              </a:r>
            </a:p>
          </p:txBody>
        </p:sp>
        <p:sp>
          <p:nvSpPr>
            <p:cNvPr id="268" name="TextBox 267">
              <a:extLst>
                <a:ext uri="{FF2B5EF4-FFF2-40B4-BE49-F238E27FC236}">
                  <a16:creationId xmlns:a16="http://schemas.microsoft.com/office/drawing/2014/main" id="{6DB281ED-252B-1BAD-1C14-52FA707D21C7}"/>
                </a:ext>
              </a:extLst>
            </p:cNvPr>
            <p:cNvSpPr txBox="1"/>
            <p:nvPr/>
          </p:nvSpPr>
          <p:spPr>
            <a:xfrm>
              <a:off x="23888737" y="31013400"/>
              <a:ext cx="393056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2000" i="1" dirty="0"/>
                <a:t>e</a:t>
              </a:r>
              <a:r>
                <a:rPr lang="en-US" sz="2000" i="1" baseline="-25000" dirty="0"/>
                <a:t>2</a:t>
              </a:r>
            </a:p>
          </p:txBody>
        </p:sp>
        <p:cxnSp>
          <p:nvCxnSpPr>
            <p:cNvPr id="275" name="Straight Connector 274">
              <a:extLst>
                <a:ext uri="{FF2B5EF4-FFF2-40B4-BE49-F238E27FC236}">
                  <a16:creationId xmlns:a16="http://schemas.microsoft.com/office/drawing/2014/main" id="{E25DC0FA-6057-1DBD-D801-98BE49E43034}"/>
                </a:ext>
              </a:extLst>
            </p:cNvPr>
            <p:cNvCxnSpPr>
              <a:cxnSpLocks/>
            </p:cNvCxnSpPr>
            <p:nvPr/>
          </p:nvCxnSpPr>
          <p:spPr>
            <a:xfrm>
              <a:off x="23194162" y="31292259"/>
              <a:ext cx="755760" cy="484690"/>
            </a:xfrm>
            <a:prstGeom prst="line">
              <a:avLst/>
            </a:prstGeom>
            <a:ln w="25400">
              <a:solidFill>
                <a:schemeClr val="tx2"/>
              </a:solidFill>
              <a:prstDash val="sysDash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78" name="TextBox 277">
              <a:extLst>
                <a:ext uri="{FF2B5EF4-FFF2-40B4-BE49-F238E27FC236}">
                  <a16:creationId xmlns:a16="http://schemas.microsoft.com/office/drawing/2014/main" id="{4AE6D576-759F-5371-A96D-4A6398DEA7A0}"/>
                </a:ext>
              </a:extLst>
            </p:cNvPr>
            <p:cNvSpPr txBox="1"/>
            <p:nvPr/>
          </p:nvSpPr>
          <p:spPr>
            <a:xfrm>
              <a:off x="23544140" y="31188815"/>
              <a:ext cx="629332" cy="400110"/>
            </a:xfrm>
            <a:prstGeom prst="rect">
              <a:avLst/>
            </a:prstGeom>
            <a:noFill/>
          </p:spPr>
          <p:txBody>
            <a:bodyPr wrap="square">
              <a:spAutoFit/>
            </a:bodyPr>
            <a:lstStyle/>
            <a:p>
              <a:r>
                <a:rPr lang="el-GR" sz="2000" dirty="0"/>
                <a:t>θ</a:t>
              </a:r>
              <a:endParaRPr lang="en-US" sz="2000" dirty="0"/>
            </a:p>
          </p:txBody>
        </p:sp>
        <p:sp>
          <p:nvSpPr>
            <p:cNvPr id="284" name="Arc 283">
              <a:extLst>
                <a:ext uri="{FF2B5EF4-FFF2-40B4-BE49-F238E27FC236}">
                  <a16:creationId xmlns:a16="http://schemas.microsoft.com/office/drawing/2014/main" id="{D3561A51-1A15-4538-6813-33FD0C61E47C}"/>
                </a:ext>
              </a:extLst>
            </p:cNvPr>
            <p:cNvSpPr/>
            <p:nvPr/>
          </p:nvSpPr>
          <p:spPr>
            <a:xfrm rot="16042752">
              <a:off x="23486009" y="31076561"/>
              <a:ext cx="631213" cy="688095"/>
            </a:xfrm>
            <a:prstGeom prst="arc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EE81696A-4134-12B5-6880-063E4A5643F7}"/>
                    </a:ext>
                  </a:extLst>
                </p:cNvPr>
                <p:cNvSpPr txBox="1"/>
                <p:nvPr/>
              </p:nvSpPr>
              <p:spPr>
                <a:xfrm>
                  <a:off x="22784391" y="32613599"/>
                  <a:ext cx="4781937" cy="1058623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en-US" sz="360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𝜃</m:t>
                        </m:r>
                        <m:r>
                          <a:rPr lang="en-US" sz="3600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func>
                          <m:funcPr>
                            <m:ctrlPr>
                              <a:rPr lang="en-US" sz="36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sSup>
                              <m:sSupPr>
                                <m:ctrlPr>
                                  <a:rPr lang="en-US" sz="3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m:rPr>
                                    <m:sty m:val="p"/>
                                  </m:rPr>
                                  <a:rPr lang="en-US" sz="3600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cos</m:t>
                                </m:r>
                              </m:e>
                              <m:sup>
                                <m:r>
                                  <a:rPr lang="en-US" sz="3600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−1</m:t>
                                </m:r>
                              </m:sup>
                            </m:sSup>
                          </m:fName>
                          <m:e>
                            <m:d>
                              <m:dPr>
                                <m:ctrlPr>
                                  <a:rPr lang="en-US" sz="3600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f>
                                  <m:fPr>
                                    <m:ctrlPr>
                                      <a:rPr lang="en-US" sz="3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fPr>
                                  <m:num>
                                    <m:sSub>
                                      <m:sSubPr>
                                        <m:ctrlPr>
                                          <a:rPr lang="en-US" sz="3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a:rPr lang="en-US" sz="3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1</m:t>
                                        </m:r>
                                      </m:sub>
                                    </m:sSub>
                                    <m:r>
                                      <a:rPr lang="en-US" sz="3600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. </m:t>
                                    </m:r>
                                    <m:sSub>
                                      <m:sSubPr>
                                        <m:ctrlPr>
                                          <a:rPr lang="en-US" sz="3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sSubPr>
                                      <m:e>
                                        <m:r>
                                          <a:rPr lang="en-US" sz="3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𝑒</m:t>
                                        </m:r>
                                      </m:e>
                                      <m:sub>
                                        <m:r>
                                          <a:rPr lang="en-US" sz="3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  <m:t>2</m:t>
                                        </m:r>
                                      </m:sub>
                                    </m:sSub>
                                  </m:num>
                                  <m:den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3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36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36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e>
                                          <m:sub>
                                            <m:r>
                                              <a:rPr lang="en-US" sz="36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  <m:d>
                                      <m:dPr>
                                        <m:begChr m:val="|"/>
                                        <m:endChr m:val="|"/>
                                        <m:ctrlPr>
                                          <a:rPr lang="en-US" sz="3600" i="1">
                                            <a:latin typeface="Cambria Math" panose="02040503050406030204" pitchFamily="18" charset="0"/>
                                            <a:ea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sSub>
                                          <m:sSubPr>
                                            <m:ctrlPr>
                                              <a:rPr lang="en-US" sz="36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36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𝑒</m:t>
                                            </m:r>
                                          </m:e>
                                          <m:sub>
                                            <m:r>
                                              <a:rPr lang="en-US" sz="3600" i="1">
                                                <a:latin typeface="Cambria Math" panose="02040503050406030204" pitchFamily="18" charset="0"/>
                                                <a:ea typeface="Cambria Math" panose="02040503050406030204" pitchFamily="18" charset="0"/>
                                              </a:rPr>
                                              <m:t>2</m:t>
                                            </m:r>
                                          </m:sub>
                                        </m:sSub>
                                      </m:e>
                                    </m:d>
                                  </m:den>
                                </m:f>
                              </m:e>
                            </m:d>
                          </m:e>
                        </m:func>
                      </m:oMath>
                    </m:oMathPara>
                  </a14:m>
                  <a:endParaRPr lang="en-US" sz="3600" dirty="0"/>
                </a:p>
              </p:txBody>
            </p:sp>
          </mc:Choice>
          <mc:Fallback>
            <p:sp>
              <p:nvSpPr>
                <p:cNvPr id="293" name="TextBox 292">
                  <a:extLst>
                    <a:ext uri="{FF2B5EF4-FFF2-40B4-BE49-F238E27FC236}">
                      <a16:creationId xmlns:a16="http://schemas.microsoft.com/office/drawing/2014/main" id="{EE81696A-4134-12B5-6880-063E4A5643F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2784391" y="32613599"/>
                  <a:ext cx="4781937" cy="1058623"/>
                </a:xfrm>
                <a:prstGeom prst="rect">
                  <a:avLst/>
                </a:prstGeom>
                <a:blipFill>
                  <a:blip r:embed="rId10"/>
                  <a:stretch>
                    <a:fillRect b="-9524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sp>
          <p:nvSpPr>
            <p:cNvPr id="304" name="Text Box 192">
              <a:extLst>
                <a:ext uri="{FF2B5EF4-FFF2-40B4-BE49-F238E27FC236}">
                  <a16:creationId xmlns:a16="http://schemas.microsoft.com/office/drawing/2014/main" id="{59F647C9-A57D-881C-385D-A0FA0CA89DC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2142448" y="35225920"/>
              <a:ext cx="6293974" cy="3178880"/>
            </a:xfrm>
            <a:prstGeom prst="rect">
              <a:avLst/>
            </a:prstGeom>
            <a:solidFill>
              <a:schemeClr val="bg1"/>
            </a:solidFill>
            <a:ln w="12700">
              <a:solidFill>
                <a:schemeClr val="accent1">
                  <a:lumMod val="75000"/>
                </a:schemeClr>
              </a:solidFill>
            </a:ln>
            <a:effectLst/>
          </p:spPr>
          <p:txBody>
            <a:bodyPr lIns="182880" tIns="182880" rIns="182880" bIns="182880">
              <a:noAutofit/>
            </a:bodyPr>
            <a:lstStyle>
              <a:lvl1pPr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1pPr>
              <a:lvl2pPr marL="742950" indent="-28575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2pPr>
              <a:lvl3pPr marL="11430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3pPr>
              <a:lvl4pPr marL="16002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4pPr>
              <a:lvl5pPr marL="2057400" indent="-228600" eaLnBrk="0" hangingPunct="0">
                <a:defRPr sz="2200">
                  <a:solidFill>
                    <a:schemeClr val="tx1"/>
                  </a:solidFill>
                  <a:latin typeface="Arial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200">
                  <a:solidFill>
                    <a:schemeClr val="tx1"/>
                  </a:solidFill>
                  <a:latin typeface="Arial" charset="0"/>
                </a:defRPr>
              </a:lvl9pPr>
            </a:lstStyle>
            <a:p>
              <a:pPr eaLnBrk="1" hangingPunct="1"/>
              <a:r>
                <a:rPr lang="en-US" sz="3600" b="1" dirty="0">
                  <a:latin typeface="Calibri" pitchFamily="34" charset="0"/>
                </a:rPr>
                <a:t>This work</a:t>
              </a:r>
            </a:p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Calibri" pitchFamily="34" charset="0"/>
                </a:rPr>
                <a:t>Global transport importance (EBC)</a:t>
              </a:r>
            </a:p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Calibri" pitchFamily="34" charset="0"/>
                </a:rPr>
                <a:t>Change-point thresholding</a:t>
              </a:r>
            </a:p>
            <a:p>
              <a:pPr marL="571500" indent="-571500" eaLnBrk="1" hangingPunct="1">
                <a:buFont typeface="Arial" panose="020B0604020202020204" pitchFamily="34" charset="0"/>
                <a:buChar char="•"/>
              </a:pPr>
              <a:r>
                <a:rPr lang="en-US" sz="3600" dirty="0">
                  <a:latin typeface="Calibri" pitchFamily="34" charset="0"/>
                </a:rPr>
                <a:t>Geometric chain extraction</a:t>
              </a:r>
            </a:p>
          </p:txBody>
        </p:sp>
        <p:sp>
          <p:nvSpPr>
            <p:cNvPr id="305" name="TextBox 304">
              <a:extLst>
                <a:ext uri="{FF2B5EF4-FFF2-40B4-BE49-F238E27FC236}">
                  <a16:creationId xmlns:a16="http://schemas.microsoft.com/office/drawing/2014/main" id="{D4E39B97-1E70-4D18-F095-14C7822266FB}"/>
                </a:ext>
              </a:extLst>
            </p:cNvPr>
            <p:cNvSpPr txBox="1"/>
            <p:nvPr/>
          </p:nvSpPr>
          <p:spPr>
            <a:xfrm>
              <a:off x="15518768" y="7620000"/>
              <a:ext cx="13047354" cy="2308324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3600" b="1" dirty="0"/>
                <a:t>We combine weighted edge betweenness centrality, change-point </a:t>
              </a:r>
            </a:p>
            <a:p>
              <a:r>
                <a:rPr lang="en-US" sz="3600" b="1" dirty="0"/>
                <a:t>detection, and geometric chain extraction to identify force-bearing </a:t>
              </a:r>
            </a:p>
            <a:p>
              <a:r>
                <a:rPr lang="en-US" sz="3600" b="1" dirty="0"/>
                <a:t>structures in granular piles.</a:t>
              </a:r>
            </a:p>
            <a:p>
              <a:endParaRPr lang="en-US" sz="3600" dirty="0"/>
            </a:p>
          </p:txBody>
        </p:sp>
        <p:pic>
          <p:nvPicPr>
            <p:cNvPr id="1032" name="Picture 8">
              <a:extLst>
                <a:ext uri="{FF2B5EF4-FFF2-40B4-BE49-F238E27FC236}">
                  <a16:creationId xmlns:a16="http://schemas.microsoft.com/office/drawing/2014/main" id="{32254D60-21E0-642E-F3CF-716390B742C9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11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2983914" y="23317200"/>
              <a:ext cx="4816308" cy="2987330"/>
            </a:xfrm>
            <a:prstGeom prst="rect">
              <a:avLst/>
            </a:prstGeom>
            <a:noFill/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</p:pic>
        <mc:AlternateContent xmlns:mc="http://schemas.openxmlformats.org/markup-compatibility/2006">
          <mc:Choice xmlns:a14="http://schemas.microsoft.com/office/drawing/2010/main" Requires="a14">
            <p:sp>
              <p:nvSpPr>
                <p:cNvPr id="254" name="TextBox 253">
                  <a:extLst>
                    <a:ext uri="{FF2B5EF4-FFF2-40B4-BE49-F238E27FC236}">
                      <a16:creationId xmlns:a16="http://schemas.microsoft.com/office/drawing/2014/main" id="{9E8EB363-A892-85B1-B87A-CF5E6590CD28}"/>
                    </a:ext>
                  </a:extLst>
                </p:cNvPr>
                <p:cNvSpPr txBox="1"/>
                <p:nvPr/>
              </p:nvSpPr>
              <p:spPr>
                <a:xfrm>
                  <a:off x="24058130" y="26118950"/>
                  <a:ext cx="3427462" cy="1145635"/>
                </a:xfrm>
                <a:prstGeom prst="rect">
                  <a:avLst/>
                </a:prstGeom>
                <a:noFill/>
              </p:spPr>
              <p:txBody>
                <a:bodyPr wrap="square" lIns="0" tIns="0" rIns="0" bIns="0" rtlCol="0">
                  <a:spAutoFit/>
                </a:bodyPr>
                <a:lstStyle/>
                <a:p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func>
                          <m:funcPr>
                            <m:ctrlPr>
                              <a:rPr lang="en-US" sz="2800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sz="2800" b="0" i="0" smtClean="0">
                                <a:latin typeface="Cambria Math" panose="02040503050406030204" pitchFamily="18" charset="0"/>
                              </a:rPr>
                              <m:t>arg</m:t>
                            </m:r>
                          </m:fName>
                          <m:e>
                            <m:func>
                              <m:funcPr>
                                <m:ctrlPr>
                                  <a:rPr lang="en-US" sz="2800" b="0" i="1" smtClean="0">
                                    <a:latin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sz="2800" b="0" i="0" smtClean="0">
                                    <a:latin typeface="Cambria Math" panose="02040503050406030204" pitchFamily="18" charset="0"/>
                                  </a:rPr>
                                  <m:t>min</m:t>
                                </m:r>
                              </m:fName>
                              <m:e>
                                <m:d>
                                  <m:dPr>
                                    <m:ctrlPr>
                                      <a:rPr lang="en-US" sz="28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nary>
                                      <m:naryPr>
                                        <m:chr m:val="∑"/>
                                        <m:supHide m:val="on"/>
                                        <m:ctrl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naryPr>
                                      <m:sub>
                                        <m:r>
                                          <m:rPr>
                                            <m:brk m:alnAt="7"/>
                                          </m:rP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𝑖</m:t>
                                        </m:r>
                                      </m:sub>
                                      <m:sup/>
                                      <m:e>
                                        <m:sSub>
                                          <m:sSubPr>
                                            <m:ctrlP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bPr>
                                          <m:e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𝐶</m:t>
                                            </m:r>
                                          </m:e>
                                          <m:sub>
                                            <m:r>
                                              <a:rPr lang="en-US" sz="28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𝑖</m:t>
                                            </m:r>
                                          </m:sub>
                                        </m:sSub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+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𝛽</m:t>
                                        </m:r>
                                        <m:r>
                                          <a:rPr lang="en-US" sz="2800" b="0" i="1" smtClean="0">
                                            <a:latin typeface="Cambria Math" panose="02040503050406030204" pitchFamily="18" charset="0"/>
                                          </a:rPr>
                                          <m:t>𝑘</m:t>
                                        </m:r>
                                      </m:e>
                                    </m:nary>
                                  </m:e>
                                </m:d>
                              </m:e>
                            </m:func>
                          </m:e>
                        </m:func>
                      </m:oMath>
                    </m:oMathPara>
                  </a14:m>
                  <a:endParaRPr lang="en-US" sz="2800" dirty="0"/>
                </a:p>
              </p:txBody>
            </p:sp>
          </mc:Choice>
          <mc:Fallback>
            <p:sp>
              <p:nvSpPr>
                <p:cNvPr id="254" name="TextBox 253">
                  <a:extLst>
                    <a:ext uri="{FF2B5EF4-FFF2-40B4-BE49-F238E27FC236}">
                      <a16:creationId xmlns:a16="http://schemas.microsoft.com/office/drawing/2014/main" id="{9E8EB363-A892-85B1-B87A-CF5E6590CD2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4058130" y="26118950"/>
                  <a:ext cx="3427462" cy="1145635"/>
                </a:xfrm>
                <a:prstGeom prst="rect">
                  <a:avLst/>
                </a:prstGeom>
                <a:blipFill>
                  <a:blip r:embed="rId12"/>
                  <a:stretch>
                    <a:fillRect l="-2222" t="-123913" b="-18152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pic>
        <p:nvPicPr>
          <p:cNvPr id="1069" name="Picture 1068">
            <a:extLst>
              <a:ext uri="{FF2B5EF4-FFF2-40B4-BE49-F238E27FC236}">
                <a16:creationId xmlns:a16="http://schemas.microsoft.com/office/drawing/2014/main" id="{55D157F5-5D10-A258-7A66-4B914DCF8F95}"/>
              </a:ext>
            </a:extLst>
          </p:cNvPr>
          <p:cNvPicPr>
            <a:picLocks noChangeAspect="1"/>
          </p:cNvPicPr>
          <p:nvPr/>
        </p:nvPicPr>
        <p:blipFill>
          <a:blip r:embed="rId1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4545709" y="21886515"/>
            <a:ext cx="6709978" cy="3807738"/>
          </a:xfrm>
          <a:prstGeom prst="rect">
            <a:avLst/>
          </a:prstGeom>
        </p:spPr>
      </p:pic>
      <p:pic>
        <p:nvPicPr>
          <p:cNvPr id="1071" name="Picture 1070">
            <a:extLst>
              <a:ext uri="{FF2B5EF4-FFF2-40B4-BE49-F238E27FC236}">
                <a16:creationId xmlns:a16="http://schemas.microsoft.com/office/drawing/2014/main" id="{4EDD1DC1-08F1-5F9B-8D74-7218B907903D}"/>
              </a:ext>
            </a:extLst>
          </p:cNvPr>
          <p:cNvPicPr>
            <a:picLocks noChangeAspect="1"/>
          </p:cNvPicPr>
          <p:nvPr/>
        </p:nvPicPr>
        <p:blipFill>
          <a:blip r:embed="rId1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600249" y="21838067"/>
            <a:ext cx="6462152" cy="4217267"/>
          </a:xfrm>
          <a:prstGeom prst="rect">
            <a:avLst/>
          </a:prstGeom>
        </p:spPr>
      </p:pic>
      <p:pic>
        <p:nvPicPr>
          <p:cNvPr id="1077" name="Picture 1076">
            <a:extLst>
              <a:ext uri="{FF2B5EF4-FFF2-40B4-BE49-F238E27FC236}">
                <a16:creationId xmlns:a16="http://schemas.microsoft.com/office/drawing/2014/main" id="{597E6169-6EFA-23CF-B248-48C1F633260C}"/>
              </a:ext>
            </a:extLst>
          </p:cNvPr>
          <p:cNvPicPr>
            <a:picLocks noChangeAspect="1"/>
          </p:cNvPicPr>
          <p:nvPr/>
        </p:nvPicPr>
        <p:blipFill>
          <a:blip r:embed="rId1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050826" y="18494454"/>
            <a:ext cx="7453757" cy="3807738"/>
          </a:xfrm>
          <a:prstGeom prst="rect">
            <a:avLst/>
          </a:prstGeom>
        </p:spPr>
      </p:pic>
      <p:pic>
        <p:nvPicPr>
          <p:cNvPr id="1073" name="Picture 1072">
            <a:extLst>
              <a:ext uri="{FF2B5EF4-FFF2-40B4-BE49-F238E27FC236}">
                <a16:creationId xmlns:a16="http://schemas.microsoft.com/office/drawing/2014/main" id="{80EC1A8D-3546-A63D-244F-08791375C676}"/>
              </a:ext>
            </a:extLst>
          </p:cNvPr>
          <p:cNvPicPr>
            <a:picLocks noChangeAspect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8181300" y="19986062"/>
            <a:ext cx="1460500" cy="3543300"/>
          </a:xfrm>
          <a:prstGeom prst="rect">
            <a:avLst/>
          </a:prstGeom>
        </p:spPr>
      </p:pic>
      <p:pic>
        <p:nvPicPr>
          <p:cNvPr id="1081" name="Picture 1080">
            <a:extLst>
              <a:ext uri="{FF2B5EF4-FFF2-40B4-BE49-F238E27FC236}">
                <a16:creationId xmlns:a16="http://schemas.microsoft.com/office/drawing/2014/main" id="{277B923F-8C79-8A87-F49B-8F3ABC5DC4F4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7709" y="22092234"/>
            <a:ext cx="3251200" cy="3251200"/>
          </a:xfrm>
          <a:prstGeom prst="rect">
            <a:avLst/>
          </a:prstGeom>
        </p:spPr>
      </p:pic>
      <p:pic>
        <p:nvPicPr>
          <p:cNvPr id="1083" name="Picture 1082">
            <a:extLst>
              <a:ext uri="{FF2B5EF4-FFF2-40B4-BE49-F238E27FC236}">
                <a16:creationId xmlns:a16="http://schemas.microsoft.com/office/drawing/2014/main" id="{7D49C0B8-2AD8-F52E-F701-F8374C2B8851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648491" y="22066594"/>
            <a:ext cx="3251200" cy="3251200"/>
          </a:xfrm>
          <a:prstGeom prst="rect">
            <a:avLst/>
          </a:prstGeom>
        </p:spPr>
      </p:pic>
      <p:pic>
        <p:nvPicPr>
          <p:cNvPr id="1085" name="Picture 1084">
            <a:extLst>
              <a:ext uri="{FF2B5EF4-FFF2-40B4-BE49-F238E27FC236}">
                <a16:creationId xmlns:a16="http://schemas.microsoft.com/office/drawing/2014/main" id="{20963305-96D3-4216-AE5A-8F3D575F7DF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80246" y="22092234"/>
            <a:ext cx="3251200" cy="3251200"/>
          </a:xfrm>
          <a:prstGeom prst="rect">
            <a:avLst/>
          </a:prstGeom>
        </p:spPr>
      </p:pic>
      <p:sp>
        <p:nvSpPr>
          <p:cNvPr id="1086" name="TextBox 1085">
            <a:extLst>
              <a:ext uri="{FF2B5EF4-FFF2-40B4-BE49-F238E27FC236}">
                <a16:creationId xmlns:a16="http://schemas.microsoft.com/office/drawing/2014/main" id="{78DC8C68-0362-A520-CE4B-5C84E6FADA4D}"/>
              </a:ext>
            </a:extLst>
          </p:cNvPr>
          <p:cNvSpPr txBox="1"/>
          <p:nvPr/>
        </p:nvSpPr>
        <p:spPr>
          <a:xfrm>
            <a:off x="10957202" y="23194078"/>
            <a:ext cx="257051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800" dirty="0" err="1"/>
              <a:t>μ</a:t>
            </a:r>
            <a:r>
              <a:rPr lang="en-US" sz="1800" dirty="0"/>
              <a:t>=0.7, </a:t>
            </a:r>
            <a:r>
              <a:rPr lang="en-US" sz="1800" dirty="0" err="1"/>
              <a:t>μ</a:t>
            </a:r>
            <a:r>
              <a:rPr lang="en-US" sz="1800" baseline="-25000" dirty="0" err="1"/>
              <a:t>roll</a:t>
            </a:r>
            <a:r>
              <a:rPr lang="en-US" sz="1800" dirty="0"/>
              <a:t>=0.1, </a:t>
            </a:r>
            <a:r>
              <a:rPr lang="en-US" sz="1800" dirty="0" err="1"/>
              <a:t>μ</a:t>
            </a:r>
            <a:r>
              <a:rPr lang="en-US" sz="1800" baseline="-25000" dirty="0" err="1"/>
              <a:t>twist</a:t>
            </a:r>
            <a:r>
              <a:rPr lang="en-US" sz="1800" dirty="0"/>
              <a:t>=0.1 </a:t>
            </a:r>
          </a:p>
        </p:txBody>
      </p:sp>
      <p:sp>
        <p:nvSpPr>
          <p:cNvPr id="1087" name="TextBox 1086">
            <a:extLst>
              <a:ext uri="{FF2B5EF4-FFF2-40B4-BE49-F238E27FC236}">
                <a16:creationId xmlns:a16="http://schemas.microsoft.com/office/drawing/2014/main" id="{929BB546-2FD6-302E-2F84-16736D01380E}"/>
              </a:ext>
            </a:extLst>
          </p:cNvPr>
          <p:cNvSpPr txBox="1"/>
          <p:nvPr/>
        </p:nvSpPr>
        <p:spPr>
          <a:xfrm>
            <a:off x="7356913" y="23189872"/>
            <a:ext cx="257051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800" dirty="0" err="1"/>
              <a:t>μ</a:t>
            </a:r>
            <a:r>
              <a:rPr lang="en-US" sz="1800" dirty="0"/>
              <a:t>=0.7, </a:t>
            </a:r>
            <a:r>
              <a:rPr lang="en-US" sz="1800" dirty="0" err="1"/>
              <a:t>μ</a:t>
            </a:r>
            <a:r>
              <a:rPr lang="en-US" sz="1800" baseline="-25000" dirty="0" err="1"/>
              <a:t>roll</a:t>
            </a:r>
            <a:r>
              <a:rPr lang="en-US" sz="1800" dirty="0"/>
              <a:t>=0.1, </a:t>
            </a:r>
            <a:r>
              <a:rPr lang="en-US" sz="1800" dirty="0" err="1"/>
              <a:t>μ</a:t>
            </a:r>
            <a:r>
              <a:rPr lang="en-US" sz="1800" baseline="-25000" dirty="0" err="1"/>
              <a:t>twist</a:t>
            </a:r>
            <a:r>
              <a:rPr lang="en-US" sz="1800" dirty="0"/>
              <a:t>=0.5 </a:t>
            </a:r>
          </a:p>
        </p:txBody>
      </p:sp>
      <p:sp>
        <p:nvSpPr>
          <p:cNvPr id="1088" name="TextBox 1087">
            <a:extLst>
              <a:ext uri="{FF2B5EF4-FFF2-40B4-BE49-F238E27FC236}">
                <a16:creationId xmlns:a16="http://schemas.microsoft.com/office/drawing/2014/main" id="{A55EBF2C-3DC4-F0C8-FEC0-A7804FFFA646}"/>
              </a:ext>
            </a:extLst>
          </p:cNvPr>
          <p:cNvSpPr txBox="1"/>
          <p:nvPr/>
        </p:nvSpPr>
        <p:spPr>
          <a:xfrm>
            <a:off x="3859945" y="23189872"/>
            <a:ext cx="257051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800" dirty="0" err="1"/>
              <a:t>μ</a:t>
            </a:r>
            <a:r>
              <a:rPr lang="en-US" sz="1800" dirty="0"/>
              <a:t>=0.1, </a:t>
            </a:r>
            <a:r>
              <a:rPr lang="en-US" sz="1800" dirty="0" err="1"/>
              <a:t>μ</a:t>
            </a:r>
            <a:r>
              <a:rPr lang="en-US" sz="1800" baseline="-25000" dirty="0" err="1"/>
              <a:t>roll</a:t>
            </a:r>
            <a:r>
              <a:rPr lang="en-US" sz="1800" dirty="0"/>
              <a:t>=0.0, </a:t>
            </a:r>
            <a:r>
              <a:rPr lang="en-US" sz="1800" dirty="0" err="1"/>
              <a:t>μ</a:t>
            </a:r>
            <a:r>
              <a:rPr lang="en-US" sz="1800" baseline="-25000" dirty="0" err="1"/>
              <a:t>twist</a:t>
            </a:r>
            <a:r>
              <a:rPr lang="en-US" sz="1800" dirty="0"/>
              <a:t>=0.0 </a:t>
            </a:r>
          </a:p>
        </p:txBody>
      </p:sp>
      <p:pic>
        <p:nvPicPr>
          <p:cNvPr id="1090" name="Picture 1089">
            <a:extLst>
              <a:ext uri="{FF2B5EF4-FFF2-40B4-BE49-F238E27FC236}">
                <a16:creationId xmlns:a16="http://schemas.microsoft.com/office/drawing/2014/main" id="{A8E67D0A-713E-49B5-9F04-65776FED785D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628729" y="29366401"/>
            <a:ext cx="9880305" cy="7313362"/>
          </a:xfrm>
          <a:prstGeom prst="rect">
            <a:avLst/>
          </a:prstGeom>
        </p:spPr>
      </p:pic>
      <p:sp>
        <p:nvSpPr>
          <p:cNvPr id="1091" name="Text Box 180">
            <a:extLst>
              <a:ext uri="{FF2B5EF4-FFF2-40B4-BE49-F238E27FC236}">
                <a16:creationId xmlns:a16="http://schemas.microsoft.com/office/drawing/2014/main" id="{62EA1641-A82F-C270-8403-7DCF2CD3592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540098" y="37260701"/>
            <a:ext cx="12801601" cy="95410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wrap="square">
            <a:spAutoFit/>
          </a:bodyPr>
          <a:lstStyle>
            <a:lvl1pPr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1pPr>
            <a:lvl2pPr marL="742950" indent="-28575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2pPr>
            <a:lvl3pPr marL="11430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3pPr>
            <a:lvl4pPr marL="16002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4pPr>
            <a:lvl5pPr marL="2057400" indent="-228600" defTabSz="4389438" eaLnBrk="0" hangingPunct="0">
              <a:defRPr sz="2200">
                <a:solidFill>
                  <a:schemeClr val="tx1"/>
                </a:solidFill>
                <a:latin typeface="Arial" charset="0"/>
              </a:defRPr>
            </a:lvl5pPr>
            <a:lvl6pPr marL="25146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6pPr>
            <a:lvl7pPr marL="29718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7pPr>
            <a:lvl8pPr marL="34290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8pPr>
            <a:lvl9pPr marL="3886200" indent="-228600" defTabSz="4389438" eaLnBrk="0" fontAlgn="base" hangingPunct="0">
              <a:spcBef>
                <a:spcPct val="0"/>
              </a:spcBef>
              <a:spcAft>
                <a:spcPct val="0"/>
              </a:spcAft>
              <a:defRPr sz="2200">
                <a:solidFill>
                  <a:schemeClr val="tx1"/>
                </a:solidFill>
                <a:latin typeface="Arial" charset="0"/>
              </a:defRPr>
            </a:lvl9pPr>
          </a:lstStyle>
          <a:p>
            <a:pPr eaLnBrk="1" hangingPunct="1"/>
            <a:r>
              <a:rPr lang="en-US" sz="2800" b="1" dirty="0">
                <a:latin typeface="Calibri" pitchFamily="34" charset="0"/>
              </a:rPr>
              <a:t>Figure 3.</a:t>
            </a:r>
            <a:r>
              <a:rPr lang="en-US" sz="2800" dirty="0">
                <a:latin typeface="Calibri" pitchFamily="34" charset="0"/>
              </a:rPr>
              <a:t> </a:t>
            </a:r>
            <a:r>
              <a:rPr lang="en-US" sz="2800" b="1" dirty="0">
                <a:latin typeface="Calibri" pitchFamily="34" charset="0"/>
              </a:rPr>
              <a:t>Effect of friction on pile height and angle of repose</a:t>
            </a:r>
            <a:r>
              <a:rPr lang="en-US" sz="2800" dirty="0">
                <a:latin typeface="Calibri" pitchFamily="34" charset="0"/>
              </a:rPr>
              <a:t>. Larger friction coefficients correspond to higher, steeper piles.</a:t>
            </a:r>
          </a:p>
        </p:txBody>
      </p:sp>
      <p:sp>
        <p:nvSpPr>
          <p:cNvPr id="1092" name="Rectangle 1091">
            <a:extLst>
              <a:ext uri="{FF2B5EF4-FFF2-40B4-BE49-F238E27FC236}">
                <a16:creationId xmlns:a16="http://schemas.microsoft.com/office/drawing/2014/main" id="{90CA75A3-EEDA-5FF5-2A65-9489104B9642}"/>
              </a:ext>
            </a:extLst>
          </p:cNvPr>
          <p:cNvSpPr/>
          <p:nvPr/>
        </p:nvSpPr>
        <p:spPr>
          <a:xfrm>
            <a:off x="1540099" y="28443036"/>
            <a:ext cx="12801600" cy="914400"/>
          </a:xfrm>
          <a:prstGeom prst="rect">
            <a:avLst/>
          </a:prstGeom>
          <a:solidFill>
            <a:schemeClr val="accent1">
              <a:lumMod val="75000"/>
            </a:schemeClr>
          </a:solidFill>
          <a:ln w="1270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6000" b="1" dirty="0">
                <a:solidFill>
                  <a:schemeClr val="accent3">
                    <a:lumMod val="20000"/>
                    <a:lumOff val="80000"/>
                  </a:schemeClr>
                </a:solidFill>
              </a:rPr>
              <a:t>PILE MORPHOLOGY</a:t>
            </a:r>
          </a:p>
        </p:txBody>
      </p:sp>
      <p:sp>
        <p:nvSpPr>
          <p:cNvPr id="1094" name="TextBox 1093">
            <a:extLst>
              <a:ext uri="{FF2B5EF4-FFF2-40B4-BE49-F238E27FC236}">
                <a16:creationId xmlns:a16="http://schemas.microsoft.com/office/drawing/2014/main" id="{C5AA6C9A-BAA2-EDA0-20EE-A4603F3BBF41}"/>
              </a:ext>
            </a:extLst>
          </p:cNvPr>
          <p:cNvSpPr txBox="1"/>
          <p:nvPr/>
        </p:nvSpPr>
        <p:spPr>
          <a:xfrm>
            <a:off x="15267568" y="28078093"/>
            <a:ext cx="13944600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800" b="1" dirty="0"/>
              <a:t>Figure 5. Different perspectives of extracted force chains </a:t>
            </a:r>
            <a:r>
              <a:rPr lang="en-US" sz="2800" dirty="0"/>
              <a:t>colored by log10(EBC) against a full set of background force chains. Stronger EBC is darker in color, background chains in gray.</a:t>
            </a:r>
          </a:p>
        </p:txBody>
      </p:sp>
      <p:sp>
        <p:nvSpPr>
          <p:cNvPr id="1095" name="TextBox 1094">
            <a:extLst>
              <a:ext uri="{FF2B5EF4-FFF2-40B4-BE49-F238E27FC236}">
                <a16:creationId xmlns:a16="http://schemas.microsoft.com/office/drawing/2014/main" id="{E516EC78-81E5-2F35-CE37-D277D471043F}"/>
              </a:ext>
            </a:extLst>
          </p:cNvPr>
          <p:cNvSpPr txBox="1"/>
          <p:nvPr/>
        </p:nvSpPr>
        <p:spPr>
          <a:xfrm>
            <a:off x="17694650" y="25298400"/>
            <a:ext cx="257051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800" dirty="0" err="1"/>
              <a:t>μ</a:t>
            </a:r>
            <a:r>
              <a:rPr lang="en-US" sz="1800" dirty="0"/>
              <a:t>=0.1, </a:t>
            </a:r>
            <a:r>
              <a:rPr lang="en-US" sz="1800" dirty="0" err="1"/>
              <a:t>μ</a:t>
            </a:r>
            <a:r>
              <a:rPr lang="en-US" sz="1800" baseline="-25000" dirty="0" err="1"/>
              <a:t>roll</a:t>
            </a:r>
            <a:r>
              <a:rPr lang="en-US" sz="1800" dirty="0"/>
              <a:t>=0.0, </a:t>
            </a:r>
            <a:r>
              <a:rPr lang="en-US" sz="1800" dirty="0" err="1"/>
              <a:t>μ</a:t>
            </a:r>
            <a:r>
              <a:rPr lang="en-US" sz="1800" baseline="-25000" dirty="0" err="1"/>
              <a:t>twist</a:t>
            </a:r>
            <a:r>
              <a:rPr lang="en-US" sz="1800" dirty="0"/>
              <a:t>=0.0 </a:t>
            </a:r>
          </a:p>
        </p:txBody>
      </p:sp>
      <p:sp>
        <p:nvSpPr>
          <p:cNvPr id="1096" name="TextBox 1095">
            <a:extLst>
              <a:ext uri="{FF2B5EF4-FFF2-40B4-BE49-F238E27FC236}">
                <a16:creationId xmlns:a16="http://schemas.microsoft.com/office/drawing/2014/main" id="{EAFF9BF5-AFBC-947F-F3FA-6DA164E1A60A}"/>
              </a:ext>
            </a:extLst>
          </p:cNvPr>
          <p:cNvSpPr txBox="1"/>
          <p:nvPr/>
        </p:nvSpPr>
        <p:spPr>
          <a:xfrm>
            <a:off x="24404628" y="25298400"/>
            <a:ext cx="2570512" cy="369332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800" dirty="0" err="1"/>
              <a:t>μ</a:t>
            </a:r>
            <a:r>
              <a:rPr lang="en-US" sz="1800" dirty="0"/>
              <a:t>=0.7, </a:t>
            </a:r>
            <a:r>
              <a:rPr lang="en-US" sz="1800" dirty="0" err="1"/>
              <a:t>μ</a:t>
            </a:r>
            <a:r>
              <a:rPr lang="en-US" sz="1800" baseline="-25000" dirty="0" err="1"/>
              <a:t>roll</a:t>
            </a:r>
            <a:r>
              <a:rPr lang="en-US" sz="1800" dirty="0"/>
              <a:t>=0.1, </a:t>
            </a:r>
            <a:r>
              <a:rPr lang="en-US" sz="1800" dirty="0" err="1"/>
              <a:t>μ</a:t>
            </a:r>
            <a:r>
              <a:rPr lang="en-US" sz="1800" baseline="-25000" dirty="0" err="1"/>
              <a:t>twist</a:t>
            </a:r>
            <a:r>
              <a:rPr lang="en-US" sz="1800" dirty="0"/>
              <a:t>=0.1 </a:t>
            </a:r>
          </a:p>
        </p:txBody>
      </p:sp>
      <p:pic>
        <p:nvPicPr>
          <p:cNvPr id="1105" name="Picture 1104">
            <a:extLst>
              <a:ext uri="{FF2B5EF4-FFF2-40B4-BE49-F238E27FC236}">
                <a16:creationId xmlns:a16="http://schemas.microsoft.com/office/drawing/2014/main" id="{5F2A478B-00D6-7A31-52CE-68E38AC04766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7932813" y="26564484"/>
            <a:ext cx="914400" cy="914400"/>
          </a:xfrm>
          <a:prstGeom prst="rect">
            <a:avLst/>
          </a:prstGeom>
        </p:spPr>
      </p:pic>
      <p:pic>
        <p:nvPicPr>
          <p:cNvPr id="1108" name="Picture 1107">
            <a:extLst>
              <a:ext uri="{FF2B5EF4-FFF2-40B4-BE49-F238E27FC236}">
                <a16:creationId xmlns:a16="http://schemas.microsoft.com/office/drawing/2014/main" id="{6B7E37F1-E927-FA38-CC12-368D1B625AE6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32684" y="26559438"/>
            <a:ext cx="914400" cy="914400"/>
          </a:xfrm>
          <a:prstGeom prst="rect">
            <a:avLst/>
          </a:prstGeom>
        </p:spPr>
      </p:pic>
      <p:graphicFrame>
        <p:nvGraphicFramePr>
          <p:cNvPr id="1114" name="Table 1113">
            <a:extLst>
              <a:ext uri="{FF2B5EF4-FFF2-40B4-BE49-F238E27FC236}">
                <a16:creationId xmlns:a16="http://schemas.microsoft.com/office/drawing/2014/main" id="{A0D6760B-C220-810A-410D-1092DC2820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0592908"/>
              </p:ext>
            </p:extLst>
          </p:nvPr>
        </p:nvGraphicFramePr>
        <p:xfrm>
          <a:off x="15986288" y="12192000"/>
          <a:ext cx="12199221" cy="6509811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4105208">
                  <a:extLst>
                    <a:ext uri="{9D8B030D-6E8A-4147-A177-3AD203B41FA5}">
                      <a16:colId xmlns:a16="http://schemas.microsoft.com/office/drawing/2014/main" val="169723824"/>
                    </a:ext>
                  </a:extLst>
                </a:gridCol>
                <a:gridCol w="2598133">
                  <a:extLst>
                    <a:ext uri="{9D8B030D-6E8A-4147-A177-3AD203B41FA5}">
                      <a16:colId xmlns:a16="http://schemas.microsoft.com/office/drawing/2014/main" val="4226328269"/>
                    </a:ext>
                  </a:extLst>
                </a:gridCol>
                <a:gridCol w="2870982">
                  <a:extLst>
                    <a:ext uri="{9D8B030D-6E8A-4147-A177-3AD203B41FA5}">
                      <a16:colId xmlns:a16="http://schemas.microsoft.com/office/drawing/2014/main" val="4200796953"/>
                    </a:ext>
                  </a:extLst>
                </a:gridCol>
                <a:gridCol w="2624898">
                  <a:extLst>
                    <a:ext uri="{9D8B030D-6E8A-4147-A177-3AD203B41FA5}">
                      <a16:colId xmlns:a16="http://schemas.microsoft.com/office/drawing/2014/main" val="471674143"/>
                    </a:ext>
                  </a:extLst>
                </a:gridCol>
              </a:tblGrid>
              <a:tr h="929973">
                <a:tc>
                  <a:txBody>
                    <a:bodyPr/>
                    <a:lstStyle/>
                    <a:p>
                      <a:pPr marL="0" marR="0" lvl="0" indent="0" algn="ctr" defTabSz="43891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en-US" sz="2800" b="1" i="0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9BBB59">
                              <a:lumMod val="20000"/>
                              <a:lumOff val="80000"/>
                            </a:srgbClr>
                          </a:solidFill>
                          <a:effectLst/>
                          <a:uLnTx/>
                          <a:uFillTx/>
                          <a:latin typeface="+mn-lt"/>
                          <a:ea typeface="+mn-ea"/>
                          <a:cs typeface="+mn-cs"/>
                        </a:rPr>
                        <a:t>Metric </a:t>
                      </a: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kumimoji="0" lang="en-US" sz="2800" b="1" u="none" strike="noStrike" kern="1200" cap="none" spc="0" normalizeH="0" baseline="0" noProof="0" dirty="0">
                          <a:ln>
                            <a:noFill/>
                          </a:ln>
                          <a:solidFill>
                            <a:srgbClr val="9BBB59">
                              <a:lumMod val="20000"/>
                              <a:lumOff val="80000"/>
                            </a:srgbClr>
                          </a:solidFill>
                          <a:effectLst/>
                          <a:uLnTx/>
                          <a:uFillTx/>
                        </a:rPr>
                        <a:t>Low Friction</a:t>
                      </a:r>
                      <a:endParaRPr lang="en-US" sz="2800" dirty="0">
                        <a:latin typeface="+mn-lt"/>
                      </a:endParaRP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accent3">
                              <a:lumMod val="20000"/>
                              <a:lumOff val="80000"/>
                            </a:schemeClr>
                          </a:solidFill>
                        </a:rPr>
                        <a:t>High Friction</a:t>
                      </a:r>
                      <a:endParaRPr lang="en-US" sz="2800" dirty="0">
                        <a:latin typeface="+mn-lt"/>
                      </a:endParaRP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b="1" dirty="0">
                          <a:solidFill>
                            <a:schemeClr val="accent3">
                              <a:lumMod val="20000"/>
                              <a:lumOff val="80000"/>
                            </a:schemeClr>
                          </a:solidFill>
                          <a:latin typeface="+mn-lt"/>
                        </a:rPr>
                        <a:t>Change</a:t>
                      </a:r>
                      <a:endParaRPr lang="en-US" sz="2800" dirty="0">
                        <a:latin typeface="+mn-lt"/>
                      </a:endParaRPr>
                    </a:p>
                  </a:txBody>
                  <a:tcPr anchor="ctr">
                    <a:solidFill>
                      <a:schemeClr val="accent1">
                        <a:lumMod val="7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05646675"/>
                  </a:ext>
                </a:extLst>
              </a:tr>
              <a:tr h="929973">
                <a:tc>
                  <a:txBody>
                    <a:bodyPr/>
                    <a:lstStyle/>
                    <a:p>
                      <a:r>
                        <a:rPr lang="en-US" sz="2800" dirty="0"/>
                        <a:t>Chain count</a:t>
                      </a:r>
                      <a:endParaRPr lang="en-US" sz="2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+mn-lt"/>
                        </a:rPr>
                        <a:t>154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+mn-lt"/>
                        </a:rPr>
                        <a:t>66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  <a:latin typeface="+mn-lt"/>
                        </a:rPr>
                        <a:t>↓57%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819102808"/>
                  </a:ext>
                </a:extLst>
              </a:tr>
              <a:tr h="929973">
                <a:tc>
                  <a:txBody>
                    <a:bodyPr/>
                    <a:lstStyle/>
                    <a:p>
                      <a:r>
                        <a:rPr lang="en-US" sz="2800" dirty="0">
                          <a:latin typeface="+mn-lt"/>
                        </a:rPr>
                        <a:t>Chain height (</a:t>
                      </a:r>
                      <a:r>
                        <a:rPr lang="en-US" sz="2800" i="1" dirty="0">
                          <a:latin typeface="+mn-lt"/>
                        </a:rPr>
                        <a:t>z</a:t>
                      </a:r>
                      <a:r>
                        <a:rPr lang="en-US" sz="2800" dirty="0">
                          <a:latin typeface="+mn-lt"/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+mn-lt"/>
                        </a:rPr>
                        <a:t>1.62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+mn-lt"/>
                        </a:rPr>
                        <a:t>1.79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lvl="0" indent="0" algn="ctr" defTabSz="43891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+mn-lt"/>
                        </a:rPr>
                        <a:t>↑</a:t>
                      </a:r>
                      <a:r>
                        <a:rPr lang="en-US" sz="2800">
                          <a:solidFill>
                            <a:schemeClr val="tx1"/>
                          </a:solidFill>
                          <a:latin typeface="+mn-lt"/>
                        </a:rPr>
                        <a:t>10%</a:t>
                      </a:r>
                      <a:endParaRPr lang="en-US" sz="2800" dirty="0">
                        <a:solidFill>
                          <a:schemeClr val="tx1"/>
                        </a:solidFill>
                        <a:latin typeface="+mn-lt"/>
                      </a:endParaRP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26445813"/>
                  </a:ext>
                </a:extLst>
              </a:tr>
              <a:tr h="929973">
                <a:tc>
                  <a:txBody>
                    <a:bodyPr/>
                    <a:lstStyle/>
                    <a:p>
                      <a:r>
                        <a:rPr lang="en-US" sz="2800" dirty="0"/>
                        <a:t>Bend angle</a:t>
                      </a:r>
                      <a:endParaRPr lang="en-US" sz="2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+mn-lt"/>
                        </a:rPr>
                        <a:t>20</a:t>
                      </a:r>
                      <a:r>
                        <a:rPr lang="en-US" sz="2800" dirty="0"/>
                        <a:t>°</a:t>
                      </a:r>
                      <a:endParaRPr lang="en-US" sz="2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+mn-lt"/>
                        </a:rPr>
                        <a:t>29</a:t>
                      </a:r>
                      <a:r>
                        <a:rPr lang="en-US" sz="2800" dirty="0"/>
                        <a:t>°</a:t>
                      </a:r>
                      <a:endParaRPr lang="en-US" sz="2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marL="0" marR="0" indent="0" algn="ctr" defTabSz="43891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schemeClr val="tx1"/>
                          </a:solidFill>
                          <a:latin typeface="+mn-lt"/>
                        </a:rPr>
                        <a:t>↑45%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67803636"/>
                  </a:ext>
                </a:extLst>
              </a:tr>
              <a:tr h="929973">
                <a:tc>
                  <a:txBody>
                    <a:bodyPr/>
                    <a:lstStyle/>
                    <a:p>
                      <a:r>
                        <a:rPr lang="en-US" sz="2800" dirty="0">
                          <a:solidFill>
                            <a:prstClr val="black"/>
                          </a:solidFill>
                        </a:rPr>
                        <a:t>Anchor radius (</a:t>
                      </a:r>
                      <a:r>
                        <a:rPr lang="en-US" sz="2800" i="1" dirty="0" err="1">
                          <a:solidFill>
                            <a:prstClr val="black"/>
                          </a:solidFill>
                        </a:rPr>
                        <a:t>r</a:t>
                      </a:r>
                      <a:r>
                        <a:rPr lang="en-US" sz="2800" i="1" baseline="-25000" dirty="0" err="1">
                          <a:solidFill>
                            <a:prstClr val="black"/>
                          </a:solidFill>
                        </a:rPr>
                        <a:t>anchor</a:t>
                      </a:r>
                      <a:r>
                        <a:rPr lang="en-US" sz="2800" i="1" dirty="0">
                          <a:solidFill>
                            <a:prstClr val="black"/>
                          </a:solidFill>
                        </a:rPr>
                        <a:t>/R</a:t>
                      </a:r>
                      <a:r>
                        <a:rPr lang="en-US" sz="2800" dirty="0">
                          <a:solidFill>
                            <a:prstClr val="black"/>
                          </a:solidFill>
                        </a:rPr>
                        <a:t>)</a:t>
                      </a:r>
                      <a:endParaRPr lang="en-US" sz="2800" dirty="0">
                        <a:latin typeface="+mn-lt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+mn-lt"/>
                        </a:rPr>
                        <a:t>0.55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+mn-lt"/>
                        </a:rPr>
                        <a:t>0.61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  <a:latin typeface="+mn-lt"/>
                        </a:rPr>
                        <a:t>↑10%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110870346"/>
                  </a:ext>
                </a:extLst>
              </a:tr>
              <a:tr h="929973">
                <a:tc>
                  <a:txBody>
                    <a:bodyPr/>
                    <a:lstStyle/>
                    <a:p>
                      <a:pPr marL="0" marR="0" lvl="0" indent="0" algn="l" defTabSz="43891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prstClr val="black"/>
                          </a:solidFill>
                        </a:rPr>
                        <a:t>Midpoint radius (</a:t>
                      </a:r>
                      <a:r>
                        <a:rPr lang="en-US" sz="2800" i="1" dirty="0" err="1">
                          <a:solidFill>
                            <a:prstClr val="black"/>
                          </a:solidFill>
                        </a:rPr>
                        <a:t>r</a:t>
                      </a:r>
                      <a:r>
                        <a:rPr lang="en-US" sz="2800" i="1" baseline="-25000" dirty="0" err="1">
                          <a:solidFill>
                            <a:prstClr val="black"/>
                          </a:solidFill>
                        </a:rPr>
                        <a:t>mid</a:t>
                      </a:r>
                      <a:r>
                        <a:rPr lang="en-US" sz="2800" i="1" dirty="0">
                          <a:solidFill>
                            <a:prstClr val="black"/>
                          </a:solidFill>
                        </a:rPr>
                        <a:t>/R</a:t>
                      </a:r>
                      <a:r>
                        <a:rPr lang="en-US" sz="2800" dirty="0">
                          <a:solidFill>
                            <a:prstClr val="black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+mn-lt"/>
                        </a:rPr>
                        <a:t>0.57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+mn-lt"/>
                        </a:rPr>
                        <a:t>0.65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  <a:latin typeface="+mn-lt"/>
                        </a:rPr>
                        <a:t>↑14%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734574624"/>
                  </a:ext>
                </a:extLst>
              </a:tr>
              <a:tr h="929973">
                <a:tc>
                  <a:txBody>
                    <a:bodyPr/>
                    <a:lstStyle/>
                    <a:p>
                      <a:pPr marL="0" marR="0" lvl="0" indent="0" algn="l" defTabSz="438912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800" dirty="0">
                          <a:solidFill>
                            <a:prstClr val="black"/>
                          </a:solidFill>
                        </a:rPr>
                        <a:t>Tip radius (</a:t>
                      </a:r>
                      <a:r>
                        <a:rPr lang="en-US" sz="2800" i="1" dirty="0" err="1">
                          <a:solidFill>
                            <a:prstClr val="black"/>
                          </a:solidFill>
                        </a:rPr>
                        <a:t>r</a:t>
                      </a:r>
                      <a:r>
                        <a:rPr lang="en-US" sz="2800" i="1" baseline="-25000" dirty="0" err="1">
                          <a:solidFill>
                            <a:prstClr val="black"/>
                          </a:solidFill>
                        </a:rPr>
                        <a:t>tipr</a:t>
                      </a:r>
                      <a:r>
                        <a:rPr lang="en-US" sz="2800" i="1" dirty="0">
                          <a:solidFill>
                            <a:prstClr val="black"/>
                          </a:solidFill>
                        </a:rPr>
                        <a:t>/R</a:t>
                      </a:r>
                      <a:r>
                        <a:rPr lang="en-US" sz="2800" dirty="0">
                          <a:solidFill>
                            <a:prstClr val="black"/>
                          </a:solidFill>
                        </a:rPr>
                        <a:t>)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+mn-lt"/>
                        </a:rPr>
                        <a:t>0.54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latin typeface="+mn-lt"/>
                        </a:rPr>
                        <a:t>0.54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800" dirty="0">
                          <a:solidFill>
                            <a:schemeClr val="tx1"/>
                          </a:solidFill>
                          <a:latin typeface="+mn-lt"/>
                        </a:rPr>
                        <a:t>no change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1099156181"/>
                  </a:ext>
                </a:extLst>
              </a:tr>
            </a:tbl>
          </a:graphicData>
        </a:graphic>
      </p:graphicFrame>
      <p:sp>
        <p:nvSpPr>
          <p:cNvPr id="1124" name="TextBox 1123">
            <a:extLst>
              <a:ext uri="{FF2B5EF4-FFF2-40B4-BE49-F238E27FC236}">
                <a16:creationId xmlns:a16="http://schemas.microsoft.com/office/drawing/2014/main" id="{A9159D96-8DC7-F833-7F38-A0280742CF1D}"/>
              </a:ext>
            </a:extLst>
          </p:cNvPr>
          <p:cNvSpPr txBox="1"/>
          <p:nvPr/>
        </p:nvSpPr>
        <p:spPr>
          <a:xfrm>
            <a:off x="17365109" y="27703046"/>
            <a:ext cx="2061462" cy="3385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600" dirty="0"/>
              <a:t>Scan for interactive 3D</a:t>
            </a:r>
          </a:p>
        </p:txBody>
      </p:sp>
      <p:sp>
        <p:nvSpPr>
          <p:cNvPr id="1125" name="TextBox 1124">
            <a:extLst>
              <a:ext uri="{FF2B5EF4-FFF2-40B4-BE49-F238E27FC236}">
                <a16:creationId xmlns:a16="http://schemas.microsoft.com/office/drawing/2014/main" id="{2BD17ED6-349D-FE09-19AC-0334BA193CE6}"/>
              </a:ext>
            </a:extLst>
          </p:cNvPr>
          <p:cNvSpPr txBox="1"/>
          <p:nvPr/>
        </p:nvSpPr>
        <p:spPr>
          <a:xfrm>
            <a:off x="24676247" y="27657031"/>
            <a:ext cx="2061462" cy="338554"/>
          </a:xfrm>
          <a:prstGeom prst="rect">
            <a:avLst/>
          </a:prstGeom>
          <a:solidFill>
            <a:schemeClr val="bg1">
              <a:lumMod val="95000"/>
            </a:schemeClr>
          </a:solidFill>
        </p:spPr>
        <p:txBody>
          <a:bodyPr wrap="none" rtlCol="0">
            <a:spAutoFit/>
          </a:bodyPr>
          <a:lstStyle/>
          <a:p>
            <a:r>
              <a:rPr lang="en-US" sz="1600" dirty="0"/>
              <a:t>Scan for interactive 3D</a:t>
            </a:r>
          </a:p>
        </p:txBody>
      </p:sp>
    </p:spTree>
    <p:extLst>
      <p:ext uri="{BB962C8B-B14F-4D97-AF65-F5344CB8AC3E}">
        <p14:creationId xmlns:p14="http://schemas.microsoft.com/office/powerpoint/2010/main" val="225125186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>Ion Boardroom</Template>
  <TotalTime>12930</TotalTime>
  <Words>1036</Words>
  <Application>Microsoft Macintosh PowerPoint</Application>
  <PresentationFormat>Custom</PresentationFormat>
  <Paragraphs>141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7" baseType="lpstr">
      <vt:lpstr>-webkit-standard</vt:lpstr>
      <vt:lpstr>Arial</vt:lpstr>
      <vt:lpstr>Calibri</vt:lpstr>
      <vt:lpstr>Cambria Math</vt:lpstr>
      <vt:lpstr>Times</vt:lpstr>
      <vt:lpstr>Office Theme</vt:lpstr>
      <vt:lpstr>PowerPoint Presentation</vt:lpstr>
    </vt:vector>
  </TitlesOfParts>
  <Company>Genigraphics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Genigraphics Research Poster Template 48x48</dc:title>
  <dc:creator>Jay Larson</dc:creator>
  <dc:description>Quality poster printing
www.genigraphics.com
1-800-790-4001</dc:description>
  <cp:lastModifiedBy>FLANAGAN, TATIANA</cp:lastModifiedBy>
  <cp:revision>332</cp:revision>
  <cp:lastPrinted>2013-02-12T02:21:55Z</cp:lastPrinted>
  <dcterms:created xsi:type="dcterms:W3CDTF">2013-02-10T21:14:48Z</dcterms:created>
  <dcterms:modified xsi:type="dcterms:W3CDTF">2026-06-09T16:22:17Z</dcterms:modified>
</cp:coreProperties>
</file>